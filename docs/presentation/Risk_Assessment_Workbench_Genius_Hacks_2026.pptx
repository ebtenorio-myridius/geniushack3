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1B34"/>
                </a:solidFill>
                <a:latin typeface="+mn-lt"/>
              </a:defRPr>
            </a:pPr>
            <a:r>
              <a:rPr sz="1600" b="0" i="0" u="none" strike="noStrike">
                <a:solidFill>
                  <a:srgbClr val="0A1B34"/>
                </a:solidFill>
                <a:latin typeface="+mn-lt"/>
              </a:rPr>
              <a:t>Category weight in the risk score (%)</a:t>
            </a:r>
          </a:p>
        </c:rich>
      </c:tx>
      <c:layout/>
      <c:overlay val="0"/>
    </c:title>
    <c:autoTitleDeleted val="0"/>
    <c:plotArea>
      <c:layout/>
      <c:barChart>
        <c:barDir val="bar"/>
        <c:grouping val="clustered"/>
        <c:varyColors val="0"/>
        <c:ser>
          <c:idx val="0"/>
          <c:order val="0"/>
          <c:tx>
            <c:strRef>
              <c:f>Sheet1!$B$1</c:f>
              <c:strCache>
                <c:ptCount val="1"/>
                <c:pt idx="0">
                  <c:v>Weight (%)</c:v>
                </c:pt>
              </c:strCache>
            </c:strRef>
          </c:tx>
          <c:spPr>
            <a:solidFill>
              <a:srgbClr val="0A1B34"/>
            </a:solidFill>
            <a:effectLst/>
          </c:spPr>
          <c:invertIfNegative val="0"/>
          <c:dLbls>
            <c:numFmt formatCode="0" sourceLinked="0"/>
            <c:txPr>
              <a:bodyPr/>
              <a:lstStyle/>
              <a:p>
                <a:pPr>
                  <a:defRPr b="0" i="0" strike="noStrike" sz="1400" u="none">
                    <a:solidFill>
                      <a:srgbClr val="17253D"/>
                    </a:solidFill>
                    <a:latin typeface="+mn-lt"/>
                  </a:defRPr>
                </a:pPr>
              </a:p>
            </c:txPr>
            <c:showLegendKey val="0"/>
            <c:showVal val="1"/>
            <c:showCatName val="0"/>
            <c:showSerName val="0"/>
            <c:showPercent val="0"/>
            <c:showBubbleSize val="0"/>
            <c:showLeaderLines val="0"/>
          </c:dLbls>
          <c:dPt>
            <c:idx val="0"/>
            <c:invertIfNegative val="0"/>
            <c:bubble3D val="0"/>
            <c:spPr>
              <a:solidFill>
                <a:srgbClr val="0A1B34"/>
              </a:solidFill>
              <a:effectLst/>
            </c:spPr>
          </c:dPt>
          <c:dPt>
            <c:idx val="1"/>
            <c:invertIfNegative val="0"/>
            <c:bubble3D val="0"/>
            <c:spPr>
              <a:solidFill>
                <a:srgbClr val="1F4E9C"/>
              </a:solidFill>
              <a:effectLst/>
            </c:spPr>
          </c:dPt>
          <c:dPt>
            <c:idx val="2"/>
            <c:invertIfNegative val="0"/>
            <c:bubble3D val="0"/>
            <c:spPr>
              <a:solidFill>
                <a:srgbClr val="4A86D8"/>
              </a:solidFill>
              <a:effectLst/>
            </c:spPr>
          </c:dPt>
          <c:dPt>
            <c:idx val="3"/>
            <c:invertIfNegative val="0"/>
            <c:bubble3D val="0"/>
            <c:spPr>
              <a:solidFill>
                <a:srgbClr val="9CC3F2"/>
              </a:solidFill>
              <a:effectLst/>
            </c:spPr>
          </c:dPt>
          <c:cat>
            <c:multiLvlStrRef>
              <c:f>Sheet1!$A$2:$A$5</c:f>
              <c:multiLvlStrCache>
                <c:ptCount val="4"/>
                <c:lvl>
                  <c:pt idx="0">
                    <c:v>Customer + geography</c:v>
                  </c:pt>
                  <c:pt idx="1">
                    <c:v>Product + channel</c:v>
                  </c:pt>
                  <c:pt idx="2">
                    <c:v>Third party</c:v>
                  </c:pt>
                  <c:pt idx="3">
                    <c:v>Complexity</c:v>
                  </c:pt>
                </c:lvl>
              </c:multiLvlStrCache>
            </c:multiLvlStrRef>
          </c:cat>
          <c:val>
            <c:numRef>
              <c:f>Sheet1!$B$2:$B$5</c:f>
              <c:numCache>
                <c:formatCode>General</c:formatCode>
                <c:ptCount val="4"/>
                <c:pt idx="0">
                  <c:v>35</c:v>
                </c:pt>
                <c:pt idx="1">
                  <c:v>30</c:v>
                </c:pt>
                <c:pt idx="2">
                  <c:v>20</c:v>
                </c:pt>
                <c:pt idx="3">
                  <c:v>15</c:v>
                </c:pt>
              </c:numCache>
            </c:numRef>
          </c:val>
        </c:ser>
        <c:dLbls>
          <c:numFmt formatCode="0" sourceLinked="0"/>
          <c:txPr>
            <a:bodyPr/>
            <a:lstStyle/>
            <a:p>
              <a:pPr>
                <a:defRPr b="0" i="0" strike="noStrike" sz="1400" u="none">
                  <a:solidFill>
                    <a:srgbClr val="1725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7253D"/>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1B34"/>
                </a:solidFill>
                <a:latin typeface="+mn-lt"/>
              </a:defRPr>
            </a:pPr>
            <a:r>
              <a:rPr sz="1600" b="0" i="0" u="none" strike="noStrike">
                <a:solidFill>
                  <a:srgbClr val="0A1B34"/>
                </a:solidFill>
                <a:latin typeface="+mn-lt"/>
              </a:rPr>
              <a:t>Field accuracy by synthetic case (%)</a:t>
            </a:r>
          </a:p>
        </c:rich>
      </c:tx>
      <c:layout/>
      <c:overlay val="0"/>
    </c:title>
    <c:autoTitleDeleted val="0"/>
    <c:plotArea>
      <c:layout/>
      <c:barChart>
        <c:barDir val="col"/>
        <c:grouping val="clustered"/>
        <c:varyColors val="0"/>
        <c:ser>
          <c:idx val="0"/>
          <c:order val="0"/>
          <c:tx>
            <c:strRef>
              <c:f>Sheet1!$B$1</c:f>
              <c:strCache>
                <c:ptCount val="1"/>
                <c:pt idx="0">
                  <c:v>Field accuracy (%)</c:v>
                </c:pt>
              </c:strCache>
            </c:strRef>
          </c:tx>
          <c:spPr>
            <a:solidFill>
              <a:srgbClr val="1F4E9C"/>
            </a:solidFill>
            <a:effectLst/>
          </c:spPr>
          <c:invertIfNegative val="0"/>
          <c:dLbls>
            <c:numFmt formatCode="0" sourceLinked="0"/>
            <c:txPr>
              <a:bodyPr/>
              <a:lstStyle/>
              <a:p>
                <a:pPr>
                  <a:defRPr b="0" i="0" strike="noStrike" sz="1400" u="none">
                    <a:solidFill>
                      <a:srgbClr val="17253D"/>
                    </a:solidFill>
                    <a:latin typeface="+mn-lt"/>
                  </a:defRPr>
                </a:pPr>
              </a:p>
            </c:txPr>
            <c:showLegendKey val="0"/>
            <c:showVal val="1"/>
            <c:showCatName val="0"/>
            <c:showSerName val="0"/>
            <c:showPercent val="0"/>
            <c:showBubbleSize val="0"/>
            <c:showLeaderLines val="0"/>
          </c:dLbls>
          <c:cat>
            <c:multiLvlStrRef>
              <c:f>Sheet1!$A$2:$A$9</c:f>
              <c:multiLvlStrCache>
                <c:ptCount val="8"/>
                <c:lvl>
                  <c:pt idx="0">
                    <c:v>001</c:v>
                  </c:pt>
                  <c:pt idx="1">
                    <c:v>002</c:v>
                  </c:pt>
                  <c:pt idx="2">
                    <c:v>003</c:v>
                  </c:pt>
                  <c:pt idx="3">
                    <c:v>004</c:v>
                  </c:pt>
                  <c:pt idx="4">
                    <c:v>005</c:v>
                  </c:pt>
                  <c:pt idx="5">
                    <c:v>006</c:v>
                  </c:pt>
                  <c:pt idx="6">
                    <c:v>007</c:v>
                  </c:pt>
                  <c:pt idx="7">
                    <c:v>008</c:v>
                  </c:pt>
                </c:lvl>
              </c:multiLvlStrCache>
            </c:multiLvlStrRef>
          </c:cat>
          <c:val>
            <c:numRef>
              <c:f>Sheet1!$B$2:$B$9</c:f>
              <c:numCache>
                <c:formatCode>General</c:formatCode>
                <c:ptCount val="8"/>
                <c:pt idx="0">
                  <c:v>100</c:v>
                </c:pt>
                <c:pt idx="1">
                  <c:v>100</c:v>
                </c:pt>
                <c:pt idx="2">
                  <c:v>100</c:v>
                </c:pt>
                <c:pt idx="3">
                  <c:v>100</c:v>
                </c:pt>
                <c:pt idx="4">
                  <c:v>100</c:v>
                </c:pt>
                <c:pt idx="5">
                  <c:v>100</c:v>
                </c:pt>
                <c:pt idx="6">
                  <c:v>100</c:v>
                </c:pt>
                <c:pt idx="7">
                  <c:v>100</c:v>
                </c:pt>
              </c:numCache>
            </c:numRef>
          </c:val>
        </c:ser>
        <c:dLbls>
          <c:numFmt formatCode="0" sourceLinked="0"/>
          <c:txPr>
            <a:bodyPr/>
            <a:lstStyle/>
            <a:p>
              <a:pPr>
                <a:defRPr b="0" i="0" strike="noStrike" sz="1400" u="none">
                  <a:solidFill>
                    <a:srgbClr val="1725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7253D"/>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One-sentence pitch: the system prepares the evidence, humans make the decision. Introduce the team and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Attribute the 15-20 business-day current-state figure to the brief and the two-day figure to the brief's target; neither is a measured app result. State the design stance: nothing is automatically approved or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0:50-1:50. Walk the pipeline left to right. Extraction is a probabilistic problem, scoring is not, so scoring is plain Python a committee can reproduce. This is the engineering-judgement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1:50-2:50. Context management: untrusted-document boundary, schema-constrained output, versioned prompts. If asked why no multi-agent orchestration: one narrow extraction step does not need it, and every extra agent is another probabilistic step to govern and evaluate.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2:50-3:30. Deterministic versus probabilistic, justified. Be upfront that the weights are a prototype choice awaiting FCRM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3:30-4:15. One line per stage, naming the artifact: docs/requirements, docs/architecture, src and ai, tests and evals, ops. Point to docs/sdlc/ai-delivery-evidence.md. Move fast; the repo carries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4:15-5:15. Every risk level goes through analyst review before committee decision. Explain the resume-after-information-request path and that conditions must be evidenced before analyst closure. The event hash chain and examiner export help reconstruct the record but are not immutable against a database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5:15-7:45 (about 2.5 minutes). Owner uploads, checks required draft fields, and submits. The analyst verifies/corrects with source citations, finalizes, and submits to committee. Use three separate committee identities. For a conditional outcome, show owner evidence followed by analyst closure; end with audit verification/export. If the provider is unavailable, use the recorded evaluation and local tests without implying offline extraction.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7:45-9:45. Quote the values generated from the latest recorded PDF evaluation and state that this is only eight synthetic cases. Risk agreement comes from deterministic scoring and does not establish field accuracy. Mention controlled errors for invalid PDFs and provider failures; do not suggest extraction has an offline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Close on the tagline, then stop on time. Leave the five minutes of Q&amp;A for the decisions: why deterministic scoring, why no multi-agent orchestration, why field accuracy and risk agreement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A1B3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rgbClr val="55657D"/>
                </a:solidFill>
              </a:rPr>
              <a:t>Risk Assessment Workbench  |  Genius Hacks 2026</a:t>
            </a:r>
            <a:endParaRPr lang="en-US" sz="1000" dirty="0"/>
          </a:p>
        </p:txBody>
      </p:sp>
      <p:sp>
        <p:nvSpPr>
          <p:cNvPr id="3" name="Text 1"/>
          <p:cNvSpPr/>
          <p:nvPr>
            <p:ph idx="101" type="title" hasCustomPrompt="1"/>
          </p:nvPr>
        </p:nvSpPr>
        <p:spPr>
          <a:xfrm>
            <a:off x="640080" y="777240"/>
            <a:ext cx="10908792" cy="731520"/>
          </a:xfrm>
          <a:prstGeom prst="rect">
            <a:avLst/>
          </a:prstGeom>
          <a:noFill/>
          <a:ln/>
        </p:spPr>
        <p:txBody>
          <a:bodyPr wrap="square" rtlCol="0"/>
          <a:lstStyle>
            <a:lvl1pPr algn="l" indent="0" marL="0">
              <a:buNone/>
              <a:defRPr lang="en-US" sz="3000" b="1" dirty="0">
                <a:solidFill>
                  <a:srgbClr val="0A1B34"/>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0A1B34"/>
        </a:solidFill>
      </p:bgPr>
    </p:bg>
    <p:spTree>
      <p:nvGrpSpPr>
        <p:cNvPr id="1" name=""/>
        <p:cNvGrpSpPr/>
        <p:nvPr/>
      </p:nvGrpSpPr>
      <p:grpSpPr>
        <a:xfrm>
          <a:off x="0" y="0"/>
          <a:ext cx="0" cy="0"/>
          <a:chOff x="0" y="0"/>
          <a:chExt cx="0" cy="0"/>
        </a:xfrm>
      </p:grpSpPr>
      <p:sp>
        <p:nvSpPr>
          <p:cNvPr id="2" name="Text 0"/>
          <p:cNvSpPr/>
          <p:nvPr/>
        </p:nvSpPr>
        <p:spPr>
          <a:xfrm>
            <a:off x="640080" y="6355080"/>
            <a:ext cx="7315200" cy="274320"/>
          </a:xfrm>
          <a:prstGeom prst="rect">
            <a:avLst/>
          </a:prstGeom>
          <a:noFill/>
          <a:ln/>
        </p:spPr>
        <p:txBody>
          <a:bodyPr wrap="square" lIns="0" tIns="0" rIns="0" bIns="0" rtlCol="0" anchor="ctr"/>
          <a:lstStyle/>
          <a:p>
            <a:pPr indent="0" marL="0">
              <a:buNone/>
            </a:pPr>
            <a:r>
              <a:rPr lang="en-US" sz="1000" dirty="0">
                <a:solidFill>
                  <a:srgbClr val="9CC3F2"/>
                </a:solidFill>
              </a:rPr>
              <a:t>Risk Assessment Workbench  |  Genius Hacks 2026</a:t>
            </a:r>
            <a:endParaRPr lang="en-US" sz="1000" dirty="0"/>
          </a:p>
        </p:txBody>
      </p:sp>
      <p:sp>
        <p:nvSpPr>
          <p:cNvPr id="3" name="Text 1"/>
          <p:cNvSpPr/>
          <p:nvPr>
            <p:ph idx="101" type="title" hasCustomPrompt="1"/>
          </p:nvPr>
        </p:nvSpPr>
        <p:spPr>
          <a:xfrm>
            <a:off x="640080" y="777240"/>
            <a:ext cx="10908792" cy="731520"/>
          </a:xfrm>
          <a:prstGeom prst="rect">
            <a:avLst/>
          </a:prstGeom>
          <a:noFill/>
          <a:ln/>
        </p:spPr>
        <p:txBody>
          <a:bodyPr wrap="square" rtlCol="0"/>
          <a:lstStyle>
            <a:lvl1pPr algn="l" indent="0" marL="0">
              <a:buNone/>
              <a:defRPr lang="en-US" sz="3000" b="1" dirty="0">
                <a:solidFill>
                  <a:srgbClr val="FFFFFF"/>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CC3F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 1"/>
          <p:cNvSpPr/>
          <p:nvPr/>
        </p:nvSpPr>
        <p:spPr>
          <a:xfrm>
            <a:off x="9326880" y="5394960"/>
            <a:ext cx="3657600" cy="3657600"/>
          </a:xfrm>
          <a:prstGeom prst="ellipse">
            <a:avLst/>
          </a:prstGeom>
          <a:ln w="12700">
            <a:solidFill>
              <a:srgbClr val="9CC3F2">
                <a:alpha val="20000"/>
              </a:srgbClr>
            </a:solidFill>
            <a:prstDash val="solid"/>
          </a:ln>
        </p:spPr>
      </p:sp>
      <p:sp>
        <p:nvSpPr>
          <p:cNvPr id="3" name="Ring 2"/>
          <p:cNvSpPr/>
          <p:nvPr/>
        </p:nvSpPr>
        <p:spPr>
          <a:xfrm>
            <a:off x="8321040" y="4389120"/>
            <a:ext cx="5669280" cy="5669280"/>
          </a:xfrm>
          <a:prstGeom prst="ellipse">
            <a:avLst/>
          </a:prstGeom>
          <a:ln w="12700">
            <a:solidFill>
              <a:srgbClr val="9CC3F2">
                <a:alpha val="24000"/>
              </a:srgbClr>
            </a:solidFill>
            <a:prstDash val="solid"/>
          </a:ln>
        </p:spPr>
      </p:sp>
      <p:sp>
        <p:nvSpPr>
          <p:cNvPr id="4" name="Ring 3"/>
          <p:cNvSpPr/>
          <p:nvPr/>
        </p:nvSpPr>
        <p:spPr>
          <a:xfrm>
            <a:off x="7315200" y="3383280"/>
            <a:ext cx="7680960" cy="7680960"/>
          </a:xfrm>
          <a:prstGeom prst="ellipse">
            <a:avLst/>
          </a:prstGeom>
          <a:ln w="12700">
            <a:solidFill>
              <a:srgbClr val="9CC3F2">
                <a:alpha val="28000"/>
              </a:srgbClr>
            </a:solidFill>
            <a:prstDash val="solid"/>
          </a:ln>
        </p:spPr>
      </p:sp>
      <p:sp>
        <p:nvSpPr>
          <p:cNvPr id="5" name="Eyebrow"/>
          <p:cNvSpPr txBox="1"/>
          <p:nvPr/>
        </p:nvSpPr>
        <p:spPr>
          <a:xfrm>
            <a:off x="822960" y="1234440"/>
            <a:ext cx="5943600" cy="365760"/>
          </a:xfrm>
          <a:prstGeom prst="rect">
            <a:avLst/>
          </a:prstGeom>
          <a:noFill/>
          <a:ln/>
        </p:spPr>
        <p:txBody>
          <a:bodyPr wrap="square" lIns="0" tIns="0" rIns="0" bIns="0" rtlCol="0" anchor="ctr"/>
          <a:lstStyle/>
          <a:p>
            <a:pPr indent="0" marL="0">
              <a:buNone/>
            </a:pPr>
            <a:r>
              <a:rPr lang="en-US" sz="1600" b="1" spc="500" kern="0" dirty="0">
                <a:solidFill>
                  <a:srgbClr val="C8A24A"/>
                </a:solidFill>
              </a:rPr>
              <a:t>GENIUS HACKS 2026</a:t>
            </a:r>
            <a:endParaRPr lang="en-US" sz="1600" dirty="0"/>
          </a:p>
        </p:txBody>
      </p:sp>
      <p:sp>
        <p:nvSpPr>
          <p:cNvPr id="6" name="Title"/>
          <p:cNvSpPr txBox="1"/>
          <p:nvPr/>
        </p:nvSpPr>
        <p:spPr>
          <a:xfrm>
            <a:off x="822960" y="1828800"/>
            <a:ext cx="6035040" cy="2011680"/>
          </a:xfrm>
          <a:prstGeom prst="rect">
            <a:avLst/>
          </a:prstGeom>
          <a:noFill/>
          <a:ln/>
        </p:spPr>
        <p:txBody>
          <a:bodyPr wrap="square" lIns="0" tIns="0" rIns="0" bIns="0" rtlCol="0" anchor="t"/>
          <a:lstStyle/>
          <a:p>
            <a:pPr indent="0" marL="0">
              <a:buNone/>
            </a:pPr>
            <a:r>
              <a:rPr lang="en-US" sz="4800" b="1" dirty="0">
                <a:solidFill>
                  <a:srgbClr val="FFFFFF"/>
                </a:solidFill>
                <a:latin typeface="+mj-lt" pitchFamily="34" charset="0"/>
                <a:ea typeface="+mj-lt" pitchFamily="34" charset="-122"/>
                <a:cs typeface="+mj-lt" pitchFamily="34" charset="-120"/>
              </a:rPr>
              <a:t>Risk Assessment Workbench</a:t>
            </a:r>
            <a:endParaRPr lang="en-US" sz="4800" dirty="0"/>
          </a:p>
        </p:txBody>
      </p:sp>
      <p:sp>
        <p:nvSpPr>
          <p:cNvPr id="7" name="Subtitle"/>
          <p:cNvSpPr txBox="1"/>
          <p:nvPr/>
        </p:nvSpPr>
        <p:spPr>
          <a:xfrm>
            <a:off x="822960" y="4069080"/>
            <a:ext cx="5669280" cy="914400"/>
          </a:xfrm>
          <a:prstGeom prst="rect">
            <a:avLst/>
          </a:prstGeom>
          <a:noFill/>
          <a:ln/>
        </p:spPr>
        <p:txBody>
          <a:bodyPr wrap="square" lIns="0" tIns="0" rIns="0" bIns="0" rtlCol="0" anchor="t"/>
          <a:lstStyle/>
          <a:p>
            <a:pPr indent="0" marL="0">
              <a:buNone/>
            </a:pPr>
            <a:r>
              <a:rPr lang="en-US" sz="2200" dirty="0">
                <a:solidFill>
                  <a:srgbClr val="D6E4F7"/>
                </a:solidFill>
              </a:rPr>
              <a:t>From an unstructured change request to a governed, reviewable risk decision.</a:t>
            </a:r>
            <a:endParaRPr lang="en-US" sz="2200" dirty="0"/>
          </a:p>
        </p:txBody>
      </p:sp>
      <p:sp>
        <p:nvSpPr>
          <p:cNvPr id="8" name="Caption"/>
          <p:cNvSpPr txBox="1"/>
          <p:nvPr/>
        </p:nvSpPr>
        <p:spPr>
          <a:xfrm>
            <a:off x="822960" y="5943600"/>
            <a:ext cx="6400800" cy="320040"/>
          </a:xfrm>
          <a:prstGeom prst="rect">
            <a:avLst/>
          </a:prstGeom>
          <a:noFill/>
          <a:ln/>
        </p:spPr>
        <p:txBody>
          <a:bodyPr wrap="square" lIns="0" tIns="0" rIns="0" bIns="0" rtlCol="0" anchor="ctr"/>
          <a:lstStyle/>
          <a:p>
            <a:pPr indent="0" marL="0">
              <a:buNone/>
            </a:pPr>
            <a:r>
              <a:rPr lang="en-US" sz="1400" dirty="0">
                <a:solidFill>
                  <a:srgbClr val="9CC3F2"/>
                </a:solidFill>
              </a:rPr>
              <a:t>A synthetic-data vertical slice for financial crimes risk management</a:t>
            </a:r>
            <a:endParaRPr lang="en-US" sz="1400" dirty="0"/>
          </a:p>
        </p:txBody>
      </p:sp>
      <p:sp>
        <p:nvSpPr>
          <p:cNvPr id="9" name="Tagline panel"/>
          <p:cNvSpPr/>
          <p:nvPr/>
        </p:nvSpPr>
        <p:spPr>
          <a:xfrm>
            <a:off x="7315200" y="1097280"/>
            <a:ext cx="4114800" cy="4572000"/>
          </a:xfrm>
          <a:prstGeom prst="roundRect">
            <a:avLst>
              <a:gd name="adj" fmla="val 2222"/>
            </a:avLst>
          </a:prstGeom>
          <a:solidFill>
            <a:srgbClr val="132E55"/>
          </a:solidFill>
          <a:ln w="12700">
            <a:solidFill>
              <a:srgbClr val="C8A24A">
                <a:alpha val="45000"/>
              </a:srgbClr>
            </a:solidFill>
            <a:prstDash val="solid"/>
          </a:ln>
        </p:spPr>
      </p:sp>
      <p:sp>
        <p:nvSpPr>
          <p:cNvPr id="10" name="Tagline 1"/>
          <p:cNvSpPr txBox="1"/>
          <p:nvPr/>
        </p:nvSpPr>
        <p:spPr>
          <a:xfrm>
            <a:off x="7680960" y="1325880"/>
            <a:ext cx="3383280" cy="1188720"/>
          </a:xfrm>
          <a:prstGeom prst="rect">
            <a:avLst/>
          </a:prstGeom>
          <a:noFill/>
          <a:ln/>
        </p:spPr>
        <p:txBody>
          <a:bodyPr wrap="square" lIns="0" tIns="0" rIns="0" bIns="0" rtlCol="0" anchor="ctr"/>
          <a:lstStyle/>
          <a:p>
            <a:pPr indent="0" marL="0">
              <a:buNone/>
            </a:pPr>
            <a:r>
              <a:rPr lang="en-US" sz="2600" b="1" dirty="0">
                <a:solidFill>
                  <a:srgbClr val="FFFFFF"/>
                </a:solidFill>
                <a:latin typeface="+mj-lt" pitchFamily="34" charset="0"/>
                <a:ea typeface="+mj-lt" pitchFamily="34" charset="-122"/>
                <a:cs typeface="+mj-lt" pitchFamily="34" charset="-120"/>
              </a:rPr>
              <a:t>Prepare evidence.</a:t>
            </a:r>
            <a:endParaRPr lang="en-US" sz="2600" dirty="0"/>
          </a:p>
        </p:txBody>
      </p:sp>
      <p:sp>
        <p:nvSpPr>
          <p:cNvPr id="11" name="Tagline divider 1"/>
          <p:cNvSpPr/>
          <p:nvPr/>
        </p:nvSpPr>
        <p:spPr>
          <a:xfrm>
            <a:off x="7680960" y="2606040"/>
            <a:ext cx="1097280" cy="0"/>
          </a:xfrm>
          <a:prstGeom prst="line">
            <a:avLst/>
          </a:prstGeom>
          <a:noFill/>
          <a:ln w="19050">
            <a:solidFill>
              <a:srgbClr val="C8A24A"/>
            </a:solidFill>
            <a:prstDash val="solid"/>
          </a:ln>
        </p:spPr>
      </p:sp>
      <p:sp>
        <p:nvSpPr>
          <p:cNvPr id="12" name="Tagline 2"/>
          <p:cNvSpPr txBox="1"/>
          <p:nvPr/>
        </p:nvSpPr>
        <p:spPr>
          <a:xfrm>
            <a:off x="7680960" y="2697480"/>
            <a:ext cx="3383280" cy="1188720"/>
          </a:xfrm>
          <a:prstGeom prst="rect">
            <a:avLst/>
          </a:prstGeom>
          <a:noFill/>
          <a:ln/>
        </p:spPr>
        <p:txBody>
          <a:bodyPr wrap="square" lIns="0" tIns="0" rIns="0" bIns="0" rtlCol="0" anchor="ctr"/>
          <a:lstStyle/>
          <a:p>
            <a:pPr indent="0" marL="0">
              <a:buNone/>
            </a:pPr>
            <a:r>
              <a:rPr lang="en-US" sz="2600" b="1" dirty="0">
                <a:solidFill>
                  <a:srgbClr val="FFFFFF"/>
                </a:solidFill>
                <a:latin typeface="+mj-lt" pitchFamily="34" charset="0"/>
                <a:ea typeface="+mj-lt" pitchFamily="34" charset="-122"/>
                <a:cs typeface="+mj-lt" pitchFamily="34" charset="-120"/>
              </a:rPr>
              <a:t>Preserve disagreement.</a:t>
            </a:r>
            <a:endParaRPr lang="en-US" sz="2600" dirty="0"/>
          </a:p>
        </p:txBody>
      </p:sp>
      <p:sp>
        <p:nvSpPr>
          <p:cNvPr id="13" name="Tagline divider 2"/>
          <p:cNvSpPr/>
          <p:nvPr/>
        </p:nvSpPr>
        <p:spPr>
          <a:xfrm>
            <a:off x="7680960" y="3977640"/>
            <a:ext cx="1097280" cy="0"/>
          </a:xfrm>
          <a:prstGeom prst="line">
            <a:avLst/>
          </a:prstGeom>
          <a:noFill/>
          <a:ln w="19050">
            <a:solidFill>
              <a:srgbClr val="C8A24A"/>
            </a:solidFill>
            <a:prstDash val="solid"/>
          </a:ln>
        </p:spPr>
      </p:sp>
      <p:sp>
        <p:nvSpPr>
          <p:cNvPr id="14" name="Tagline 3"/>
          <p:cNvSpPr txBox="1"/>
          <p:nvPr/>
        </p:nvSpPr>
        <p:spPr>
          <a:xfrm>
            <a:off x="7680960" y="4069080"/>
            <a:ext cx="3383280" cy="1188720"/>
          </a:xfrm>
          <a:prstGeom prst="rect">
            <a:avLst/>
          </a:prstGeom>
          <a:noFill/>
          <a:ln/>
        </p:spPr>
        <p:txBody>
          <a:bodyPr wrap="square" lIns="0" tIns="0" rIns="0" bIns="0" rtlCol="0" anchor="ctr"/>
          <a:lstStyle/>
          <a:p>
            <a:pPr indent="0" marL="0">
              <a:buNone/>
            </a:pPr>
            <a:r>
              <a:rPr lang="en-US" sz="2600" b="1" dirty="0">
                <a:solidFill>
                  <a:srgbClr val="FFFFFF"/>
                </a:solidFill>
                <a:latin typeface="+mj-lt" pitchFamily="34" charset="0"/>
                <a:ea typeface="+mj-lt" pitchFamily="34" charset="-122"/>
                <a:cs typeface="+mj-lt" pitchFamily="34" charset="-120"/>
              </a:rPr>
              <a:t>Keep humans accountable.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THE PROBLEM</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Slow, variable, and hard to reconstruct</a:t>
            </a:r>
            <a:endParaRPr lang="en-US" sz="3000" dirty="0"/>
          </a:p>
        </p:txBody>
      </p:sp>
      <p:sp>
        <p:nvSpPr>
          <p:cNvPr id="4" name="Stat panel"/>
          <p:cNvSpPr/>
          <p:nvPr/>
        </p:nvSpPr>
        <p:spPr>
          <a:xfrm>
            <a:off x="640080" y="1783080"/>
            <a:ext cx="3383280" cy="4251960"/>
          </a:xfrm>
          <a:prstGeom prst="roundRect">
            <a:avLst>
              <a:gd name="adj" fmla="val 2162"/>
            </a:avLst>
          </a:prstGeom>
          <a:solidFill>
            <a:srgbClr val="0A1B34"/>
          </a:solidFill>
          <a:ln/>
          <a:effectLst>
            <a:outerShdw sx="100000" sy="100000" kx="0" ky="0" algn="bl" rotWithShape="0" blurRad="177800" dist="38100" dir="5400000">
              <a:srgbClr val="0A1B34">
                <a:alpha val="12000"/>
              </a:srgbClr>
            </a:outerShdw>
          </a:effectLst>
        </p:spPr>
      </p:sp>
      <p:sp>
        <p:nvSpPr>
          <p:cNvPr id="5" name="Stat 15-20"/>
          <p:cNvSpPr txBox="1"/>
          <p:nvPr/>
        </p:nvSpPr>
        <p:spPr>
          <a:xfrm>
            <a:off x="960120" y="2148840"/>
            <a:ext cx="2743200" cy="1005840"/>
          </a:xfrm>
          <a:prstGeom prst="rect">
            <a:avLst/>
          </a:prstGeom>
          <a:noFill/>
          <a:ln/>
        </p:spPr>
        <p:txBody>
          <a:bodyPr wrap="square" lIns="0" tIns="0" rIns="0" bIns="0" rtlCol="0" anchor="ctr"/>
          <a:lstStyle/>
          <a:p>
            <a:pPr indent="0" marL="0">
              <a:buNone/>
            </a:pPr>
            <a:r>
              <a:rPr lang="en-US" sz="6600" b="1" dirty="0">
                <a:solidFill>
                  <a:srgbClr val="FFFFFF"/>
                </a:solidFill>
                <a:latin typeface="+mj-lt" pitchFamily="34" charset="0"/>
                <a:ea typeface="+mj-lt" pitchFamily="34" charset="-122"/>
                <a:cs typeface="+mj-lt" pitchFamily="34" charset="-120"/>
              </a:rPr>
              <a:t>15-20</a:t>
            </a:r>
            <a:endParaRPr lang="en-US" sz="6600" dirty="0"/>
          </a:p>
        </p:txBody>
      </p:sp>
      <p:sp>
        <p:nvSpPr>
          <p:cNvPr id="6" name="Stat 1 label"/>
          <p:cNvSpPr txBox="1"/>
          <p:nvPr/>
        </p:nvSpPr>
        <p:spPr>
          <a:xfrm>
            <a:off x="960120" y="3200400"/>
            <a:ext cx="2743200" cy="365760"/>
          </a:xfrm>
          <a:prstGeom prst="rect">
            <a:avLst/>
          </a:prstGeom>
          <a:noFill/>
          <a:ln/>
        </p:spPr>
        <p:txBody>
          <a:bodyPr wrap="square" lIns="0" tIns="0" rIns="0" bIns="0" rtlCol="0" anchor="ctr"/>
          <a:lstStyle/>
          <a:p>
            <a:pPr indent="0" marL="0">
              <a:buNone/>
            </a:pPr>
            <a:r>
              <a:rPr lang="en-US" sz="1500" dirty="0">
                <a:solidFill>
                  <a:srgbClr val="D6E4F7"/>
                </a:solidFill>
              </a:rPr>
              <a:t>business days: brief estimate</a:t>
            </a:r>
            <a:endParaRPr lang="en-US" sz="1500" dirty="0"/>
          </a:p>
        </p:txBody>
      </p:sp>
      <p:sp>
        <p:nvSpPr>
          <p:cNvPr id="7" name="Stat divider"/>
          <p:cNvSpPr/>
          <p:nvPr/>
        </p:nvSpPr>
        <p:spPr>
          <a:xfrm>
            <a:off x="960120" y="3977640"/>
            <a:ext cx="1097280" cy="0"/>
          </a:xfrm>
          <a:prstGeom prst="line">
            <a:avLst/>
          </a:prstGeom>
          <a:noFill/>
          <a:ln w="19050">
            <a:solidFill>
              <a:srgbClr val="C8A24A"/>
            </a:solidFill>
            <a:prstDash val="solid"/>
          </a:ln>
        </p:spPr>
      </p:sp>
      <p:sp>
        <p:nvSpPr>
          <p:cNvPr id="8" name="Stat ~2"/>
          <p:cNvSpPr txBox="1"/>
          <p:nvPr/>
        </p:nvSpPr>
        <p:spPr>
          <a:xfrm>
            <a:off x="960120" y="4206240"/>
            <a:ext cx="2743200" cy="1005840"/>
          </a:xfrm>
          <a:prstGeom prst="rect">
            <a:avLst/>
          </a:prstGeom>
          <a:noFill/>
          <a:ln/>
        </p:spPr>
        <p:txBody>
          <a:bodyPr wrap="square" lIns="0" tIns="0" rIns="0" bIns="0" rtlCol="0" anchor="ctr"/>
          <a:lstStyle/>
          <a:p>
            <a:pPr indent="0" marL="0">
              <a:buNone/>
            </a:pPr>
            <a:r>
              <a:rPr lang="en-US" sz="6600" b="1" dirty="0">
                <a:solidFill>
                  <a:srgbClr val="C8A24A"/>
                </a:solidFill>
                <a:latin typeface="+mj-lt" pitchFamily="34" charset="0"/>
                <a:ea typeface="+mj-lt" pitchFamily="34" charset="-122"/>
                <a:cs typeface="+mj-lt" pitchFamily="34" charset="-120"/>
              </a:rPr>
              <a:t>~2</a:t>
            </a:r>
            <a:endParaRPr lang="en-US" sz="6600" dirty="0"/>
          </a:p>
        </p:txBody>
      </p:sp>
      <p:sp>
        <p:nvSpPr>
          <p:cNvPr id="9" name="Stat 2 label"/>
          <p:cNvSpPr txBox="1"/>
          <p:nvPr/>
        </p:nvSpPr>
        <p:spPr>
          <a:xfrm>
            <a:off x="960120" y="5257800"/>
            <a:ext cx="2743200" cy="365760"/>
          </a:xfrm>
          <a:prstGeom prst="rect">
            <a:avLst/>
          </a:prstGeom>
          <a:noFill/>
          <a:ln/>
        </p:spPr>
        <p:txBody>
          <a:bodyPr wrap="square" lIns="0" tIns="0" rIns="0" bIns="0" rtlCol="0" anchor="ctr"/>
          <a:lstStyle/>
          <a:p>
            <a:pPr indent="0" marL="0">
              <a:buNone/>
            </a:pPr>
            <a:r>
              <a:rPr lang="en-US" sz="1500" dirty="0">
                <a:solidFill>
                  <a:srgbClr val="D6E4F7"/>
                </a:solidFill>
              </a:rPr>
              <a:t>days: brief target, not measured</a:t>
            </a:r>
            <a:endParaRPr lang="en-US" sz="1500" dirty="0"/>
          </a:p>
        </p:txBody>
      </p:sp>
      <p:sp>
        <p:nvSpPr>
          <p:cNvPr id="10" name="Today card"/>
          <p:cNvSpPr/>
          <p:nvPr/>
        </p:nvSpPr>
        <p:spPr>
          <a:xfrm>
            <a:off x="4389120" y="1783080"/>
            <a:ext cx="3474720" cy="4251960"/>
          </a:xfrm>
          <a:prstGeom prst="roundRect">
            <a:avLst>
              <a:gd name="adj" fmla="val 2105"/>
            </a:avLst>
          </a:prstGeom>
          <a:solidFill>
            <a:srgbClr val="EEF3FA"/>
          </a:solidFill>
          <a:ln w="9525">
            <a:solidFill>
              <a:srgbClr val="D5DDEA"/>
            </a:solidFill>
            <a:prstDash val="solid"/>
          </a:ln>
        </p:spPr>
      </p:sp>
      <p:sp>
        <p:nvSpPr>
          <p:cNvPr id="11" name="Today heading"/>
          <p:cNvSpPr txBox="1"/>
          <p:nvPr/>
        </p:nvSpPr>
        <p:spPr>
          <a:xfrm>
            <a:off x="4709160" y="2057400"/>
            <a:ext cx="2834640" cy="45720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Today</a:t>
            </a:r>
            <a:endParaRPr lang="en-US" sz="2000" dirty="0"/>
          </a:p>
        </p:txBody>
      </p:sp>
      <p:sp>
        <p:nvSpPr>
          <p:cNvPr id="12" name="Today list"/>
          <p:cNvSpPr txBox="1"/>
          <p:nvPr/>
        </p:nvSpPr>
        <p:spPr>
          <a:xfrm>
            <a:off x="4709160" y="2651760"/>
            <a:ext cx="2834640" cy="31089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7253D"/>
                </a:solidFill>
              </a:rPr>
              <a:t>Email, Word, Excel, SharePoint</a:t>
            </a:r>
            <a:endParaRPr lang="en-US" sz="1600" dirty="0"/>
          </a:p>
          <a:p>
            <a:pPr marL="203200" indent="-203200">
              <a:spcAft>
                <a:spcPts val="1400"/>
              </a:spcAft>
              <a:buSzPct val="100000"/>
              <a:buChar char="•"/>
            </a:pPr>
            <a:r>
              <a:rPr lang="en-US" sz="1600" dirty="0">
                <a:solidFill>
                  <a:srgbClr val="17253D"/>
                </a:solidFill>
              </a:rPr>
              <a:t>Different analysts reach different conclusions</a:t>
            </a:r>
            <a:endParaRPr lang="en-US" sz="1600" dirty="0"/>
          </a:p>
          <a:p>
            <a:pPr marL="203200" indent="-203200">
              <a:spcAft>
                <a:spcPts val="1400"/>
              </a:spcAft>
              <a:buSzPct val="100000"/>
              <a:buChar char="•"/>
            </a:pPr>
            <a:r>
              <a:rPr lang="en-US" sz="1600" dirty="0">
                <a:solidFill>
                  <a:srgbClr val="17253D"/>
                </a:solidFill>
              </a:rPr>
              <a:t>Examiner asks why it was rated this way: evidence is scattered and slow to rebuild</a:t>
            </a:r>
            <a:endParaRPr lang="en-US" sz="1600" dirty="0"/>
          </a:p>
        </p:txBody>
      </p:sp>
      <p:sp>
        <p:nvSpPr>
          <p:cNvPr id="13" name="Response card"/>
          <p:cNvSpPr/>
          <p:nvPr/>
        </p:nvSpPr>
        <p:spPr>
          <a:xfrm>
            <a:off x="8151876" y="1783080"/>
            <a:ext cx="3474720" cy="4251960"/>
          </a:xfrm>
          <a:prstGeom prst="roundRect">
            <a:avLst>
              <a:gd name="adj" fmla="val 2105"/>
            </a:avLst>
          </a:prstGeom>
          <a:solidFill>
            <a:srgbClr val="FFFFFF"/>
          </a:solidFill>
          <a:ln w="9525">
            <a:solidFill>
              <a:srgbClr val="1F4E9C"/>
            </a:solidFill>
            <a:prstDash val="solid"/>
          </a:ln>
          <a:effectLst>
            <a:outerShdw sx="100000" sy="100000" kx="0" ky="0" algn="bl" rotWithShape="0" blurRad="177800" dist="38100" dir="5400000">
              <a:srgbClr val="0A1B34">
                <a:alpha val="12000"/>
              </a:srgbClr>
            </a:outerShdw>
          </a:effectLst>
        </p:spPr>
      </p:sp>
      <p:sp>
        <p:nvSpPr>
          <p:cNvPr id="14" name="Response heading"/>
          <p:cNvSpPr txBox="1"/>
          <p:nvPr/>
        </p:nvSpPr>
        <p:spPr>
          <a:xfrm>
            <a:off x="8471916" y="2057400"/>
            <a:ext cx="2834640" cy="457200"/>
          </a:xfrm>
          <a:prstGeom prst="rect">
            <a:avLst/>
          </a:prstGeom>
          <a:noFill/>
          <a:ln/>
        </p:spPr>
        <p:txBody>
          <a:bodyPr wrap="square" lIns="0" tIns="0" rIns="0" bIns="0" rtlCol="0" anchor="ctr"/>
          <a:lstStyle/>
          <a:p>
            <a:pPr indent="0" marL="0">
              <a:buNone/>
            </a:pPr>
            <a:r>
              <a:rPr lang="en-US" sz="2000" b="1" dirty="0">
                <a:solidFill>
                  <a:srgbClr val="1F4E9C"/>
                </a:solidFill>
                <a:latin typeface="+mj-lt" pitchFamily="34" charset="0"/>
                <a:ea typeface="+mj-lt" pitchFamily="34" charset="-122"/>
                <a:cs typeface="+mj-lt" pitchFamily="34" charset="-120"/>
              </a:rPr>
              <a:t>Our response</a:t>
            </a:r>
            <a:endParaRPr lang="en-US" sz="2000" dirty="0"/>
          </a:p>
        </p:txBody>
      </p:sp>
      <p:sp>
        <p:nvSpPr>
          <p:cNvPr id="15" name="Response list"/>
          <p:cNvSpPr txBox="1"/>
          <p:nvPr/>
        </p:nvSpPr>
        <p:spPr>
          <a:xfrm>
            <a:off x="8471916" y="2651760"/>
            <a:ext cx="2834640" cy="31089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7253D"/>
                </a:solidFill>
              </a:rPr>
              <a:t>One governed case record</a:t>
            </a:r>
            <a:endParaRPr lang="en-US" sz="1600" dirty="0"/>
          </a:p>
          <a:p>
            <a:pPr marL="203200" indent="-203200">
              <a:spcAft>
                <a:spcPts val="1400"/>
              </a:spcAft>
              <a:buSzPct val="100000"/>
              <a:buChar char="•"/>
            </a:pPr>
            <a:r>
              <a:rPr lang="en-US" sz="1600" dirty="0">
                <a:solidFill>
                  <a:srgbClr val="17253D"/>
                </a:solidFill>
              </a:rPr>
              <a:t>AI structures the evidence</a:t>
            </a:r>
            <a:endParaRPr lang="en-US" sz="1600" dirty="0"/>
          </a:p>
          <a:p>
            <a:pPr marL="203200" indent="-203200">
              <a:spcAft>
                <a:spcPts val="1400"/>
              </a:spcAft>
              <a:buSzPct val="100000"/>
              <a:buChar char="•"/>
            </a:pPr>
            <a:r>
              <a:rPr lang="en-US" sz="1600" dirty="0">
                <a:solidFill>
                  <a:srgbClr val="17253D"/>
                </a:solidFill>
              </a:rPr>
              <a:t>Humans own the decision</a:t>
            </a:r>
            <a:endParaRPr lang="en-US" sz="1600" dirty="0"/>
          </a:p>
          <a:p>
            <a:pPr marL="203200" indent="-203200">
              <a:spcAft>
                <a:spcPts val="1400"/>
              </a:spcAft>
              <a:buSzPct val="100000"/>
              <a:buChar char="•"/>
            </a:pPr>
            <a:r>
              <a:rPr lang="en-US" sz="1600" dirty="0">
                <a:solidFill>
                  <a:srgbClr val="17253D"/>
                </a:solidFill>
              </a:rPr>
              <a:t>Every rating traceable to inputs and reasoning</a:t>
            </a:r>
            <a:endParaRPr lang="en-US" sz="16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ARCHITECTURE</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A deliberately narrow AI boundary</a:t>
            </a:r>
            <a:endParaRPr lang="en-US" sz="3000" dirty="0"/>
          </a:p>
        </p:txBody>
      </p:sp>
      <p:sp>
        <p:nvSpPr>
          <p:cNvPr id="4" name="Pipeline PDF"/>
          <p:cNvSpPr/>
          <p:nvPr/>
        </p:nvSpPr>
        <p:spPr>
          <a:xfrm>
            <a:off x="640080" y="1828800"/>
            <a:ext cx="1463040" cy="777240"/>
          </a:xfrm>
          <a:prstGeom prst="roundRect">
            <a:avLst>
              <a:gd name="adj" fmla="val 9412"/>
            </a:avLst>
          </a:prstGeom>
          <a:solidFill>
            <a:srgbClr val="EEF3FA"/>
          </a:solidFill>
          <a:ln w="12700">
            <a:solidFill>
              <a:srgbClr val="D5DDEA"/>
            </a:solidFill>
            <a:prstDash val="solid"/>
          </a:ln>
          <a:effectLst>
            <a:outerShdw sx="100000" sy="100000" kx="0" ky="0" algn="bl" rotWithShape="0" blurRad="177800" dist="38100" dir="5400000">
              <a:srgbClr val="0A1B34">
                <a:alpha val="12000"/>
              </a:srgbClr>
            </a:outerShdw>
          </a:effectLst>
        </p:spPr>
      </p:sp>
      <p:sp>
        <p:nvSpPr>
          <p:cNvPr id="5" name="Pipeline PDF text"/>
          <p:cNvSpPr txBox="1"/>
          <p:nvPr/>
        </p:nvSpPr>
        <p:spPr>
          <a:xfrm>
            <a:off x="640080" y="1828800"/>
            <a:ext cx="1463040" cy="777240"/>
          </a:xfrm>
          <a:prstGeom prst="rect">
            <a:avLst/>
          </a:prstGeom>
          <a:noFill/>
          <a:ln/>
        </p:spPr>
        <p:txBody>
          <a:bodyPr wrap="square" lIns="0" tIns="0" rIns="0" bIns="0" rtlCol="0" anchor="ctr"/>
          <a:lstStyle/>
          <a:p>
            <a:pPr algn="ctr" indent="0" marL="0">
              <a:buNone/>
            </a:pPr>
            <a:r>
              <a:rPr lang="en-US" sz="1700" b="1" dirty="0">
                <a:solidFill>
                  <a:srgbClr val="17253D"/>
                </a:solidFill>
              </a:rPr>
              <a:t>PDF</a:t>
            </a:r>
            <a:endParaRPr lang="en-US" sz="1700" dirty="0"/>
          </a:p>
        </p:txBody>
      </p:sp>
      <p:sp>
        <p:nvSpPr>
          <p:cNvPr id="6" name="Arrow 1"/>
          <p:cNvSpPr txBox="1"/>
          <p:nvPr/>
        </p:nvSpPr>
        <p:spPr>
          <a:xfrm>
            <a:off x="2103120" y="1828800"/>
            <a:ext cx="426110" cy="77724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7" name="Pipeline pypdf"/>
          <p:cNvSpPr/>
          <p:nvPr/>
        </p:nvSpPr>
        <p:spPr>
          <a:xfrm>
            <a:off x="2529230" y="1828800"/>
            <a:ext cx="1463040" cy="777240"/>
          </a:xfrm>
          <a:prstGeom prst="roundRect">
            <a:avLst>
              <a:gd name="adj" fmla="val 9412"/>
            </a:avLst>
          </a:prstGeom>
          <a:solidFill>
            <a:srgbClr val="EEF3FA"/>
          </a:solidFill>
          <a:ln w="12700">
            <a:solidFill>
              <a:srgbClr val="D5DDEA"/>
            </a:solidFill>
            <a:prstDash val="solid"/>
          </a:ln>
          <a:effectLst>
            <a:outerShdw sx="100000" sy="100000" kx="0" ky="0" algn="bl" rotWithShape="0" blurRad="177800" dist="38100" dir="5400000">
              <a:srgbClr val="0A1B34">
                <a:alpha val="12000"/>
              </a:srgbClr>
            </a:outerShdw>
          </a:effectLst>
        </p:spPr>
      </p:sp>
      <p:sp>
        <p:nvSpPr>
          <p:cNvPr id="8" name="Pipeline pypdf text"/>
          <p:cNvSpPr txBox="1"/>
          <p:nvPr/>
        </p:nvSpPr>
        <p:spPr>
          <a:xfrm>
            <a:off x="2529230" y="1828800"/>
            <a:ext cx="1463040" cy="777240"/>
          </a:xfrm>
          <a:prstGeom prst="rect">
            <a:avLst/>
          </a:prstGeom>
          <a:noFill/>
          <a:ln/>
        </p:spPr>
        <p:txBody>
          <a:bodyPr wrap="square" lIns="0" tIns="0" rIns="0" bIns="0" rtlCol="0" anchor="ctr"/>
          <a:lstStyle/>
          <a:p>
            <a:pPr algn="ctr" indent="0" marL="0">
              <a:buNone/>
            </a:pPr>
            <a:r>
              <a:rPr lang="en-US" sz="1700" b="1" dirty="0">
                <a:solidFill>
                  <a:srgbClr val="17253D"/>
                </a:solidFill>
              </a:rPr>
              <a:t>pypdf</a:t>
            </a:r>
            <a:endParaRPr lang="en-US" sz="1700" dirty="0"/>
          </a:p>
        </p:txBody>
      </p:sp>
      <p:sp>
        <p:nvSpPr>
          <p:cNvPr id="9" name="Arrow 2"/>
          <p:cNvSpPr txBox="1"/>
          <p:nvPr/>
        </p:nvSpPr>
        <p:spPr>
          <a:xfrm>
            <a:off x="3992270" y="1828800"/>
            <a:ext cx="426110" cy="77724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0" name="Pipeline LLM JSON"/>
          <p:cNvSpPr/>
          <p:nvPr/>
        </p:nvSpPr>
        <p:spPr>
          <a:xfrm>
            <a:off x="4418381" y="1828800"/>
            <a:ext cx="1463040" cy="777240"/>
          </a:xfrm>
          <a:prstGeom prst="roundRect">
            <a:avLst>
              <a:gd name="adj" fmla="val 9412"/>
            </a:avLst>
          </a:prstGeom>
          <a:solidFill>
            <a:srgbClr val="9CC3F2"/>
          </a:solidFill>
          <a:ln/>
          <a:effectLst>
            <a:outerShdw sx="100000" sy="100000" kx="0" ky="0" algn="bl" rotWithShape="0" blurRad="177800" dist="38100" dir="5400000">
              <a:srgbClr val="0A1B34">
                <a:alpha val="12000"/>
              </a:srgbClr>
            </a:outerShdw>
          </a:effectLst>
        </p:spPr>
      </p:sp>
      <p:sp>
        <p:nvSpPr>
          <p:cNvPr id="11" name="Pipeline LLM JSON text"/>
          <p:cNvSpPr txBox="1"/>
          <p:nvPr/>
        </p:nvSpPr>
        <p:spPr>
          <a:xfrm>
            <a:off x="4418381" y="1828800"/>
            <a:ext cx="1463040" cy="777240"/>
          </a:xfrm>
          <a:prstGeom prst="rect">
            <a:avLst/>
          </a:prstGeom>
          <a:noFill/>
          <a:ln/>
        </p:spPr>
        <p:txBody>
          <a:bodyPr wrap="square" lIns="0" tIns="0" rIns="0" bIns="0" rtlCol="0" anchor="ctr"/>
          <a:lstStyle/>
          <a:p>
            <a:pPr algn="ctr" indent="0" marL="0">
              <a:buNone/>
            </a:pPr>
            <a:r>
              <a:rPr lang="en-US" sz="1700" b="1" dirty="0">
                <a:solidFill>
                  <a:srgbClr val="0A1B34"/>
                </a:solidFill>
              </a:rPr>
              <a:t>LLM JSON</a:t>
            </a:r>
            <a:endParaRPr lang="en-US" sz="1700" dirty="0"/>
          </a:p>
        </p:txBody>
      </p:sp>
      <p:sp>
        <p:nvSpPr>
          <p:cNvPr id="12" name="Arrow 3"/>
          <p:cNvSpPr txBox="1"/>
          <p:nvPr/>
        </p:nvSpPr>
        <p:spPr>
          <a:xfrm>
            <a:off x="5881421" y="1828800"/>
            <a:ext cx="426110" cy="77724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3" name="Pipeline Rules"/>
          <p:cNvSpPr/>
          <p:nvPr/>
        </p:nvSpPr>
        <p:spPr>
          <a:xfrm>
            <a:off x="6307531" y="1828800"/>
            <a:ext cx="1463040" cy="777240"/>
          </a:xfrm>
          <a:prstGeom prst="roundRect">
            <a:avLst>
              <a:gd name="adj" fmla="val 9412"/>
            </a:avLst>
          </a:prstGeom>
          <a:solidFill>
            <a:srgbClr val="0A1B34"/>
          </a:solidFill>
          <a:ln/>
          <a:effectLst>
            <a:outerShdw sx="100000" sy="100000" kx="0" ky="0" algn="bl" rotWithShape="0" blurRad="177800" dist="38100" dir="5400000">
              <a:srgbClr val="0A1B34">
                <a:alpha val="12000"/>
              </a:srgbClr>
            </a:outerShdw>
          </a:effectLst>
        </p:spPr>
      </p:sp>
      <p:sp>
        <p:nvSpPr>
          <p:cNvPr id="14" name="Pipeline Rules text"/>
          <p:cNvSpPr txBox="1"/>
          <p:nvPr/>
        </p:nvSpPr>
        <p:spPr>
          <a:xfrm>
            <a:off x="6307531" y="1828800"/>
            <a:ext cx="1463040" cy="777240"/>
          </a:xfrm>
          <a:prstGeom prst="rect">
            <a:avLst/>
          </a:prstGeom>
          <a:noFill/>
          <a:ln/>
        </p:spPr>
        <p:txBody>
          <a:bodyPr wrap="square" lIns="0" tIns="0" rIns="0" bIns="0" rtlCol="0" anchor="ctr"/>
          <a:lstStyle/>
          <a:p>
            <a:pPr algn="ctr" indent="0" marL="0">
              <a:buNone/>
            </a:pPr>
            <a:r>
              <a:rPr lang="en-US" sz="1700" b="1" dirty="0">
                <a:solidFill>
                  <a:srgbClr val="FFFFFF"/>
                </a:solidFill>
              </a:rPr>
              <a:t>Rules</a:t>
            </a:r>
            <a:endParaRPr lang="en-US" sz="1700" dirty="0"/>
          </a:p>
        </p:txBody>
      </p:sp>
      <p:sp>
        <p:nvSpPr>
          <p:cNvPr id="15" name="Arrow 4"/>
          <p:cNvSpPr txBox="1"/>
          <p:nvPr/>
        </p:nvSpPr>
        <p:spPr>
          <a:xfrm>
            <a:off x="7770571" y="1828800"/>
            <a:ext cx="426110" cy="77724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6" name="Pipeline SQLite"/>
          <p:cNvSpPr/>
          <p:nvPr/>
        </p:nvSpPr>
        <p:spPr>
          <a:xfrm>
            <a:off x="8196682" y="1828800"/>
            <a:ext cx="1463040" cy="777240"/>
          </a:xfrm>
          <a:prstGeom prst="roundRect">
            <a:avLst>
              <a:gd name="adj" fmla="val 9412"/>
            </a:avLst>
          </a:prstGeom>
          <a:solidFill>
            <a:srgbClr val="EEF3FA"/>
          </a:solidFill>
          <a:ln w="12700">
            <a:solidFill>
              <a:srgbClr val="D5DDEA"/>
            </a:solidFill>
            <a:prstDash val="solid"/>
          </a:ln>
          <a:effectLst>
            <a:outerShdw sx="100000" sy="100000" kx="0" ky="0" algn="bl" rotWithShape="0" blurRad="177800" dist="38100" dir="5400000">
              <a:srgbClr val="0A1B34">
                <a:alpha val="12000"/>
              </a:srgbClr>
            </a:outerShdw>
          </a:effectLst>
        </p:spPr>
      </p:sp>
      <p:sp>
        <p:nvSpPr>
          <p:cNvPr id="17" name="Pipeline SQLite text"/>
          <p:cNvSpPr txBox="1"/>
          <p:nvPr/>
        </p:nvSpPr>
        <p:spPr>
          <a:xfrm>
            <a:off x="8196682" y="1828800"/>
            <a:ext cx="1463040" cy="777240"/>
          </a:xfrm>
          <a:prstGeom prst="rect">
            <a:avLst/>
          </a:prstGeom>
          <a:noFill/>
          <a:ln/>
        </p:spPr>
        <p:txBody>
          <a:bodyPr wrap="square" lIns="0" tIns="0" rIns="0" bIns="0" rtlCol="0" anchor="ctr"/>
          <a:lstStyle/>
          <a:p>
            <a:pPr algn="ctr" indent="0" marL="0">
              <a:buNone/>
            </a:pPr>
            <a:r>
              <a:rPr lang="en-US" sz="1700" b="1" dirty="0">
                <a:solidFill>
                  <a:srgbClr val="17253D"/>
                </a:solidFill>
              </a:rPr>
              <a:t>SQLite</a:t>
            </a:r>
            <a:endParaRPr lang="en-US" sz="1700" dirty="0"/>
          </a:p>
        </p:txBody>
      </p:sp>
      <p:sp>
        <p:nvSpPr>
          <p:cNvPr id="18" name="Arrow 5"/>
          <p:cNvSpPr txBox="1"/>
          <p:nvPr/>
        </p:nvSpPr>
        <p:spPr>
          <a:xfrm>
            <a:off x="9659722" y="1828800"/>
            <a:ext cx="426110" cy="77724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9" name="Pipeline Review"/>
          <p:cNvSpPr/>
          <p:nvPr/>
        </p:nvSpPr>
        <p:spPr>
          <a:xfrm>
            <a:off x="10085832" y="1828800"/>
            <a:ext cx="1463040" cy="777240"/>
          </a:xfrm>
          <a:prstGeom prst="roundRect">
            <a:avLst>
              <a:gd name="adj" fmla="val 9412"/>
            </a:avLst>
          </a:prstGeom>
          <a:solidFill>
            <a:srgbClr val="1F4E9C"/>
          </a:solidFill>
          <a:ln/>
          <a:effectLst>
            <a:outerShdw sx="100000" sy="100000" kx="0" ky="0" algn="bl" rotWithShape="0" blurRad="177800" dist="38100" dir="5400000">
              <a:srgbClr val="0A1B34">
                <a:alpha val="12000"/>
              </a:srgbClr>
            </a:outerShdw>
          </a:effectLst>
        </p:spPr>
      </p:sp>
      <p:sp>
        <p:nvSpPr>
          <p:cNvPr id="20" name="Pipeline Review text"/>
          <p:cNvSpPr txBox="1"/>
          <p:nvPr/>
        </p:nvSpPr>
        <p:spPr>
          <a:xfrm>
            <a:off x="10085832" y="1828800"/>
            <a:ext cx="1463040" cy="777240"/>
          </a:xfrm>
          <a:prstGeom prst="rect">
            <a:avLst/>
          </a:prstGeom>
          <a:noFill/>
          <a:ln/>
        </p:spPr>
        <p:txBody>
          <a:bodyPr wrap="square" lIns="0" tIns="0" rIns="0" bIns="0" rtlCol="0" anchor="ctr"/>
          <a:lstStyle/>
          <a:p>
            <a:pPr algn="ctr" indent="0" marL="0">
              <a:buNone/>
            </a:pPr>
            <a:r>
              <a:rPr lang="en-US" sz="1700" b="1" dirty="0">
                <a:solidFill>
                  <a:srgbClr val="FFFFFF"/>
                </a:solidFill>
              </a:rPr>
              <a:t>Review</a:t>
            </a:r>
            <a:endParaRPr lang="en-US" sz="1700" dirty="0"/>
          </a:p>
        </p:txBody>
      </p:sp>
      <p:sp>
        <p:nvSpPr>
          <p:cNvPr id="21" name="Legend dot Probabilistic (AI)"/>
          <p:cNvSpPr/>
          <p:nvPr/>
        </p:nvSpPr>
        <p:spPr>
          <a:xfrm>
            <a:off x="640080" y="2889504"/>
            <a:ext cx="182880" cy="182880"/>
          </a:xfrm>
          <a:prstGeom prst="ellipse">
            <a:avLst/>
          </a:prstGeom>
          <a:solidFill>
            <a:srgbClr val="9CC3F2"/>
          </a:solidFill>
          <a:ln/>
        </p:spPr>
      </p:sp>
      <p:sp>
        <p:nvSpPr>
          <p:cNvPr id="22" name="Legend Probabilistic (AI)"/>
          <p:cNvSpPr txBox="1"/>
          <p:nvPr/>
        </p:nvSpPr>
        <p:spPr>
          <a:xfrm>
            <a:off x="932688" y="2834640"/>
            <a:ext cx="2011680" cy="292608"/>
          </a:xfrm>
          <a:prstGeom prst="rect">
            <a:avLst/>
          </a:prstGeom>
          <a:noFill/>
          <a:ln/>
        </p:spPr>
        <p:txBody>
          <a:bodyPr wrap="square" lIns="0" tIns="0" rIns="0" bIns="0" rtlCol="0" anchor="ctr"/>
          <a:lstStyle/>
          <a:p>
            <a:pPr indent="0" marL="0">
              <a:buNone/>
            </a:pPr>
            <a:r>
              <a:rPr lang="en-US" sz="1400" dirty="0">
                <a:solidFill>
                  <a:srgbClr val="55657D"/>
                </a:solidFill>
              </a:rPr>
              <a:t>Probabilistic (AI)</a:t>
            </a:r>
            <a:endParaRPr lang="en-US" sz="1400" dirty="0"/>
          </a:p>
        </p:txBody>
      </p:sp>
      <p:sp>
        <p:nvSpPr>
          <p:cNvPr id="23" name="Legend dot Deterministic (code)"/>
          <p:cNvSpPr/>
          <p:nvPr/>
        </p:nvSpPr>
        <p:spPr>
          <a:xfrm>
            <a:off x="3017520" y="2889504"/>
            <a:ext cx="182880" cy="182880"/>
          </a:xfrm>
          <a:prstGeom prst="ellipse">
            <a:avLst/>
          </a:prstGeom>
          <a:solidFill>
            <a:srgbClr val="0A1B34"/>
          </a:solidFill>
          <a:ln/>
        </p:spPr>
      </p:sp>
      <p:sp>
        <p:nvSpPr>
          <p:cNvPr id="24" name="Legend Deterministic (code)"/>
          <p:cNvSpPr txBox="1"/>
          <p:nvPr/>
        </p:nvSpPr>
        <p:spPr>
          <a:xfrm>
            <a:off x="3310128" y="2834640"/>
            <a:ext cx="2011680" cy="292608"/>
          </a:xfrm>
          <a:prstGeom prst="rect">
            <a:avLst/>
          </a:prstGeom>
          <a:noFill/>
          <a:ln/>
        </p:spPr>
        <p:txBody>
          <a:bodyPr wrap="square" lIns="0" tIns="0" rIns="0" bIns="0" rtlCol="0" anchor="ctr"/>
          <a:lstStyle/>
          <a:p>
            <a:pPr indent="0" marL="0">
              <a:buNone/>
            </a:pPr>
            <a:r>
              <a:rPr lang="en-US" sz="1400" dirty="0">
                <a:solidFill>
                  <a:srgbClr val="55657D"/>
                </a:solidFill>
              </a:rPr>
              <a:t>Deterministic (code)</a:t>
            </a:r>
            <a:endParaRPr lang="en-US" sz="1400" dirty="0"/>
          </a:p>
        </p:txBody>
      </p:sp>
      <p:sp>
        <p:nvSpPr>
          <p:cNvPr id="25" name="Legend dot Human"/>
          <p:cNvSpPr/>
          <p:nvPr/>
        </p:nvSpPr>
        <p:spPr>
          <a:xfrm>
            <a:off x="5669280" y="2889504"/>
            <a:ext cx="182880" cy="182880"/>
          </a:xfrm>
          <a:prstGeom prst="ellipse">
            <a:avLst/>
          </a:prstGeom>
          <a:solidFill>
            <a:srgbClr val="1F4E9C"/>
          </a:solidFill>
          <a:ln/>
        </p:spPr>
      </p:sp>
      <p:sp>
        <p:nvSpPr>
          <p:cNvPr id="26" name="Legend Human"/>
          <p:cNvSpPr txBox="1"/>
          <p:nvPr/>
        </p:nvSpPr>
        <p:spPr>
          <a:xfrm>
            <a:off x="5961888" y="2834640"/>
            <a:ext cx="2011680" cy="292608"/>
          </a:xfrm>
          <a:prstGeom prst="rect">
            <a:avLst/>
          </a:prstGeom>
          <a:noFill/>
          <a:ln/>
        </p:spPr>
        <p:txBody>
          <a:bodyPr wrap="square" lIns="0" tIns="0" rIns="0" bIns="0" rtlCol="0" anchor="ctr"/>
          <a:lstStyle/>
          <a:p>
            <a:pPr indent="0" marL="0">
              <a:buNone/>
            </a:pPr>
            <a:r>
              <a:rPr lang="en-US" sz="1400" dirty="0">
                <a:solidFill>
                  <a:srgbClr val="55657D"/>
                </a:solidFill>
              </a:rPr>
              <a:t>Human</a:t>
            </a:r>
            <a:endParaRPr lang="en-US" sz="1400" dirty="0"/>
          </a:p>
        </p:txBody>
      </p:sp>
      <p:sp>
        <p:nvSpPr>
          <p:cNvPr id="27" name="AI does card"/>
          <p:cNvSpPr/>
          <p:nvPr/>
        </p:nvSpPr>
        <p:spPr>
          <a:xfrm>
            <a:off x="640080" y="3429000"/>
            <a:ext cx="5271516" cy="2697480"/>
          </a:xfrm>
          <a:prstGeom prst="roundRect">
            <a:avLst>
              <a:gd name="adj" fmla="val 2712"/>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28" name="AI does tag"/>
          <p:cNvSpPr/>
          <p:nvPr/>
        </p:nvSpPr>
        <p:spPr>
          <a:xfrm>
            <a:off x="960120" y="3703320"/>
            <a:ext cx="1737360" cy="457200"/>
          </a:xfrm>
          <a:prstGeom prst="roundRect">
            <a:avLst>
              <a:gd name="adj" fmla="val 50000"/>
            </a:avLst>
          </a:prstGeom>
          <a:solidFill>
            <a:srgbClr val="9CC3F2"/>
          </a:solidFill>
          <a:ln/>
        </p:spPr>
      </p:sp>
      <p:sp>
        <p:nvSpPr>
          <p:cNvPr id="29" name="AI does tag text"/>
          <p:cNvSpPr txBox="1"/>
          <p:nvPr/>
        </p:nvSpPr>
        <p:spPr>
          <a:xfrm>
            <a:off x="960120" y="3703320"/>
            <a:ext cx="1737360" cy="457200"/>
          </a:xfrm>
          <a:prstGeom prst="rect">
            <a:avLst/>
          </a:prstGeom>
          <a:noFill/>
          <a:ln/>
        </p:spPr>
        <p:txBody>
          <a:bodyPr wrap="square" lIns="0" tIns="0" rIns="0" bIns="0" rtlCol="0" anchor="ctr"/>
          <a:lstStyle/>
          <a:p>
            <a:pPr algn="ctr" indent="0" marL="0">
              <a:buNone/>
            </a:pPr>
            <a:r>
              <a:rPr lang="en-US" sz="1600" b="1" dirty="0">
                <a:solidFill>
                  <a:srgbClr val="0A1B34"/>
                </a:solidFill>
              </a:rPr>
              <a:t>AI does</a:t>
            </a:r>
            <a:endParaRPr lang="en-US" sz="1600" dirty="0"/>
          </a:p>
        </p:txBody>
      </p:sp>
      <p:sp>
        <p:nvSpPr>
          <p:cNvPr id="30" name="AI does list"/>
          <p:cNvSpPr txBox="1"/>
          <p:nvPr/>
        </p:nvSpPr>
        <p:spPr>
          <a:xfrm>
            <a:off x="960120" y="4389120"/>
            <a:ext cx="4631436" cy="150876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17253D"/>
                </a:solidFill>
              </a:rPr>
              <a:t>Extract structure from unstructured text</a:t>
            </a:r>
            <a:endParaRPr lang="en-US" sz="1600" dirty="0"/>
          </a:p>
          <a:p>
            <a:pPr marL="203200" indent="-203200">
              <a:spcAft>
                <a:spcPts val="1200"/>
              </a:spcAft>
              <a:buSzPct val="100000"/>
              <a:buChar char="•"/>
            </a:pPr>
            <a:r>
              <a:rPr lang="en-US" sz="1600" dirty="0">
                <a:solidFill>
                  <a:srgbClr val="17253D"/>
                </a:solidFill>
              </a:rPr>
              <a:t>Identify stated risk factors</a:t>
            </a:r>
            <a:endParaRPr lang="en-US" sz="1600" dirty="0"/>
          </a:p>
          <a:p>
            <a:pPr marL="203200" indent="-203200">
              <a:spcAft>
                <a:spcPts val="1200"/>
              </a:spcAft>
              <a:buSzPct val="100000"/>
              <a:buChar char="•"/>
            </a:pPr>
            <a:r>
              <a:rPr lang="en-US" sz="1600" dirty="0">
                <a:solidFill>
                  <a:srgbClr val="17253D"/>
                </a:solidFill>
              </a:rPr>
              <a:t>Attempt semantic policy retrieval when configured</a:t>
            </a:r>
            <a:endParaRPr lang="en-US" sz="1600" dirty="0"/>
          </a:p>
        </p:txBody>
      </p:sp>
      <p:sp>
        <p:nvSpPr>
          <p:cNvPr id="31" name="Code does card"/>
          <p:cNvSpPr/>
          <p:nvPr/>
        </p:nvSpPr>
        <p:spPr>
          <a:xfrm>
            <a:off x="6277356" y="3429000"/>
            <a:ext cx="5271516" cy="2697480"/>
          </a:xfrm>
          <a:prstGeom prst="roundRect">
            <a:avLst>
              <a:gd name="adj" fmla="val 2712"/>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32" name="Code does tag"/>
          <p:cNvSpPr/>
          <p:nvPr/>
        </p:nvSpPr>
        <p:spPr>
          <a:xfrm>
            <a:off x="6597396" y="3703320"/>
            <a:ext cx="1737360" cy="457200"/>
          </a:xfrm>
          <a:prstGeom prst="roundRect">
            <a:avLst>
              <a:gd name="adj" fmla="val 50000"/>
            </a:avLst>
          </a:prstGeom>
          <a:solidFill>
            <a:srgbClr val="0A1B34"/>
          </a:solidFill>
          <a:ln/>
        </p:spPr>
      </p:sp>
      <p:sp>
        <p:nvSpPr>
          <p:cNvPr id="33" name="Code does tag text"/>
          <p:cNvSpPr txBox="1"/>
          <p:nvPr/>
        </p:nvSpPr>
        <p:spPr>
          <a:xfrm>
            <a:off x="6597396" y="3703320"/>
            <a:ext cx="1737360" cy="457200"/>
          </a:xfrm>
          <a:prstGeom prst="rect">
            <a:avLst/>
          </a:prstGeom>
          <a:noFill/>
          <a:ln/>
        </p:spPr>
        <p:txBody>
          <a:bodyPr wrap="square" lIns="0" tIns="0" rIns="0" bIns="0" rtlCol="0" anchor="ctr"/>
          <a:lstStyle/>
          <a:p>
            <a:pPr algn="ctr" indent="0" marL="0">
              <a:buNone/>
            </a:pPr>
            <a:r>
              <a:rPr lang="en-US" sz="1600" b="1" dirty="0">
                <a:solidFill>
                  <a:srgbClr val="FFFFFF"/>
                </a:solidFill>
              </a:rPr>
              <a:t>Code does</a:t>
            </a:r>
            <a:endParaRPr lang="en-US" sz="1600" dirty="0"/>
          </a:p>
        </p:txBody>
      </p:sp>
      <p:sp>
        <p:nvSpPr>
          <p:cNvPr id="34" name="Code does list"/>
          <p:cNvSpPr txBox="1"/>
          <p:nvPr/>
        </p:nvSpPr>
        <p:spPr>
          <a:xfrm>
            <a:off x="6597396" y="4389120"/>
            <a:ext cx="4631436" cy="150876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17253D"/>
                </a:solidFill>
              </a:rPr>
              <a:t>Validate schemas</a:t>
            </a:r>
            <a:endParaRPr lang="en-US" sz="1600" dirty="0"/>
          </a:p>
          <a:p>
            <a:pPr marL="203200" indent="-203200">
              <a:spcAft>
                <a:spcPts val="1200"/>
              </a:spcAft>
              <a:buSzPct val="100000"/>
              <a:buChar char="•"/>
            </a:pPr>
            <a:r>
              <a:rPr lang="en-US" sz="1600" dirty="0">
                <a:solidFill>
                  <a:srgbClr val="17253D"/>
                </a:solidFill>
              </a:rPr>
              <a:t>Calculate scores and thresholds</a:t>
            </a:r>
            <a:endParaRPr lang="en-US" sz="1600" dirty="0"/>
          </a:p>
          <a:p>
            <a:pPr marL="203200" indent="-203200">
              <a:spcAft>
                <a:spcPts val="1200"/>
              </a:spcAft>
              <a:buSzPct val="100000"/>
              <a:buChar char="•"/>
            </a:pPr>
            <a:r>
              <a:rPr lang="en-US" sz="1600" dirty="0">
                <a:solidFill>
                  <a:srgbClr val="17253D"/>
                </a:solidFill>
              </a:rPr>
              <a:t>Persist workflow events; policy lookup falls back to rules</a:t>
            </a:r>
            <a:endParaRPr lang="en-US" sz="16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AI HARNESS AND CONTEXT</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The document is data, not authority</a:t>
            </a:r>
            <a:endParaRPr lang="en-US" sz="3000" dirty="0"/>
          </a:p>
        </p:txBody>
      </p:sp>
      <p:sp>
        <p:nvSpPr>
          <p:cNvPr id="4" name="Column 1"/>
          <p:cNvSpPr/>
          <p:nvPr/>
        </p:nvSpPr>
        <p:spPr>
          <a:xfrm>
            <a:off x="640080" y="1783080"/>
            <a:ext cx="3392424" cy="4343400"/>
          </a:xfrm>
          <a:prstGeom prst="roundRect">
            <a:avLst>
              <a:gd name="adj" fmla="val 2156"/>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5" name="Badge 1"/>
          <p:cNvSpPr/>
          <p:nvPr/>
        </p:nvSpPr>
        <p:spPr>
          <a:xfrm>
            <a:off x="960120" y="2103120"/>
            <a:ext cx="640080" cy="640080"/>
          </a:xfrm>
          <a:prstGeom prst="ellipse">
            <a:avLst/>
          </a:prstGeom>
          <a:solidFill>
            <a:srgbClr val="0A1B34"/>
          </a:solidFill>
          <a:ln/>
        </p:spPr>
      </p:sp>
      <p:sp>
        <p:nvSpPr>
          <p:cNvPr id="6" name="Badge 1 number"/>
          <p:cNvSpPr txBox="1"/>
          <p:nvPr/>
        </p:nvSpPr>
        <p:spPr>
          <a:xfrm>
            <a:off x="960120" y="2103120"/>
            <a:ext cx="640080" cy="640080"/>
          </a:xfrm>
          <a:prstGeom prst="rect">
            <a:avLst/>
          </a:prstGeom>
          <a:noFill/>
          <a:ln/>
        </p:spPr>
        <p:txBody>
          <a:bodyPr wrap="square" lIns="0" tIns="0" rIns="0" bIns="0" rtlCol="0" anchor="ctr"/>
          <a:lstStyle/>
          <a:p>
            <a:pPr algn="ctr" indent="0" marL="0">
              <a:buNone/>
            </a:pPr>
            <a:r>
              <a:rPr lang="en-US" sz="2100" b="1" dirty="0">
                <a:solidFill>
                  <a:srgbClr val="FFFFFF"/>
                </a:solidFill>
                <a:latin typeface="+mj-lt" pitchFamily="34" charset="0"/>
                <a:ea typeface="+mj-lt" pitchFamily="34" charset="-122"/>
                <a:cs typeface="+mj-lt" pitchFamily="34" charset="-120"/>
              </a:rPr>
              <a:t>1</a:t>
            </a:r>
            <a:endParaRPr lang="en-US" sz="2100" dirty="0"/>
          </a:p>
        </p:txBody>
      </p:sp>
      <p:sp>
        <p:nvSpPr>
          <p:cNvPr id="7" name="Heading 1"/>
          <p:cNvSpPr txBox="1"/>
          <p:nvPr/>
        </p:nvSpPr>
        <p:spPr>
          <a:xfrm>
            <a:off x="960120" y="2971800"/>
            <a:ext cx="2752344" cy="45720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Context boundary</a:t>
            </a:r>
            <a:endParaRPr lang="en-US" sz="2000" dirty="0"/>
          </a:p>
        </p:txBody>
      </p:sp>
      <p:sp>
        <p:nvSpPr>
          <p:cNvPr id="8" name="List 1"/>
          <p:cNvSpPr txBox="1"/>
          <p:nvPr/>
        </p:nvSpPr>
        <p:spPr>
          <a:xfrm>
            <a:off x="960120" y="3611880"/>
            <a:ext cx="2752344" cy="224028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7253D"/>
                </a:solidFill>
              </a:rPr>
              <a:t>Source text is explicitly untrusted</a:t>
            </a:r>
            <a:endParaRPr lang="en-US" sz="1600" dirty="0"/>
          </a:p>
          <a:p>
            <a:pPr marL="203200" indent="-203200">
              <a:spcAft>
                <a:spcPts val="1400"/>
              </a:spcAft>
              <a:buSzPct val="100000"/>
              <a:buChar char="•"/>
            </a:pPr>
            <a:r>
              <a:rPr lang="en-US" sz="1600" dirty="0">
                <a:solidFill>
                  <a:srgbClr val="17253D"/>
                </a:solidFill>
              </a:rPr>
              <a:t>Embedded instructions cannot approve a case</a:t>
            </a:r>
            <a:endParaRPr lang="en-US" sz="1600" dirty="0"/>
          </a:p>
          <a:p>
            <a:pPr marL="203200" indent="-203200">
              <a:spcAft>
                <a:spcPts val="1400"/>
              </a:spcAft>
              <a:buSzPct val="100000"/>
              <a:buChar char="•"/>
            </a:pPr>
            <a:r>
              <a:rPr lang="en-US" sz="1600" dirty="0">
                <a:solidFill>
                  <a:srgbClr val="17253D"/>
                </a:solidFill>
              </a:rPr>
              <a:t>Prompt requires faithful extraction</a:t>
            </a:r>
            <a:endParaRPr lang="en-US" sz="1600" dirty="0"/>
          </a:p>
        </p:txBody>
      </p:sp>
      <p:sp>
        <p:nvSpPr>
          <p:cNvPr id="9" name="Column 2"/>
          <p:cNvSpPr/>
          <p:nvPr/>
        </p:nvSpPr>
        <p:spPr>
          <a:xfrm>
            <a:off x="4398264" y="1783080"/>
            <a:ext cx="3392424" cy="4343400"/>
          </a:xfrm>
          <a:prstGeom prst="roundRect">
            <a:avLst>
              <a:gd name="adj" fmla="val 2156"/>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10" name="Badge 2"/>
          <p:cNvSpPr/>
          <p:nvPr/>
        </p:nvSpPr>
        <p:spPr>
          <a:xfrm>
            <a:off x="4718304" y="2103120"/>
            <a:ext cx="640080" cy="640080"/>
          </a:xfrm>
          <a:prstGeom prst="ellipse">
            <a:avLst/>
          </a:prstGeom>
          <a:solidFill>
            <a:srgbClr val="0A1B34"/>
          </a:solidFill>
          <a:ln/>
        </p:spPr>
      </p:sp>
      <p:sp>
        <p:nvSpPr>
          <p:cNvPr id="11" name="Badge 2 number"/>
          <p:cNvSpPr txBox="1"/>
          <p:nvPr/>
        </p:nvSpPr>
        <p:spPr>
          <a:xfrm>
            <a:off x="4718304" y="2103120"/>
            <a:ext cx="640080" cy="640080"/>
          </a:xfrm>
          <a:prstGeom prst="rect">
            <a:avLst/>
          </a:prstGeom>
          <a:noFill/>
          <a:ln/>
        </p:spPr>
        <p:txBody>
          <a:bodyPr wrap="square" lIns="0" tIns="0" rIns="0" bIns="0" rtlCol="0" anchor="ctr"/>
          <a:lstStyle/>
          <a:p>
            <a:pPr algn="ctr" indent="0" marL="0">
              <a:buNone/>
            </a:pPr>
            <a:r>
              <a:rPr lang="en-US" sz="2100" b="1" dirty="0">
                <a:solidFill>
                  <a:srgbClr val="FFFFFF"/>
                </a:solidFill>
                <a:latin typeface="+mj-lt" pitchFamily="34" charset="0"/>
                <a:ea typeface="+mj-lt" pitchFamily="34" charset="-122"/>
                <a:cs typeface="+mj-lt" pitchFamily="34" charset="-120"/>
              </a:rPr>
              <a:t>2</a:t>
            </a:r>
            <a:endParaRPr lang="en-US" sz="2100" dirty="0"/>
          </a:p>
        </p:txBody>
      </p:sp>
      <p:sp>
        <p:nvSpPr>
          <p:cNvPr id="12" name="Heading 2"/>
          <p:cNvSpPr txBox="1"/>
          <p:nvPr/>
        </p:nvSpPr>
        <p:spPr>
          <a:xfrm>
            <a:off x="4718304" y="2971800"/>
            <a:ext cx="2752344" cy="45720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Structured contract</a:t>
            </a:r>
            <a:endParaRPr lang="en-US" sz="2000" dirty="0"/>
          </a:p>
        </p:txBody>
      </p:sp>
      <p:sp>
        <p:nvSpPr>
          <p:cNvPr id="13" name="List 2"/>
          <p:cNvSpPr txBox="1"/>
          <p:nvPr/>
        </p:nvSpPr>
        <p:spPr>
          <a:xfrm>
            <a:off x="4718304" y="3611880"/>
            <a:ext cx="2752344" cy="224028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7253D"/>
                </a:solidFill>
              </a:rPr>
              <a:t>Pydantic schema at the model boundary</a:t>
            </a:r>
            <a:endParaRPr lang="en-US" sz="1600" dirty="0"/>
          </a:p>
          <a:p>
            <a:pPr marL="203200" indent="-203200">
              <a:spcAft>
                <a:spcPts val="1400"/>
              </a:spcAft>
              <a:buSzPct val="100000"/>
              <a:buChar char="•"/>
            </a:pPr>
            <a:r>
              <a:rPr lang="en-US" sz="1600" dirty="0">
                <a:solidFill>
                  <a:srgbClr val="17253D"/>
                </a:solidFill>
              </a:rPr>
              <a:t>Malformed output fails loudly</a:t>
            </a:r>
            <a:endParaRPr lang="en-US" sz="1600" dirty="0"/>
          </a:p>
          <a:p>
            <a:pPr marL="203200" indent="-203200">
              <a:spcAft>
                <a:spcPts val="1400"/>
              </a:spcAft>
              <a:buSzPct val="100000"/>
              <a:buChar char="•"/>
            </a:pPr>
            <a:r>
              <a:rPr lang="en-US" sz="1600" dirty="0">
                <a:solidFill>
                  <a:srgbClr val="17253D"/>
                </a:solidFill>
              </a:rPr>
              <a:t>Extraction versions stay reconstructable</a:t>
            </a:r>
            <a:endParaRPr lang="en-US" sz="1600" dirty="0"/>
          </a:p>
        </p:txBody>
      </p:sp>
      <p:sp>
        <p:nvSpPr>
          <p:cNvPr id="14" name="Column 3"/>
          <p:cNvSpPr/>
          <p:nvPr/>
        </p:nvSpPr>
        <p:spPr>
          <a:xfrm>
            <a:off x="8156448" y="1783080"/>
            <a:ext cx="3392424" cy="4343400"/>
          </a:xfrm>
          <a:prstGeom prst="roundRect">
            <a:avLst>
              <a:gd name="adj" fmla="val 2156"/>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15" name="Badge 3"/>
          <p:cNvSpPr/>
          <p:nvPr/>
        </p:nvSpPr>
        <p:spPr>
          <a:xfrm>
            <a:off x="8476488" y="2103120"/>
            <a:ext cx="640080" cy="640080"/>
          </a:xfrm>
          <a:prstGeom prst="ellipse">
            <a:avLst/>
          </a:prstGeom>
          <a:solidFill>
            <a:srgbClr val="0A1B34"/>
          </a:solidFill>
          <a:ln/>
        </p:spPr>
      </p:sp>
      <p:sp>
        <p:nvSpPr>
          <p:cNvPr id="16" name="Badge 3 number"/>
          <p:cNvSpPr txBox="1"/>
          <p:nvPr/>
        </p:nvSpPr>
        <p:spPr>
          <a:xfrm>
            <a:off x="8476488" y="2103120"/>
            <a:ext cx="640080" cy="640080"/>
          </a:xfrm>
          <a:prstGeom prst="rect">
            <a:avLst/>
          </a:prstGeom>
          <a:noFill/>
          <a:ln/>
        </p:spPr>
        <p:txBody>
          <a:bodyPr wrap="square" lIns="0" tIns="0" rIns="0" bIns="0" rtlCol="0" anchor="ctr"/>
          <a:lstStyle/>
          <a:p>
            <a:pPr algn="ctr" indent="0" marL="0">
              <a:buNone/>
            </a:pPr>
            <a:r>
              <a:rPr lang="en-US" sz="2100" b="1" dirty="0">
                <a:solidFill>
                  <a:srgbClr val="FFFFFF"/>
                </a:solidFill>
                <a:latin typeface="+mj-lt" pitchFamily="34" charset="0"/>
                <a:ea typeface="+mj-lt" pitchFamily="34" charset="-122"/>
                <a:cs typeface="+mj-lt" pitchFamily="34" charset="-120"/>
              </a:rPr>
              <a:t>3</a:t>
            </a:r>
            <a:endParaRPr lang="en-US" sz="2100" dirty="0"/>
          </a:p>
        </p:txBody>
      </p:sp>
      <p:sp>
        <p:nvSpPr>
          <p:cNvPr id="17" name="Heading 3"/>
          <p:cNvSpPr txBox="1"/>
          <p:nvPr/>
        </p:nvSpPr>
        <p:spPr>
          <a:xfrm>
            <a:off x="8476488" y="2971800"/>
            <a:ext cx="2752344" cy="45720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Traceable context</a:t>
            </a:r>
            <a:endParaRPr lang="en-US" sz="2000" dirty="0"/>
          </a:p>
        </p:txBody>
      </p:sp>
      <p:sp>
        <p:nvSpPr>
          <p:cNvPr id="18" name="List 3"/>
          <p:cNvSpPr txBox="1"/>
          <p:nvPr/>
        </p:nvSpPr>
        <p:spPr>
          <a:xfrm>
            <a:off x="8476488" y="3611880"/>
            <a:ext cx="2752344" cy="224028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7253D"/>
                </a:solidFill>
              </a:rPr>
              <a:t>Synthetic policy IDs and source paths</a:t>
            </a:r>
            <a:endParaRPr lang="en-US" sz="1600" dirty="0"/>
          </a:p>
          <a:p>
            <a:pPr marL="203200" indent="-203200">
              <a:spcAft>
                <a:spcPts val="1400"/>
              </a:spcAft>
              <a:buSzPct val="100000"/>
              <a:buChar char="•"/>
            </a:pPr>
            <a:r>
              <a:rPr lang="en-US" sz="1600" dirty="0">
                <a:solidFill>
                  <a:srgbClr val="17253D"/>
                </a:solidFill>
              </a:rPr>
              <a:t>Prompt version telemetry</a:t>
            </a:r>
            <a:endParaRPr lang="en-US" sz="1600" dirty="0"/>
          </a:p>
          <a:p>
            <a:pPr marL="203200" indent="-203200">
              <a:spcAft>
                <a:spcPts val="1400"/>
              </a:spcAft>
              <a:buSzPct val="100000"/>
              <a:buChar char="•"/>
            </a:pPr>
            <a:r>
              <a:rPr lang="en-US" sz="1600" dirty="0">
                <a:solidFill>
                  <a:srgbClr val="17253D"/>
                </a:solidFill>
              </a:rPr>
              <a:t>Analyst can disagree with the rationale</a:t>
            </a:r>
            <a:endParaRPr lang="en-US" sz="16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ENGINEERING JUDGEMENT</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Scoring is explainable by construction</a:t>
            </a:r>
            <a:endParaRPr lang="en-US" sz="3000" dirty="0"/>
          </a:p>
        </p:txBody>
      </p:sp>
      <p:sp>
        <p:nvSpPr>
          <p:cNvPr id="4" name="Chart card"/>
          <p:cNvSpPr/>
          <p:nvPr/>
        </p:nvSpPr>
        <p:spPr>
          <a:xfrm>
            <a:off x="640080" y="1783080"/>
            <a:ext cx="6035040" cy="4343400"/>
          </a:xfrm>
          <a:prstGeom prst="roundRect">
            <a:avLst>
              <a:gd name="adj" fmla="val 168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graphicFrame>
        <p:nvGraphicFramePr>
          <p:cNvPr id="5" name="Chart 0" descr=""/>
          <p:cNvGraphicFramePr/>
          <p:nvPr/>
        </p:nvGraphicFramePr>
        <p:xfrm>
          <a:off x="822960" y="1920240"/>
          <a:ext cx="5669280" cy="4069080"/>
        </p:xfrm>
        <a:graphic xmlns:a="http://schemas.openxmlformats.org/drawingml/2006/main">
          <a:graphicData uri="http://schemas.openxmlformats.org/drawingml/2006/chart">
            <c:chart xmlns:c="http://schemas.openxmlformats.org/drawingml/2006/chart" r:id="rId1"/>
          </a:graphicData>
        </a:graphic>
      </p:graphicFrame>
      <p:sp>
        <p:nvSpPr>
          <p:cNvPr id="6" name="Why not an LLM score? card"/>
          <p:cNvSpPr/>
          <p:nvPr/>
        </p:nvSpPr>
        <p:spPr>
          <a:xfrm>
            <a:off x="7040880" y="1783080"/>
            <a:ext cx="4507992" cy="1988820"/>
          </a:xfrm>
          <a:prstGeom prst="roundRect">
            <a:avLst>
              <a:gd name="adj" fmla="val 3678"/>
            </a:avLst>
          </a:prstGeom>
          <a:solidFill>
            <a:srgbClr val="EEF3FA"/>
          </a:solidFill>
          <a:ln w="9525">
            <a:solidFill>
              <a:srgbClr val="D5DDEA"/>
            </a:solidFill>
            <a:prstDash val="solid"/>
          </a:ln>
        </p:spPr>
      </p:sp>
      <p:sp>
        <p:nvSpPr>
          <p:cNvPr id="7" name="Why not an LLM score? heading"/>
          <p:cNvSpPr txBox="1"/>
          <p:nvPr/>
        </p:nvSpPr>
        <p:spPr>
          <a:xfrm>
            <a:off x="7360920" y="2011680"/>
            <a:ext cx="3867912" cy="41148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Why not an LLM score?</a:t>
            </a:r>
            <a:endParaRPr lang="en-US" sz="2000" dirty="0"/>
          </a:p>
        </p:txBody>
      </p:sp>
      <p:sp>
        <p:nvSpPr>
          <p:cNvPr id="8" name="Why not an LLM score? body"/>
          <p:cNvSpPr txBox="1"/>
          <p:nvPr/>
        </p:nvSpPr>
        <p:spPr>
          <a:xfrm>
            <a:off x="7360920" y="2514600"/>
            <a:ext cx="3867912" cy="1074420"/>
          </a:xfrm>
          <a:prstGeom prst="rect">
            <a:avLst/>
          </a:prstGeom>
          <a:noFill/>
          <a:ln/>
        </p:spPr>
        <p:txBody>
          <a:bodyPr wrap="square" lIns="0" tIns="0" rIns="0" bIns="0" rtlCol="0" anchor="t"/>
          <a:lstStyle/>
          <a:p>
            <a:pPr indent="0" marL="0">
              <a:buNone/>
            </a:pPr>
            <a:r>
              <a:rPr lang="en-US" sz="1500" dirty="0">
                <a:solidFill>
                  <a:srgbClr val="17253D"/>
                </a:solidFill>
              </a:rPr>
              <a:t>A committee must reproduce, challenge, and test the number. The model structures evidence; deterministic Python combines category scores.</a:t>
            </a:r>
            <a:endParaRPr lang="en-US" sz="1500" dirty="0"/>
          </a:p>
        </p:txBody>
      </p:sp>
      <p:sp>
        <p:nvSpPr>
          <p:cNvPr id="9" name="Honest limits card"/>
          <p:cNvSpPr/>
          <p:nvPr/>
        </p:nvSpPr>
        <p:spPr>
          <a:xfrm>
            <a:off x="7040880" y="4137660"/>
            <a:ext cx="4507992" cy="1988820"/>
          </a:xfrm>
          <a:prstGeom prst="roundRect">
            <a:avLst>
              <a:gd name="adj" fmla="val 3678"/>
            </a:avLst>
          </a:prstGeom>
          <a:solidFill>
            <a:srgbClr val="FFFFFF"/>
          </a:solidFill>
          <a:ln w="9525">
            <a:solidFill>
              <a:srgbClr val="C8A24A"/>
            </a:solidFill>
            <a:prstDash val="solid"/>
          </a:ln>
          <a:effectLst>
            <a:outerShdw sx="100000" sy="100000" kx="0" ky="0" algn="bl" rotWithShape="0" blurRad="177800" dist="38100" dir="5400000">
              <a:srgbClr val="0A1B34">
                <a:alpha val="12000"/>
              </a:srgbClr>
            </a:outerShdw>
          </a:effectLst>
        </p:spPr>
      </p:sp>
      <p:sp>
        <p:nvSpPr>
          <p:cNvPr id="10" name="Honest limits heading"/>
          <p:cNvSpPr txBox="1"/>
          <p:nvPr/>
        </p:nvSpPr>
        <p:spPr>
          <a:xfrm>
            <a:off x="7360920" y="4366260"/>
            <a:ext cx="3867912" cy="411480"/>
          </a:xfrm>
          <a:prstGeom prst="rect">
            <a:avLst/>
          </a:prstGeom>
          <a:noFill/>
          <a:ln/>
        </p:spPr>
        <p:txBody>
          <a:bodyPr wrap="square" lIns="0" tIns="0" rIns="0" bIns="0" rtlCol="0" anchor="ctr"/>
          <a:lstStyle/>
          <a:p>
            <a:pPr indent="0" marL="0">
              <a:buNone/>
            </a:pPr>
            <a:r>
              <a:rPr lang="en-US" sz="2000" b="1" dirty="0">
                <a:solidFill>
                  <a:srgbClr val="8A6A1F"/>
                </a:solidFill>
                <a:latin typeface="+mj-lt" pitchFamily="34" charset="0"/>
                <a:ea typeface="+mj-lt" pitchFamily="34" charset="-122"/>
                <a:cs typeface="+mj-lt" pitchFamily="34" charset="-120"/>
              </a:rPr>
              <a:t>Honest limits</a:t>
            </a:r>
            <a:endParaRPr lang="en-US" sz="2000" dirty="0"/>
          </a:p>
        </p:txBody>
      </p:sp>
      <p:sp>
        <p:nvSpPr>
          <p:cNvPr id="11" name="Honest limits body"/>
          <p:cNvSpPr txBox="1"/>
          <p:nvPr/>
        </p:nvSpPr>
        <p:spPr>
          <a:xfrm>
            <a:off x="7360920" y="4869180"/>
            <a:ext cx="3867912" cy="1074420"/>
          </a:xfrm>
          <a:prstGeom prst="rect">
            <a:avLst/>
          </a:prstGeom>
          <a:noFill/>
          <a:ln/>
        </p:spPr>
        <p:txBody>
          <a:bodyPr wrap="square" lIns="0" tIns="0" rIns="0" bIns="0" rtlCol="0" anchor="t"/>
          <a:lstStyle/>
          <a:p>
            <a:pPr indent="0" marL="0">
              <a:buNone/>
            </a:pPr>
            <a:r>
              <a:rPr lang="en-US" sz="1500" dirty="0">
                <a:solidFill>
                  <a:srgbClr val="17253D"/>
                </a:solidFill>
              </a:rPr>
              <a:t>Weights and policy material are synthetic, not approved supervisory mappings. Control effectiveness and residual risk are not yet modeled.</a:t>
            </a:r>
            <a:endParaRPr lang="en-US" sz="15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SIX STAGES</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AI is part of delivery, not only runtime code</a:t>
            </a:r>
            <a:endParaRPr lang="en-US" sz="3000" dirty="0"/>
          </a:p>
        </p:txBody>
      </p:sp>
      <p:sp>
        <p:nvSpPr>
          <p:cNvPr id="4" name="Stage 1"/>
          <p:cNvSpPr/>
          <p:nvPr/>
        </p:nvSpPr>
        <p:spPr>
          <a:xfrm>
            <a:off x="640080" y="1783080"/>
            <a:ext cx="3392424" cy="1691640"/>
          </a:xfrm>
          <a:prstGeom prst="roundRect">
            <a:avLst>
              <a:gd name="adj" fmla="val 432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5" name="Stage badge 1"/>
          <p:cNvSpPr/>
          <p:nvPr/>
        </p:nvSpPr>
        <p:spPr>
          <a:xfrm>
            <a:off x="960120" y="2057400"/>
            <a:ext cx="594360" cy="594360"/>
          </a:xfrm>
          <a:prstGeom prst="ellipse">
            <a:avLst/>
          </a:prstGeom>
          <a:solidFill>
            <a:srgbClr val="0A1B34"/>
          </a:solidFill>
          <a:ln/>
        </p:spPr>
      </p:sp>
      <p:sp>
        <p:nvSpPr>
          <p:cNvPr id="6" name="Stage badge 1 number"/>
          <p:cNvSpPr txBox="1"/>
          <p:nvPr/>
        </p:nvSpPr>
        <p:spPr>
          <a:xfrm>
            <a:off x="960120" y="20574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mj-lt" pitchFamily="34" charset="0"/>
                <a:ea typeface="+mj-lt" pitchFamily="34" charset="-122"/>
                <a:cs typeface="+mj-lt" pitchFamily="34" charset="-120"/>
              </a:rPr>
              <a:t>1</a:t>
            </a:r>
            <a:endParaRPr lang="en-US" sz="2000" dirty="0"/>
          </a:p>
        </p:txBody>
      </p:sp>
      <p:sp>
        <p:nvSpPr>
          <p:cNvPr id="7" name="Stage name 1"/>
          <p:cNvSpPr txBox="1"/>
          <p:nvPr/>
        </p:nvSpPr>
        <p:spPr>
          <a:xfrm>
            <a:off x="1737360" y="2057400"/>
            <a:ext cx="2020824" cy="59436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Requirements</a:t>
            </a:r>
            <a:endParaRPr lang="en-US" sz="2000" dirty="0"/>
          </a:p>
        </p:txBody>
      </p:sp>
      <p:sp>
        <p:nvSpPr>
          <p:cNvPr id="8" name="Stage detail 1"/>
          <p:cNvSpPr txBox="1"/>
          <p:nvPr/>
        </p:nvSpPr>
        <p:spPr>
          <a:xfrm>
            <a:off x="960120" y="2880360"/>
            <a:ext cx="2752344" cy="365760"/>
          </a:xfrm>
          <a:prstGeom prst="rect">
            <a:avLst/>
          </a:prstGeom>
          <a:noFill/>
          <a:ln/>
        </p:spPr>
        <p:txBody>
          <a:bodyPr wrap="square" lIns="0" tIns="0" rIns="0" bIns="0" rtlCol="0" anchor="ctr"/>
          <a:lstStyle/>
          <a:p>
            <a:pPr indent="0" marL="0">
              <a:buNone/>
            </a:pPr>
            <a:r>
              <a:rPr lang="en-US" sz="1700" dirty="0">
                <a:solidFill>
                  <a:srgbClr val="55657D"/>
                </a:solidFill>
              </a:rPr>
              <a:t>Brief → spec</a:t>
            </a:r>
            <a:endParaRPr lang="en-US" sz="1700" dirty="0"/>
          </a:p>
        </p:txBody>
      </p:sp>
      <p:sp>
        <p:nvSpPr>
          <p:cNvPr id="9" name="Stage 2"/>
          <p:cNvSpPr/>
          <p:nvPr/>
        </p:nvSpPr>
        <p:spPr>
          <a:xfrm>
            <a:off x="4398264" y="1783080"/>
            <a:ext cx="3392424" cy="1691640"/>
          </a:xfrm>
          <a:prstGeom prst="roundRect">
            <a:avLst>
              <a:gd name="adj" fmla="val 432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10" name="Stage badge 2"/>
          <p:cNvSpPr/>
          <p:nvPr/>
        </p:nvSpPr>
        <p:spPr>
          <a:xfrm>
            <a:off x="4718304" y="2057400"/>
            <a:ext cx="594360" cy="594360"/>
          </a:xfrm>
          <a:prstGeom prst="ellipse">
            <a:avLst/>
          </a:prstGeom>
          <a:solidFill>
            <a:srgbClr val="1F4E9C"/>
          </a:solidFill>
          <a:ln/>
        </p:spPr>
      </p:sp>
      <p:sp>
        <p:nvSpPr>
          <p:cNvPr id="11" name="Stage badge 2 number"/>
          <p:cNvSpPr txBox="1"/>
          <p:nvPr/>
        </p:nvSpPr>
        <p:spPr>
          <a:xfrm>
            <a:off x="4718304" y="20574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mj-lt" pitchFamily="34" charset="0"/>
                <a:ea typeface="+mj-lt" pitchFamily="34" charset="-122"/>
                <a:cs typeface="+mj-lt" pitchFamily="34" charset="-120"/>
              </a:rPr>
              <a:t>2</a:t>
            </a:r>
            <a:endParaRPr lang="en-US" sz="2000" dirty="0"/>
          </a:p>
        </p:txBody>
      </p:sp>
      <p:sp>
        <p:nvSpPr>
          <p:cNvPr id="12" name="Stage name 2"/>
          <p:cNvSpPr txBox="1"/>
          <p:nvPr/>
        </p:nvSpPr>
        <p:spPr>
          <a:xfrm>
            <a:off x="5495544" y="2057400"/>
            <a:ext cx="2020824" cy="59436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Design</a:t>
            </a:r>
            <a:endParaRPr lang="en-US" sz="2000" dirty="0"/>
          </a:p>
        </p:txBody>
      </p:sp>
      <p:sp>
        <p:nvSpPr>
          <p:cNvPr id="13" name="Stage detail 2"/>
          <p:cNvSpPr txBox="1"/>
          <p:nvPr/>
        </p:nvSpPr>
        <p:spPr>
          <a:xfrm>
            <a:off x="4718304" y="2880360"/>
            <a:ext cx="2752344" cy="365760"/>
          </a:xfrm>
          <a:prstGeom prst="rect">
            <a:avLst/>
          </a:prstGeom>
          <a:noFill/>
          <a:ln/>
        </p:spPr>
        <p:txBody>
          <a:bodyPr wrap="square" lIns="0" tIns="0" rIns="0" bIns="0" rtlCol="0" anchor="ctr"/>
          <a:lstStyle/>
          <a:p>
            <a:pPr indent="0" marL="0">
              <a:buNone/>
            </a:pPr>
            <a:r>
              <a:rPr lang="en-US" sz="1700" dirty="0">
                <a:solidFill>
                  <a:srgbClr val="55657D"/>
                </a:solidFill>
              </a:rPr>
              <a:t>Options → decision</a:t>
            </a:r>
            <a:endParaRPr lang="en-US" sz="1700" dirty="0"/>
          </a:p>
        </p:txBody>
      </p:sp>
      <p:sp>
        <p:nvSpPr>
          <p:cNvPr id="14" name="Stage 3"/>
          <p:cNvSpPr/>
          <p:nvPr/>
        </p:nvSpPr>
        <p:spPr>
          <a:xfrm>
            <a:off x="8156448" y="1783080"/>
            <a:ext cx="3392424" cy="1691640"/>
          </a:xfrm>
          <a:prstGeom prst="roundRect">
            <a:avLst>
              <a:gd name="adj" fmla="val 432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15" name="Stage badge 3"/>
          <p:cNvSpPr/>
          <p:nvPr/>
        </p:nvSpPr>
        <p:spPr>
          <a:xfrm>
            <a:off x="8476488" y="2057400"/>
            <a:ext cx="594360" cy="594360"/>
          </a:xfrm>
          <a:prstGeom prst="ellipse">
            <a:avLst/>
          </a:prstGeom>
          <a:solidFill>
            <a:srgbClr val="0A1B34"/>
          </a:solidFill>
          <a:ln/>
        </p:spPr>
      </p:sp>
      <p:sp>
        <p:nvSpPr>
          <p:cNvPr id="16" name="Stage badge 3 number"/>
          <p:cNvSpPr txBox="1"/>
          <p:nvPr/>
        </p:nvSpPr>
        <p:spPr>
          <a:xfrm>
            <a:off x="8476488" y="205740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mj-lt" pitchFamily="34" charset="0"/>
                <a:ea typeface="+mj-lt" pitchFamily="34" charset="-122"/>
                <a:cs typeface="+mj-lt" pitchFamily="34" charset="-120"/>
              </a:rPr>
              <a:t>3</a:t>
            </a:r>
            <a:endParaRPr lang="en-US" sz="2000" dirty="0"/>
          </a:p>
        </p:txBody>
      </p:sp>
      <p:sp>
        <p:nvSpPr>
          <p:cNvPr id="17" name="Stage name 3"/>
          <p:cNvSpPr txBox="1"/>
          <p:nvPr/>
        </p:nvSpPr>
        <p:spPr>
          <a:xfrm>
            <a:off x="9253728" y="2057400"/>
            <a:ext cx="2020824" cy="59436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Development</a:t>
            </a:r>
            <a:endParaRPr lang="en-US" sz="2000" dirty="0"/>
          </a:p>
        </p:txBody>
      </p:sp>
      <p:sp>
        <p:nvSpPr>
          <p:cNvPr id="18" name="Stage detail 3"/>
          <p:cNvSpPr txBox="1"/>
          <p:nvPr/>
        </p:nvSpPr>
        <p:spPr>
          <a:xfrm>
            <a:off x="8476488" y="2880360"/>
            <a:ext cx="2752344" cy="365760"/>
          </a:xfrm>
          <a:prstGeom prst="rect">
            <a:avLst/>
          </a:prstGeom>
          <a:noFill/>
          <a:ln/>
        </p:spPr>
        <p:txBody>
          <a:bodyPr wrap="square" lIns="0" tIns="0" rIns="0" bIns="0" rtlCol="0" anchor="ctr"/>
          <a:lstStyle/>
          <a:p>
            <a:pPr indent="0" marL="0">
              <a:buNone/>
            </a:pPr>
            <a:r>
              <a:rPr lang="en-US" sz="1700" dirty="0">
                <a:solidFill>
                  <a:srgbClr val="55657D"/>
                </a:solidFill>
              </a:rPr>
              <a:t>Contract → code</a:t>
            </a:r>
            <a:endParaRPr lang="en-US" sz="1700" dirty="0"/>
          </a:p>
        </p:txBody>
      </p:sp>
      <p:sp>
        <p:nvSpPr>
          <p:cNvPr id="19" name="Stage 4"/>
          <p:cNvSpPr/>
          <p:nvPr/>
        </p:nvSpPr>
        <p:spPr>
          <a:xfrm>
            <a:off x="640080" y="3749040"/>
            <a:ext cx="3392424" cy="1691640"/>
          </a:xfrm>
          <a:prstGeom prst="roundRect">
            <a:avLst>
              <a:gd name="adj" fmla="val 432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20" name="Stage badge 4"/>
          <p:cNvSpPr/>
          <p:nvPr/>
        </p:nvSpPr>
        <p:spPr>
          <a:xfrm>
            <a:off x="960120" y="4023360"/>
            <a:ext cx="594360" cy="594360"/>
          </a:xfrm>
          <a:prstGeom prst="ellipse">
            <a:avLst/>
          </a:prstGeom>
          <a:solidFill>
            <a:srgbClr val="1F4E9C"/>
          </a:solidFill>
          <a:ln/>
        </p:spPr>
      </p:sp>
      <p:sp>
        <p:nvSpPr>
          <p:cNvPr id="21" name="Stage badge 4 number"/>
          <p:cNvSpPr txBox="1"/>
          <p:nvPr/>
        </p:nvSpPr>
        <p:spPr>
          <a:xfrm>
            <a:off x="960120" y="40233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mj-lt" pitchFamily="34" charset="0"/>
                <a:ea typeface="+mj-lt" pitchFamily="34" charset="-122"/>
                <a:cs typeface="+mj-lt" pitchFamily="34" charset="-120"/>
              </a:rPr>
              <a:t>4</a:t>
            </a:r>
            <a:endParaRPr lang="en-US" sz="2000" dirty="0"/>
          </a:p>
        </p:txBody>
      </p:sp>
      <p:sp>
        <p:nvSpPr>
          <p:cNvPr id="22" name="Stage name 4"/>
          <p:cNvSpPr txBox="1"/>
          <p:nvPr/>
        </p:nvSpPr>
        <p:spPr>
          <a:xfrm>
            <a:off x="1737360" y="4023360"/>
            <a:ext cx="2020824" cy="59436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Testing</a:t>
            </a:r>
            <a:endParaRPr lang="en-US" sz="2000" dirty="0"/>
          </a:p>
        </p:txBody>
      </p:sp>
      <p:sp>
        <p:nvSpPr>
          <p:cNvPr id="23" name="Stage detail 4"/>
          <p:cNvSpPr txBox="1"/>
          <p:nvPr/>
        </p:nvSpPr>
        <p:spPr>
          <a:xfrm>
            <a:off x="960120" y="4846320"/>
            <a:ext cx="2752344" cy="365760"/>
          </a:xfrm>
          <a:prstGeom prst="rect">
            <a:avLst/>
          </a:prstGeom>
          <a:noFill/>
          <a:ln/>
        </p:spPr>
        <p:txBody>
          <a:bodyPr wrap="square" lIns="0" tIns="0" rIns="0" bIns="0" rtlCol="0" anchor="ctr"/>
          <a:lstStyle/>
          <a:p>
            <a:pPr indent="0" marL="0">
              <a:buNone/>
            </a:pPr>
            <a:r>
              <a:rPr lang="en-US" sz="1700" dirty="0">
                <a:solidFill>
                  <a:srgbClr val="55657D"/>
                </a:solidFill>
              </a:rPr>
              <a:t>Cases → metrics</a:t>
            </a:r>
            <a:endParaRPr lang="en-US" sz="1700" dirty="0"/>
          </a:p>
        </p:txBody>
      </p:sp>
      <p:sp>
        <p:nvSpPr>
          <p:cNvPr id="24" name="Stage 5"/>
          <p:cNvSpPr/>
          <p:nvPr/>
        </p:nvSpPr>
        <p:spPr>
          <a:xfrm>
            <a:off x="4398264" y="3749040"/>
            <a:ext cx="3392424" cy="1691640"/>
          </a:xfrm>
          <a:prstGeom prst="roundRect">
            <a:avLst>
              <a:gd name="adj" fmla="val 432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25" name="Stage badge 5"/>
          <p:cNvSpPr/>
          <p:nvPr/>
        </p:nvSpPr>
        <p:spPr>
          <a:xfrm>
            <a:off x="4718304" y="4023360"/>
            <a:ext cx="594360" cy="594360"/>
          </a:xfrm>
          <a:prstGeom prst="ellipse">
            <a:avLst/>
          </a:prstGeom>
          <a:solidFill>
            <a:srgbClr val="0A1B34"/>
          </a:solidFill>
          <a:ln/>
        </p:spPr>
      </p:sp>
      <p:sp>
        <p:nvSpPr>
          <p:cNvPr id="26" name="Stage badge 5 number"/>
          <p:cNvSpPr txBox="1"/>
          <p:nvPr/>
        </p:nvSpPr>
        <p:spPr>
          <a:xfrm>
            <a:off x="4718304" y="40233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mj-lt" pitchFamily="34" charset="0"/>
                <a:ea typeface="+mj-lt" pitchFamily="34" charset="-122"/>
                <a:cs typeface="+mj-lt" pitchFamily="34" charset="-120"/>
              </a:rPr>
              <a:t>5</a:t>
            </a:r>
            <a:endParaRPr lang="en-US" sz="2000" dirty="0"/>
          </a:p>
        </p:txBody>
      </p:sp>
      <p:sp>
        <p:nvSpPr>
          <p:cNvPr id="27" name="Stage name 5"/>
          <p:cNvSpPr txBox="1"/>
          <p:nvPr/>
        </p:nvSpPr>
        <p:spPr>
          <a:xfrm>
            <a:off x="5495544" y="4023360"/>
            <a:ext cx="2020824" cy="59436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Deployment</a:t>
            </a:r>
            <a:endParaRPr lang="en-US" sz="2000" dirty="0"/>
          </a:p>
        </p:txBody>
      </p:sp>
      <p:sp>
        <p:nvSpPr>
          <p:cNvPr id="28" name="Stage detail 5"/>
          <p:cNvSpPr txBox="1"/>
          <p:nvPr/>
        </p:nvSpPr>
        <p:spPr>
          <a:xfrm>
            <a:off x="4718304" y="4846320"/>
            <a:ext cx="2752344" cy="365760"/>
          </a:xfrm>
          <a:prstGeom prst="rect">
            <a:avLst/>
          </a:prstGeom>
          <a:noFill/>
          <a:ln/>
        </p:spPr>
        <p:txBody>
          <a:bodyPr wrap="square" lIns="0" tIns="0" rIns="0" bIns="0" rtlCol="0" anchor="ctr"/>
          <a:lstStyle/>
          <a:p>
            <a:pPr indent="0" marL="0">
              <a:buNone/>
            </a:pPr>
            <a:r>
              <a:rPr lang="en-US" sz="1700" dirty="0">
                <a:solidFill>
                  <a:srgbClr val="55657D"/>
                </a:solidFill>
              </a:rPr>
              <a:t>Image → runbook</a:t>
            </a:r>
            <a:endParaRPr lang="en-US" sz="1700" dirty="0"/>
          </a:p>
        </p:txBody>
      </p:sp>
      <p:sp>
        <p:nvSpPr>
          <p:cNvPr id="29" name="Stage 6"/>
          <p:cNvSpPr/>
          <p:nvPr/>
        </p:nvSpPr>
        <p:spPr>
          <a:xfrm>
            <a:off x="8156448" y="3749040"/>
            <a:ext cx="3392424" cy="1691640"/>
          </a:xfrm>
          <a:prstGeom prst="roundRect">
            <a:avLst>
              <a:gd name="adj" fmla="val 4324"/>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30" name="Stage badge 6"/>
          <p:cNvSpPr/>
          <p:nvPr/>
        </p:nvSpPr>
        <p:spPr>
          <a:xfrm>
            <a:off x="8476488" y="4023360"/>
            <a:ext cx="594360" cy="594360"/>
          </a:xfrm>
          <a:prstGeom prst="ellipse">
            <a:avLst/>
          </a:prstGeom>
          <a:solidFill>
            <a:srgbClr val="1F4E9C"/>
          </a:solidFill>
          <a:ln/>
        </p:spPr>
      </p:sp>
      <p:sp>
        <p:nvSpPr>
          <p:cNvPr id="31" name="Stage badge 6 number"/>
          <p:cNvSpPr txBox="1"/>
          <p:nvPr/>
        </p:nvSpPr>
        <p:spPr>
          <a:xfrm>
            <a:off x="8476488" y="4023360"/>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mj-lt" pitchFamily="34" charset="0"/>
                <a:ea typeface="+mj-lt" pitchFamily="34" charset="-122"/>
                <a:cs typeface="+mj-lt" pitchFamily="34" charset="-120"/>
              </a:rPr>
              <a:t>6</a:t>
            </a:r>
            <a:endParaRPr lang="en-US" sz="2000" dirty="0"/>
          </a:p>
        </p:txBody>
      </p:sp>
      <p:sp>
        <p:nvSpPr>
          <p:cNvPr id="32" name="Stage name 6"/>
          <p:cNvSpPr txBox="1"/>
          <p:nvPr/>
        </p:nvSpPr>
        <p:spPr>
          <a:xfrm>
            <a:off x="9253728" y="4023360"/>
            <a:ext cx="2020824" cy="594360"/>
          </a:xfrm>
          <a:prstGeom prst="rect">
            <a:avLst/>
          </a:prstGeom>
          <a:noFill/>
          <a:ln/>
        </p:spPr>
        <p:txBody>
          <a:bodyPr wrap="square" lIns="0" tIns="0" rIns="0" bIns="0" rtlCol="0" anchor="ctr"/>
          <a:lstStyle/>
          <a:p>
            <a:pPr indent="0" marL="0">
              <a:buNone/>
            </a:pPr>
            <a:r>
              <a:rPr lang="en-US" sz="2000" b="1" dirty="0">
                <a:solidFill>
                  <a:srgbClr val="0A1B34"/>
                </a:solidFill>
                <a:latin typeface="+mj-lt" pitchFamily="34" charset="0"/>
                <a:ea typeface="+mj-lt" pitchFamily="34" charset="-122"/>
                <a:cs typeface="+mj-lt" pitchFamily="34" charset="-120"/>
              </a:rPr>
              <a:t>Operations</a:t>
            </a:r>
            <a:endParaRPr lang="en-US" sz="2000" dirty="0"/>
          </a:p>
        </p:txBody>
      </p:sp>
      <p:sp>
        <p:nvSpPr>
          <p:cNvPr id="33" name="Stage detail 6"/>
          <p:cNvSpPr txBox="1"/>
          <p:nvPr/>
        </p:nvSpPr>
        <p:spPr>
          <a:xfrm>
            <a:off x="8476488" y="4846320"/>
            <a:ext cx="2752344" cy="365760"/>
          </a:xfrm>
          <a:prstGeom prst="rect">
            <a:avLst/>
          </a:prstGeom>
          <a:noFill/>
          <a:ln/>
        </p:spPr>
        <p:txBody>
          <a:bodyPr wrap="square" lIns="0" tIns="0" rIns="0" bIns="0" rtlCol="0" anchor="ctr"/>
          <a:lstStyle/>
          <a:p>
            <a:pPr indent="0" marL="0">
              <a:buNone/>
            </a:pPr>
            <a:r>
              <a:rPr lang="en-US" sz="1700" dirty="0">
                <a:solidFill>
                  <a:srgbClr val="55657D"/>
                </a:solidFill>
              </a:rPr>
              <a:t>Telemetry → feedback</a:t>
            </a:r>
            <a:endParaRPr lang="en-US" sz="1700" dirty="0"/>
          </a:p>
        </p:txBody>
      </p:sp>
      <p:sp>
        <p:nvSpPr>
          <p:cNvPr id="34" name="Statement banner"/>
          <p:cNvSpPr/>
          <p:nvPr/>
        </p:nvSpPr>
        <p:spPr>
          <a:xfrm>
            <a:off x="640080" y="5715000"/>
            <a:ext cx="10908792" cy="594360"/>
          </a:xfrm>
          <a:prstGeom prst="roundRect">
            <a:avLst>
              <a:gd name="adj" fmla="val 12308"/>
            </a:avLst>
          </a:prstGeom>
          <a:solidFill>
            <a:srgbClr val="0A1B34"/>
          </a:solidFill>
          <a:ln/>
        </p:spPr>
      </p:sp>
      <p:sp>
        <p:nvSpPr>
          <p:cNvPr id="35" name="Statement"/>
          <p:cNvSpPr txBox="1"/>
          <p:nvPr/>
        </p:nvSpPr>
        <p:spPr>
          <a:xfrm>
            <a:off x="960120" y="5715000"/>
            <a:ext cx="10268712" cy="594360"/>
          </a:xfrm>
          <a:prstGeom prst="rect">
            <a:avLst/>
          </a:prstGeom>
          <a:noFill/>
          <a:ln/>
        </p:spPr>
        <p:txBody>
          <a:bodyPr wrap="square" lIns="0" tIns="0" rIns="0" bIns="0" rtlCol="0" anchor="ctr"/>
          <a:lstStyle/>
          <a:p>
            <a:pPr indent="0" marL="0">
              <a:buNone/>
            </a:pPr>
            <a:r>
              <a:rPr lang="en-US" sz="1800" b="1" dirty="0">
                <a:solidFill>
                  <a:srgbClr val="FFFFFF"/>
                </a:solidFill>
              </a:rPr>
              <a:t>Each stage has an AI instruction, a human gate, and a repository artifact.</a:t>
            </a:r>
            <a:endParaRPr lang="en-US" sz="18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HUMAN-IN-THE-LOOP</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The system prepares; people decide</a:t>
            </a:r>
            <a:endParaRPr lang="en-US" sz="3000" dirty="0"/>
          </a:p>
        </p:txBody>
      </p:sp>
      <p:sp>
        <p:nvSpPr>
          <p:cNvPr id="4" name="Flow Owner draft"/>
          <p:cNvSpPr/>
          <p:nvPr/>
        </p:nvSpPr>
        <p:spPr>
          <a:xfrm>
            <a:off x="640080" y="1783080"/>
            <a:ext cx="1828800" cy="685800"/>
          </a:xfrm>
          <a:prstGeom prst="roundRect">
            <a:avLst>
              <a:gd name="adj" fmla="val 10667"/>
            </a:avLst>
          </a:prstGeom>
          <a:solidFill>
            <a:srgbClr val="9CC3F2"/>
          </a:solidFill>
          <a:ln/>
          <a:effectLst>
            <a:outerShdw sx="100000" sy="100000" kx="0" ky="0" algn="bl" rotWithShape="0" blurRad="177800" dist="38100" dir="5400000">
              <a:srgbClr val="0A1B34">
                <a:alpha val="12000"/>
              </a:srgbClr>
            </a:outerShdw>
          </a:effectLst>
        </p:spPr>
      </p:sp>
      <p:sp>
        <p:nvSpPr>
          <p:cNvPr id="5" name="Flow Owner draft text"/>
          <p:cNvSpPr txBox="1"/>
          <p:nvPr/>
        </p:nvSpPr>
        <p:spPr>
          <a:xfrm>
            <a:off x="640080" y="1783080"/>
            <a:ext cx="1828800" cy="685800"/>
          </a:xfrm>
          <a:prstGeom prst="rect">
            <a:avLst/>
          </a:prstGeom>
          <a:noFill/>
          <a:ln/>
        </p:spPr>
        <p:txBody>
          <a:bodyPr wrap="square" lIns="0" tIns="0" rIns="0" bIns="0" rtlCol="0" anchor="ctr"/>
          <a:lstStyle/>
          <a:p>
            <a:pPr algn="ctr" indent="0" marL="0">
              <a:buNone/>
            </a:pPr>
            <a:r>
              <a:rPr lang="en-US" sz="1700" b="1" dirty="0">
                <a:solidFill>
                  <a:srgbClr val="0A1B34"/>
                </a:solidFill>
              </a:rPr>
              <a:t>Owner draft</a:t>
            </a:r>
            <a:endParaRPr lang="en-US" sz="1700" dirty="0"/>
          </a:p>
        </p:txBody>
      </p:sp>
      <p:sp>
        <p:nvSpPr>
          <p:cNvPr id="6" name="Flow arrow 1"/>
          <p:cNvSpPr txBox="1"/>
          <p:nvPr/>
        </p:nvSpPr>
        <p:spPr>
          <a:xfrm>
            <a:off x="2468880" y="1783080"/>
            <a:ext cx="441198" cy="68580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7" name="Flow Analyst review"/>
          <p:cNvSpPr/>
          <p:nvPr/>
        </p:nvSpPr>
        <p:spPr>
          <a:xfrm>
            <a:off x="2910078" y="1783080"/>
            <a:ext cx="1828800" cy="685800"/>
          </a:xfrm>
          <a:prstGeom prst="roundRect">
            <a:avLst>
              <a:gd name="adj" fmla="val 10667"/>
            </a:avLst>
          </a:prstGeom>
          <a:solidFill>
            <a:srgbClr val="4A86D8"/>
          </a:solidFill>
          <a:ln/>
          <a:effectLst>
            <a:outerShdw sx="100000" sy="100000" kx="0" ky="0" algn="bl" rotWithShape="0" blurRad="177800" dist="38100" dir="5400000">
              <a:srgbClr val="0A1B34">
                <a:alpha val="12000"/>
              </a:srgbClr>
            </a:outerShdw>
          </a:effectLst>
        </p:spPr>
      </p:sp>
      <p:sp>
        <p:nvSpPr>
          <p:cNvPr id="8" name="Flow Analyst review text"/>
          <p:cNvSpPr txBox="1"/>
          <p:nvPr/>
        </p:nvSpPr>
        <p:spPr>
          <a:xfrm>
            <a:off x="2910078" y="1783080"/>
            <a:ext cx="1828800" cy="685800"/>
          </a:xfrm>
          <a:prstGeom prst="rect">
            <a:avLst/>
          </a:prstGeom>
          <a:noFill/>
          <a:ln/>
        </p:spPr>
        <p:txBody>
          <a:bodyPr wrap="square" lIns="0" tIns="0" rIns="0" bIns="0" rtlCol="0" anchor="ctr"/>
          <a:lstStyle/>
          <a:p>
            <a:pPr algn="ctr" indent="0" marL="0">
              <a:buNone/>
            </a:pPr>
            <a:r>
              <a:rPr lang="en-US" sz="1700" b="1" dirty="0">
                <a:solidFill>
                  <a:srgbClr val="FFFFFF"/>
                </a:solidFill>
              </a:rPr>
              <a:t>Analyst review</a:t>
            </a:r>
            <a:endParaRPr lang="en-US" sz="1700" dirty="0"/>
          </a:p>
        </p:txBody>
      </p:sp>
      <p:sp>
        <p:nvSpPr>
          <p:cNvPr id="9" name="Flow arrow 2"/>
          <p:cNvSpPr txBox="1"/>
          <p:nvPr/>
        </p:nvSpPr>
        <p:spPr>
          <a:xfrm>
            <a:off x="4738878" y="1783080"/>
            <a:ext cx="441198" cy="68580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0" name="Flow Committee"/>
          <p:cNvSpPr/>
          <p:nvPr/>
        </p:nvSpPr>
        <p:spPr>
          <a:xfrm>
            <a:off x="5180076" y="1783080"/>
            <a:ext cx="1828800" cy="685800"/>
          </a:xfrm>
          <a:prstGeom prst="roundRect">
            <a:avLst>
              <a:gd name="adj" fmla="val 10667"/>
            </a:avLst>
          </a:prstGeom>
          <a:solidFill>
            <a:srgbClr val="1F4E9C"/>
          </a:solidFill>
          <a:ln/>
          <a:effectLst>
            <a:outerShdw sx="100000" sy="100000" kx="0" ky="0" algn="bl" rotWithShape="0" blurRad="177800" dist="38100" dir="5400000">
              <a:srgbClr val="0A1B34">
                <a:alpha val="12000"/>
              </a:srgbClr>
            </a:outerShdw>
          </a:effectLst>
        </p:spPr>
      </p:sp>
      <p:sp>
        <p:nvSpPr>
          <p:cNvPr id="11" name="Flow Committee text"/>
          <p:cNvSpPr txBox="1"/>
          <p:nvPr/>
        </p:nvSpPr>
        <p:spPr>
          <a:xfrm>
            <a:off x="5180076" y="1783080"/>
            <a:ext cx="1828800" cy="685800"/>
          </a:xfrm>
          <a:prstGeom prst="rect">
            <a:avLst/>
          </a:prstGeom>
          <a:noFill/>
          <a:ln/>
        </p:spPr>
        <p:txBody>
          <a:bodyPr wrap="square" lIns="0" tIns="0" rIns="0" bIns="0" rtlCol="0" anchor="ctr"/>
          <a:lstStyle/>
          <a:p>
            <a:pPr algn="ctr" indent="0" marL="0">
              <a:buNone/>
            </a:pPr>
            <a:r>
              <a:rPr lang="en-US" sz="1700" b="1" dirty="0">
                <a:solidFill>
                  <a:srgbClr val="FFFFFF"/>
                </a:solidFill>
              </a:rPr>
              <a:t>Committee</a:t>
            </a:r>
            <a:endParaRPr lang="en-US" sz="1700" dirty="0"/>
          </a:p>
        </p:txBody>
      </p:sp>
      <p:sp>
        <p:nvSpPr>
          <p:cNvPr id="12" name="Flow arrow 3"/>
          <p:cNvSpPr txBox="1"/>
          <p:nvPr/>
        </p:nvSpPr>
        <p:spPr>
          <a:xfrm>
            <a:off x="7008876" y="1783080"/>
            <a:ext cx="441198" cy="68580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3" name="Flow Decision"/>
          <p:cNvSpPr/>
          <p:nvPr/>
        </p:nvSpPr>
        <p:spPr>
          <a:xfrm>
            <a:off x="7450074" y="1783080"/>
            <a:ext cx="1828800" cy="685800"/>
          </a:xfrm>
          <a:prstGeom prst="roundRect">
            <a:avLst>
              <a:gd name="adj" fmla="val 10667"/>
            </a:avLst>
          </a:prstGeom>
          <a:solidFill>
            <a:srgbClr val="163A7A"/>
          </a:solidFill>
          <a:ln/>
          <a:effectLst>
            <a:outerShdw sx="100000" sy="100000" kx="0" ky="0" algn="bl" rotWithShape="0" blurRad="177800" dist="38100" dir="5400000">
              <a:srgbClr val="0A1B34">
                <a:alpha val="12000"/>
              </a:srgbClr>
            </a:outerShdw>
          </a:effectLst>
        </p:spPr>
      </p:sp>
      <p:sp>
        <p:nvSpPr>
          <p:cNvPr id="14" name="Flow Decision text"/>
          <p:cNvSpPr txBox="1"/>
          <p:nvPr/>
        </p:nvSpPr>
        <p:spPr>
          <a:xfrm>
            <a:off x="7450074" y="1783080"/>
            <a:ext cx="1828800" cy="685800"/>
          </a:xfrm>
          <a:prstGeom prst="rect">
            <a:avLst/>
          </a:prstGeom>
          <a:noFill/>
          <a:ln/>
        </p:spPr>
        <p:txBody>
          <a:bodyPr wrap="square" lIns="0" tIns="0" rIns="0" bIns="0" rtlCol="0" anchor="ctr"/>
          <a:lstStyle/>
          <a:p>
            <a:pPr algn="ctr" indent="0" marL="0">
              <a:buNone/>
            </a:pPr>
            <a:r>
              <a:rPr lang="en-US" sz="1700" b="1" dirty="0">
                <a:solidFill>
                  <a:srgbClr val="FFFFFF"/>
                </a:solidFill>
              </a:rPr>
              <a:t>Decision</a:t>
            </a:r>
            <a:endParaRPr lang="en-US" sz="1700" dirty="0"/>
          </a:p>
        </p:txBody>
      </p:sp>
      <p:sp>
        <p:nvSpPr>
          <p:cNvPr id="15" name="Flow arrow 4"/>
          <p:cNvSpPr txBox="1"/>
          <p:nvPr/>
        </p:nvSpPr>
        <p:spPr>
          <a:xfrm>
            <a:off x="9278874" y="1783080"/>
            <a:ext cx="441198" cy="685800"/>
          </a:xfrm>
          <a:prstGeom prst="rect">
            <a:avLst/>
          </a:prstGeom>
          <a:noFill/>
          <a:ln/>
        </p:spPr>
        <p:txBody>
          <a:bodyPr wrap="square" lIns="0" tIns="0" rIns="0" bIns="0" rtlCol="0" anchor="ctr"/>
          <a:lstStyle/>
          <a:p>
            <a:pPr algn="ctr" indent="0" marL="0">
              <a:buNone/>
            </a:pPr>
            <a:r>
              <a:rPr lang="en-US" sz="2200" dirty="0">
                <a:solidFill>
                  <a:srgbClr val="8A6A1F"/>
                </a:solidFill>
              </a:rPr>
              <a:t>→</a:t>
            </a:r>
            <a:endParaRPr lang="en-US" sz="2200" dirty="0"/>
          </a:p>
        </p:txBody>
      </p:sp>
      <p:sp>
        <p:nvSpPr>
          <p:cNvPr id="16" name="Flow Close"/>
          <p:cNvSpPr/>
          <p:nvPr/>
        </p:nvSpPr>
        <p:spPr>
          <a:xfrm>
            <a:off x="9720072" y="1783080"/>
            <a:ext cx="1828800" cy="685800"/>
          </a:xfrm>
          <a:prstGeom prst="roundRect">
            <a:avLst>
              <a:gd name="adj" fmla="val 10667"/>
            </a:avLst>
          </a:prstGeom>
          <a:solidFill>
            <a:srgbClr val="0A1B34"/>
          </a:solidFill>
          <a:ln/>
          <a:effectLst>
            <a:outerShdw sx="100000" sy="100000" kx="0" ky="0" algn="bl" rotWithShape="0" blurRad="177800" dist="38100" dir="5400000">
              <a:srgbClr val="0A1B34">
                <a:alpha val="12000"/>
              </a:srgbClr>
            </a:outerShdw>
          </a:effectLst>
        </p:spPr>
      </p:sp>
      <p:sp>
        <p:nvSpPr>
          <p:cNvPr id="17" name="Flow Close text"/>
          <p:cNvSpPr txBox="1"/>
          <p:nvPr/>
        </p:nvSpPr>
        <p:spPr>
          <a:xfrm>
            <a:off x="9720072" y="1783080"/>
            <a:ext cx="1828800" cy="685800"/>
          </a:xfrm>
          <a:prstGeom prst="rect">
            <a:avLst/>
          </a:prstGeom>
          <a:noFill/>
          <a:ln/>
        </p:spPr>
        <p:txBody>
          <a:bodyPr wrap="square" lIns="0" tIns="0" rIns="0" bIns="0" rtlCol="0" anchor="ctr"/>
          <a:lstStyle/>
          <a:p>
            <a:pPr algn="ctr" indent="0" marL="0">
              <a:buNone/>
            </a:pPr>
            <a:r>
              <a:rPr lang="en-US" sz="1700" b="1" dirty="0">
                <a:solidFill>
                  <a:srgbClr val="FFFFFF"/>
                </a:solidFill>
              </a:rPr>
              <a:t>Close</a:t>
            </a:r>
            <a:endParaRPr lang="en-US" sz="1700" dirty="0"/>
          </a:p>
        </p:txBody>
      </p:sp>
      <p:sp>
        <p:nvSpPr>
          <p:cNvPr id="18" name="Column 1"/>
          <p:cNvSpPr/>
          <p:nvPr/>
        </p:nvSpPr>
        <p:spPr>
          <a:xfrm>
            <a:off x="640080" y="2788920"/>
            <a:ext cx="3392424" cy="2926080"/>
          </a:xfrm>
          <a:prstGeom prst="roundRect">
            <a:avLst>
              <a:gd name="adj" fmla="val 2500"/>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19" name="Badge 1"/>
          <p:cNvSpPr/>
          <p:nvPr/>
        </p:nvSpPr>
        <p:spPr>
          <a:xfrm>
            <a:off x="914400" y="3044952"/>
            <a:ext cx="502920" cy="502920"/>
          </a:xfrm>
          <a:prstGeom prst="ellipse">
            <a:avLst/>
          </a:prstGeom>
          <a:solidFill>
            <a:srgbClr val="0A1B34"/>
          </a:solidFill>
          <a:ln/>
        </p:spPr>
      </p:sp>
      <p:sp>
        <p:nvSpPr>
          <p:cNvPr id="20" name="Badge 1 number"/>
          <p:cNvSpPr txBox="1"/>
          <p:nvPr/>
        </p:nvSpPr>
        <p:spPr>
          <a:xfrm>
            <a:off x="914400" y="30449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mj-lt" pitchFamily="34" charset="0"/>
                <a:ea typeface="+mj-lt" pitchFamily="34" charset="-122"/>
                <a:cs typeface="+mj-lt" pitchFamily="34" charset="-120"/>
              </a:rPr>
              <a:t>1</a:t>
            </a:r>
            <a:endParaRPr lang="en-US" sz="1700" dirty="0"/>
          </a:p>
        </p:txBody>
      </p:sp>
      <p:sp>
        <p:nvSpPr>
          <p:cNvPr id="21" name="Heading 1"/>
          <p:cNvSpPr txBox="1"/>
          <p:nvPr/>
        </p:nvSpPr>
        <p:spPr>
          <a:xfrm>
            <a:off x="1600200" y="3044952"/>
            <a:ext cx="2203704" cy="502920"/>
          </a:xfrm>
          <a:prstGeom prst="rect">
            <a:avLst/>
          </a:prstGeom>
          <a:noFill/>
          <a:ln/>
        </p:spPr>
        <p:txBody>
          <a:bodyPr wrap="square" lIns="0" tIns="0" rIns="0" bIns="0" rtlCol="0" anchor="ctr"/>
          <a:lstStyle/>
          <a:p>
            <a:pPr indent="0" marL="0">
              <a:buNone/>
            </a:pPr>
            <a:r>
              <a:rPr lang="en-US" sz="1800" b="1" dirty="0">
                <a:solidFill>
                  <a:srgbClr val="0A1B34"/>
                </a:solidFill>
                <a:latin typeface="+mj-lt" pitchFamily="34" charset="0"/>
                <a:ea typeface="+mj-lt" pitchFamily="34" charset="-122"/>
                <a:cs typeface="+mj-lt" pitchFamily="34" charset="-120"/>
              </a:rPr>
              <a:t>Analyst gate</a:t>
            </a:r>
            <a:endParaRPr lang="en-US" sz="1800" dirty="0"/>
          </a:p>
        </p:txBody>
      </p:sp>
      <p:sp>
        <p:nvSpPr>
          <p:cNvPr id="22" name="List 1"/>
          <p:cNvSpPr txBox="1"/>
          <p:nvPr/>
        </p:nvSpPr>
        <p:spPr>
          <a:xfrm>
            <a:off x="914400" y="3794760"/>
            <a:ext cx="2843784" cy="173736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17253D"/>
                </a:solidFill>
              </a:rPr>
              <a:t>Every risk level reviewed</a:t>
            </a:r>
            <a:endParaRPr lang="en-US" sz="1500" dirty="0"/>
          </a:p>
          <a:p>
            <a:pPr marL="203200" indent="-203200">
              <a:spcAft>
                <a:spcPts val="1000"/>
              </a:spcAft>
              <a:buSzPct val="100000"/>
              <a:buChar char="•"/>
            </a:pPr>
            <a:r>
              <a:rPr lang="en-US" sz="1500" dirty="0">
                <a:solidFill>
                  <a:srgbClr val="17253D"/>
                </a:solidFill>
              </a:rPr>
              <a:t>Edit/rescore with source citations</a:t>
            </a:r>
            <a:endParaRPr lang="en-US" sz="1500" dirty="0"/>
          </a:p>
          <a:p>
            <a:pPr marL="203200" indent="-203200">
              <a:spcAft>
                <a:spcPts val="1000"/>
              </a:spcAft>
              <a:buSzPct val="100000"/>
              <a:buChar char="•"/>
            </a:pPr>
            <a:r>
              <a:rPr lang="en-US" sz="1500" dirty="0">
                <a:solidFill>
                  <a:srgbClr val="17253D"/>
                </a:solidFill>
              </a:rPr>
              <a:t>Finalize with rationale</a:t>
            </a:r>
            <a:endParaRPr lang="en-US" sz="1500" dirty="0"/>
          </a:p>
        </p:txBody>
      </p:sp>
      <p:sp>
        <p:nvSpPr>
          <p:cNvPr id="23" name="Column 2"/>
          <p:cNvSpPr/>
          <p:nvPr/>
        </p:nvSpPr>
        <p:spPr>
          <a:xfrm>
            <a:off x="4398264" y="2788920"/>
            <a:ext cx="3392424" cy="2926080"/>
          </a:xfrm>
          <a:prstGeom prst="roundRect">
            <a:avLst>
              <a:gd name="adj" fmla="val 2500"/>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24" name="Badge 2"/>
          <p:cNvSpPr/>
          <p:nvPr/>
        </p:nvSpPr>
        <p:spPr>
          <a:xfrm>
            <a:off x="4672584" y="3044952"/>
            <a:ext cx="502920" cy="502920"/>
          </a:xfrm>
          <a:prstGeom prst="ellipse">
            <a:avLst/>
          </a:prstGeom>
          <a:solidFill>
            <a:srgbClr val="0A1B34"/>
          </a:solidFill>
          <a:ln/>
        </p:spPr>
      </p:sp>
      <p:sp>
        <p:nvSpPr>
          <p:cNvPr id="25" name="Badge 2 number"/>
          <p:cNvSpPr txBox="1"/>
          <p:nvPr/>
        </p:nvSpPr>
        <p:spPr>
          <a:xfrm>
            <a:off x="4672584" y="30449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mj-lt" pitchFamily="34" charset="0"/>
                <a:ea typeface="+mj-lt" pitchFamily="34" charset="-122"/>
                <a:cs typeface="+mj-lt" pitchFamily="34" charset="-120"/>
              </a:rPr>
              <a:t>2</a:t>
            </a:r>
            <a:endParaRPr lang="en-US" sz="1700" dirty="0"/>
          </a:p>
        </p:txBody>
      </p:sp>
      <p:sp>
        <p:nvSpPr>
          <p:cNvPr id="26" name="Heading 2"/>
          <p:cNvSpPr txBox="1"/>
          <p:nvPr/>
        </p:nvSpPr>
        <p:spPr>
          <a:xfrm>
            <a:off x="5358384" y="3044952"/>
            <a:ext cx="2203704" cy="502920"/>
          </a:xfrm>
          <a:prstGeom prst="rect">
            <a:avLst/>
          </a:prstGeom>
          <a:noFill/>
          <a:ln/>
        </p:spPr>
        <p:txBody>
          <a:bodyPr wrap="square" lIns="0" tIns="0" rIns="0" bIns="0" rtlCol="0" anchor="ctr"/>
          <a:lstStyle/>
          <a:p>
            <a:pPr indent="0" marL="0">
              <a:buNone/>
            </a:pPr>
            <a:r>
              <a:rPr lang="en-US" sz="1800" b="1" dirty="0">
                <a:solidFill>
                  <a:srgbClr val="0A1B34"/>
                </a:solidFill>
                <a:latin typeface="+mj-lt" pitchFamily="34" charset="0"/>
                <a:ea typeface="+mj-lt" pitchFamily="34" charset="-122"/>
                <a:cs typeface="+mj-lt" pitchFamily="34" charset="-120"/>
              </a:rPr>
              <a:t>Committee + lifecycle</a:t>
            </a:r>
            <a:endParaRPr lang="en-US" sz="1800" dirty="0"/>
          </a:p>
        </p:txBody>
      </p:sp>
      <p:sp>
        <p:nvSpPr>
          <p:cNvPr id="27" name="List 2"/>
          <p:cNvSpPr txBox="1"/>
          <p:nvPr/>
        </p:nvSpPr>
        <p:spPr>
          <a:xfrm>
            <a:off x="4672584" y="3794760"/>
            <a:ext cx="2843784" cy="173736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17253D"/>
                </a:solidFill>
              </a:rPr>
              <a:t>Three distinct votes; 2-vote majority</a:t>
            </a:r>
            <a:endParaRPr lang="en-US" sz="1500" dirty="0"/>
          </a:p>
          <a:p>
            <a:pPr marL="203200" indent="-203200">
              <a:spcAft>
                <a:spcPts val="1000"/>
              </a:spcAft>
              <a:buSzPct val="100000"/>
              <a:buChar char="•"/>
            </a:pPr>
            <a:r>
              <a:rPr lang="en-US" sz="1500" dirty="0">
                <a:solidFill>
                  <a:srgbClr val="17253D"/>
                </a:solidFill>
              </a:rPr>
              <a:t>Information requests resume prior stage</a:t>
            </a:r>
            <a:endParaRPr lang="en-US" sz="1500" dirty="0"/>
          </a:p>
          <a:p>
            <a:pPr marL="203200" indent="-203200">
              <a:spcAft>
                <a:spcPts val="1000"/>
              </a:spcAft>
              <a:buSzPct val="100000"/>
              <a:buChar char="•"/>
            </a:pPr>
            <a:r>
              <a:rPr lang="en-US" sz="1500" dirty="0">
                <a:solidFill>
                  <a:srgbClr val="17253D"/>
                </a:solidFill>
              </a:rPr>
              <a:t>Conditions block closure; reassessments link</a:t>
            </a:r>
            <a:endParaRPr lang="en-US" sz="1500" dirty="0"/>
          </a:p>
        </p:txBody>
      </p:sp>
      <p:sp>
        <p:nvSpPr>
          <p:cNvPr id="28" name="Column 3"/>
          <p:cNvSpPr/>
          <p:nvPr/>
        </p:nvSpPr>
        <p:spPr>
          <a:xfrm>
            <a:off x="8156448" y="2788920"/>
            <a:ext cx="3392424" cy="2926080"/>
          </a:xfrm>
          <a:prstGeom prst="roundRect">
            <a:avLst>
              <a:gd name="adj" fmla="val 2500"/>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sp>
        <p:nvSpPr>
          <p:cNvPr id="29" name="Badge 3"/>
          <p:cNvSpPr/>
          <p:nvPr/>
        </p:nvSpPr>
        <p:spPr>
          <a:xfrm>
            <a:off x="8430768" y="3044952"/>
            <a:ext cx="502920" cy="502920"/>
          </a:xfrm>
          <a:prstGeom prst="ellipse">
            <a:avLst/>
          </a:prstGeom>
          <a:solidFill>
            <a:srgbClr val="0A1B34"/>
          </a:solidFill>
          <a:ln/>
        </p:spPr>
      </p:sp>
      <p:sp>
        <p:nvSpPr>
          <p:cNvPr id="30" name="Badge 3 number"/>
          <p:cNvSpPr txBox="1"/>
          <p:nvPr/>
        </p:nvSpPr>
        <p:spPr>
          <a:xfrm>
            <a:off x="8430768" y="3044952"/>
            <a:ext cx="5029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mj-lt" pitchFamily="34" charset="0"/>
                <a:ea typeface="+mj-lt" pitchFamily="34" charset="-122"/>
                <a:cs typeface="+mj-lt" pitchFamily="34" charset="-120"/>
              </a:rPr>
              <a:t>3</a:t>
            </a:r>
            <a:endParaRPr lang="en-US" sz="1700" dirty="0"/>
          </a:p>
        </p:txBody>
      </p:sp>
      <p:sp>
        <p:nvSpPr>
          <p:cNvPr id="31" name="Heading 3"/>
          <p:cNvSpPr txBox="1"/>
          <p:nvPr/>
        </p:nvSpPr>
        <p:spPr>
          <a:xfrm>
            <a:off x="9116568" y="3044952"/>
            <a:ext cx="2203704" cy="502920"/>
          </a:xfrm>
          <a:prstGeom prst="rect">
            <a:avLst/>
          </a:prstGeom>
          <a:noFill/>
          <a:ln/>
        </p:spPr>
        <p:txBody>
          <a:bodyPr wrap="square" lIns="0" tIns="0" rIns="0" bIns="0" rtlCol="0" anchor="ctr"/>
          <a:lstStyle/>
          <a:p>
            <a:pPr indent="0" marL="0">
              <a:buNone/>
            </a:pPr>
            <a:r>
              <a:rPr lang="en-US" sz="1800" b="1" dirty="0">
                <a:solidFill>
                  <a:srgbClr val="0A1B34"/>
                </a:solidFill>
                <a:latin typeface="+mj-lt" pitchFamily="34" charset="0"/>
                <a:ea typeface="+mj-lt" pitchFamily="34" charset="-122"/>
                <a:cs typeface="+mj-lt" pitchFamily="34" charset="-120"/>
              </a:rPr>
              <a:t>Audit evidence</a:t>
            </a:r>
            <a:endParaRPr lang="en-US" sz="1800" dirty="0"/>
          </a:p>
        </p:txBody>
      </p:sp>
      <p:sp>
        <p:nvSpPr>
          <p:cNvPr id="32" name="List 3"/>
          <p:cNvSpPr txBox="1"/>
          <p:nvPr/>
        </p:nvSpPr>
        <p:spPr>
          <a:xfrm>
            <a:off x="8430768" y="3794760"/>
            <a:ext cx="2843784" cy="1737360"/>
          </a:xfrm>
          <a:prstGeom prst="rect">
            <a:avLst/>
          </a:prstGeom>
          <a:noFill/>
          <a:ln/>
        </p:spPr>
        <p:txBody>
          <a:bodyPr wrap="square" lIns="0" tIns="0" rIns="0" bIns="0" rtlCol="0" anchor="t"/>
          <a:lstStyle/>
          <a:p>
            <a:pPr marL="203200" indent="-203200">
              <a:spcAft>
                <a:spcPts val="1000"/>
              </a:spcAft>
              <a:buSzPct val="100000"/>
              <a:buChar char="•"/>
            </a:pPr>
            <a:r>
              <a:rPr lang="en-US" sz="1500" dirty="0">
                <a:solidFill>
                  <a:srgbClr val="17253D"/>
                </a:solidFill>
              </a:rPr>
              <a:t>Versioned extractions and UTC events</a:t>
            </a:r>
            <a:endParaRPr lang="en-US" sz="1500" dirty="0"/>
          </a:p>
          <a:p>
            <a:pPr marL="203200" indent="-203200">
              <a:spcAft>
                <a:spcPts val="1000"/>
              </a:spcAft>
              <a:buSzPct val="100000"/>
              <a:buChar char="•"/>
            </a:pPr>
            <a:r>
              <a:rPr lang="en-US" sz="1500" dirty="0">
                <a:solidFill>
                  <a:srgbClr val="17253D"/>
                </a:solidFill>
              </a:rPr>
              <a:t>Verifiable event hash chain + source hashes</a:t>
            </a:r>
            <a:endParaRPr lang="en-US" sz="1500" dirty="0"/>
          </a:p>
          <a:p>
            <a:pPr marL="203200" indent="-203200">
              <a:spcAft>
                <a:spcPts val="1000"/>
              </a:spcAft>
              <a:buSzPct val="100000"/>
              <a:buChar char="•"/>
            </a:pPr>
            <a:r>
              <a:rPr lang="en-US" sz="1500" dirty="0">
                <a:solidFill>
                  <a:srgbClr val="17253D"/>
                </a:solidFill>
              </a:rPr>
              <a:t>Examiner ZIP with verification manifest</a:t>
            </a:r>
            <a:endParaRPr lang="en-US" sz="1500" dirty="0"/>
          </a:p>
        </p:txBody>
      </p:sp>
      <p:sp>
        <p:nvSpPr>
          <p:cNvPr id="33" name="Caveat"/>
          <p:cNvSpPr txBox="1"/>
          <p:nvPr/>
        </p:nvSpPr>
        <p:spPr>
          <a:xfrm>
            <a:off x="640080" y="5852160"/>
            <a:ext cx="10908792" cy="320040"/>
          </a:xfrm>
          <a:prstGeom prst="rect">
            <a:avLst/>
          </a:prstGeom>
          <a:noFill/>
          <a:ln/>
        </p:spPr>
        <p:txBody>
          <a:bodyPr wrap="square" lIns="0" tIns="0" rIns="0" bIns="0" rtlCol="0" anchor="ctr"/>
          <a:lstStyle/>
          <a:p>
            <a:pPr indent="0" marL="0">
              <a:buNone/>
            </a:pPr>
            <a:r>
              <a:rPr lang="en-US" sz="1300" i="1" dirty="0">
                <a:solidFill>
                  <a:srgbClr val="55657D"/>
                </a:solidFill>
              </a:rPr>
              <a:t>Demo identities only; vote/scoring rules are unapproved. Hash-chain verification is not immutable storage.</a:t>
            </a:r>
            <a:endParaRPr lang="en-US" sz="13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WORKING DEMONSTRATION</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One synthetic case, end to end</a:t>
            </a:r>
            <a:endParaRPr lang="en-US" sz="3000" dirty="0"/>
          </a:p>
        </p:txBody>
      </p:sp>
      <p:sp>
        <p:nvSpPr>
          <p:cNvPr id="4" name="Timeline line"/>
          <p:cNvSpPr/>
          <p:nvPr/>
        </p:nvSpPr>
        <p:spPr>
          <a:xfrm>
            <a:off x="1549146" y="2286000"/>
            <a:ext cx="9090660" cy="0"/>
          </a:xfrm>
          <a:prstGeom prst="line">
            <a:avLst/>
          </a:prstGeom>
          <a:noFill/>
          <a:ln w="38100">
            <a:solidFill>
              <a:srgbClr val="9CC3F2"/>
            </a:solidFill>
            <a:prstDash val="solid"/>
          </a:ln>
        </p:spPr>
      </p:sp>
      <p:sp>
        <p:nvSpPr>
          <p:cNvPr id="5" name="Step 1"/>
          <p:cNvSpPr/>
          <p:nvPr/>
        </p:nvSpPr>
        <p:spPr>
          <a:xfrm>
            <a:off x="1183386" y="1920240"/>
            <a:ext cx="731520" cy="731520"/>
          </a:xfrm>
          <a:prstGeom prst="ellipse">
            <a:avLst/>
          </a:prstGeom>
          <a:solidFill>
            <a:srgbClr val="0A1B34"/>
          </a:solidFill>
          <a:ln/>
        </p:spPr>
      </p:sp>
      <p:sp>
        <p:nvSpPr>
          <p:cNvPr id="6" name="Step 1 number"/>
          <p:cNvSpPr txBox="1"/>
          <p:nvPr/>
        </p:nvSpPr>
        <p:spPr>
          <a:xfrm>
            <a:off x="1183386"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mj-lt" pitchFamily="34" charset="0"/>
                <a:ea typeface="+mj-lt" pitchFamily="34" charset="-122"/>
                <a:cs typeface="+mj-lt" pitchFamily="34" charset="-120"/>
              </a:rPr>
              <a:t>1</a:t>
            </a:r>
            <a:endParaRPr lang="en-US" sz="2400" dirty="0"/>
          </a:p>
        </p:txBody>
      </p:sp>
      <p:sp>
        <p:nvSpPr>
          <p:cNvPr id="7" name="Step label 1"/>
          <p:cNvSpPr txBox="1"/>
          <p:nvPr/>
        </p:nvSpPr>
        <p:spPr>
          <a:xfrm>
            <a:off x="731520" y="2834640"/>
            <a:ext cx="1635252" cy="822960"/>
          </a:xfrm>
          <a:prstGeom prst="rect">
            <a:avLst/>
          </a:prstGeom>
          <a:noFill/>
          <a:ln/>
        </p:spPr>
        <p:txBody>
          <a:bodyPr wrap="square" lIns="0" tIns="0" rIns="0" bIns="0" rtlCol="0" anchor="t"/>
          <a:lstStyle/>
          <a:p>
            <a:pPr algn="ctr" indent="0" marL="0">
              <a:buNone/>
            </a:pPr>
            <a:r>
              <a:rPr lang="en-US" sz="1500" b="1" dirty="0">
                <a:solidFill>
                  <a:srgbClr val="17253D"/>
                </a:solidFill>
              </a:rPr>
              <a:t>Owner uploads PDF</a:t>
            </a:r>
            <a:endParaRPr lang="en-US" sz="1500" dirty="0"/>
          </a:p>
        </p:txBody>
      </p:sp>
      <p:sp>
        <p:nvSpPr>
          <p:cNvPr id="8" name="Step 2"/>
          <p:cNvSpPr/>
          <p:nvPr/>
        </p:nvSpPr>
        <p:spPr>
          <a:xfrm>
            <a:off x="3001518" y="1920240"/>
            <a:ext cx="731520" cy="731520"/>
          </a:xfrm>
          <a:prstGeom prst="ellipse">
            <a:avLst/>
          </a:prstGeom>
          <a:solidFill>
            <a:srgbClr val="0A1B34"/>
          </a:solidFill>
          <a:ln/>
        </p:spPr>
      </p:sp>
      <p:sp>
        <p:nvSpPr>
          <p:cNvPr id="9" name="Step 2 number"/>
          <p:cNvSpPr txBox="1"/>
          <p:nvPr/>
        </p:nvSpPr>
        <p:spPr>
          <a:xfrm>
            <a:off x="3001518"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mj-lt" pitchFamily="34" charset="0"/>
                <a:ea typeface="+mj-lt" pitchFamily="34" charset="-122"/>
                <a:cs typeface="+mj-lt" pitchFamily="34" charset="-120"/>
              </a:rPr>
              <a:t>2</a:t>
            </a:r>
            <a:endParaRPr lang="en-US" sz="2400" dirty="0"/>
          </a:p>
        </p:txBody>
      </p:sp>
      <p:sp>
        <p:nvSpPr>
          <p:cNvPr id="10" name="Step label 2"/>
          <p:cNvSpPr txBox="1"/>
          <p:nvPr/>
        </p:nvSpPr>
        <p:spPr>
          <a:xfrm>
            <a:off x="2549652" y="2834640"/>
            <a:ext cx="1635252" cy="822960"/>
          </a:xfrm>
          <a:prstGeom prst="rect">
            <a:avLst/>
          </a:prstGeom>
          <a:noFill/>
          <a:ln/>
        </p:spPr>
        <p:txBody>
          <a:bodyPr wrap="square" lIns="0" tIns="0" rIns="0" bIns="0" rtlCol="0" anchor="t"/>
          <a:lstStyle/>
          <a:p>
            <a:pPr algn="ctr" indent="0" marL="0">
              <a:buNone/>
            </a:pPr>
            <a:r>
              <a:rPr lang="en-US" sz="1500" b="1" dirty="0">
                <a:solidFill>
                  <a:srgbClr val="17253D"/>
                </a:solidFill>
              </a:rPr>
              <a:t>Inspect draft + score</a:t>
            </a:r>
            <a:endParaRPr lang="en-US" sz="1500" dirty="0"/>
          </a:p>
        </p:txBody>
      </p:sp>
      <p:sp>
        <p:nvSpPr>
          <p:cNvPr id="11" name="Step 3"/>
          <p:cNvSpPr/>
          <p:nvPr/>
        </p:nvSpPr>
        <p:spPr>
          <a:xfrm>
            <a:off x="4819650" y="1920240"/>
            <a:ext cx="731520" cy="731520"/>
          </a:xfrm>
          <a:prstGeom prst="ellipse">
            <a:avLst/>
          </a:prstGeom>
          <a:solidFill>
            <a:srgbClr val="0A1B34"/>
          </a:solidFill>
          <a:ln/>
        </p:spPr>
      </p:sp>
      <p:sp>
        <p:nvSpPr>
          <p:cNvPr id="12" name="Step 3 number"/>
          <p:cNvSpPr txBox="1"/>
          <p:nvPr/>
        </p:nvSpPr>
        <p:spPr>
          <a:xfrm>
            <a:off x="4819650"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mj-lt" pitchFamily="34" charset="0"/>
                <a:ea typeface="+mj-lt" pitchFamily="34" charset="-122"/>
                <a:cs typeface="+mj-lt" pitchFamily="34" charset="-120"/>
              </a:rPr>
              <a:t>3</a:t>
            </a:r>
            <a:endParaRPr lang="en-US" sz="2400" dirty="0"/>
          </a:p>
        </p:txBody>
      </p:sp>
      <p:sp>
        <p:nvSpPr>
          <p:cNvPr id="13" name="Step label 3"/>
          <p:cNvSpPr txBox="1"/>
          <p:nvPr/>
        </p:nvSpPr>
        <p:spPr>
          <a:xfrm>
            <a:off x="4367784" y="2834640"/>
            <a:ext cx="1635252" cy="822960"/>
          </a:xfrm>
          <a:prstGeom prst="rect">
            <a:avLst/>
          </a:prstGeom>
          <a:noFill/>
          <a:ln/>
        </p:spPr>
        <p:txBody>
          <a:bodyPr wrap="square" lIns="0" tIns="0" rIns="0" bIns="0" rtlCol="0" anchor="t"/>
          <a:lstStyle/>
          <a:p>
            <a:pPr algn="ctr" indent="0" marL="0">
              <a:buNone/>
            </a:pPr>
            <a:r>
              <a:rPr lang="en-US" sz="1500" b="1" dirty="0">
                <a:solidFill>
                  <a:srgbClr val="17253D"/>
                </a:solidFill>
              </a:rPr>
              <a:t>Owner submits case</a:t>
            </a:r>
            <a:endParaRPr lang="en-US" sz="1500" dirty="0"/>
          </a:p>
        </p:txBody>
      </p:sp>
      <p:sp>
        <p:nvSpPr>
          <p:cNvPr id="14" name="Step 4"/>
          <p:cNvSpPr/>
          <p:nvPr/>
        </p:nvSpPr>
        <p:spPr>
          <a:xfrm>
            <a:off x="6637782" y="1920240"/>
            <a:ext cx="731520" cy="731520"/>
          </a:xfrm>
          <a:prstGeom prst="ellipse">
            <a:avLst/>
          </a:prstGeom>
          <a:solidFill>
            <a:srgbClr val="1F4E9C"/>
          </a:solidFill>
          <a:ln/>
        </p:spPr>
      </p:sp>
      <p:sp>
        <p:nvSpPr>
          <p:cNvPr id="15" name="Step 4 number"/>
          <p:cNvSpPr txBox="1"/>
          <p:nvPr/>
        </p:nvSpPr>
        <p:spPr>
          <a:xfrm>
            <a:off x="6637782"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mj-lt" pitchFamily="34" charset="0"/>
                <a:ea typeface="+mj-lt" pitchFamily="34" charset="-122"/>
                <a:cs typeface="+mj-lt" pitchFamily="34" charset="-120"/>
              </a:rPr>
              <a:t>4</a:t>
            </a:r>
            <a:endParaRPr lang="en-US" sz="2400" dirty="0"/>
          </a:p>
        </p:txBody>
      </p:sp>
      <p:sp>
        <p:nvSpPr>
          <p:cNvPr id="16" name="Step label 4"/>
          <p:cNvSpPr txBox="1"/>
          <p:nvPr/>
        </p:nvSpPr>
        <p:spPr>
          <a:xfrm>
            <a:off x="6185916" y="2834640"/>
            <a:ext cx="1635252" cy="822960"/>
          </a:xfrm>
          <a:prstGeom prst="rect">
            <a:avLst/>
          </a:prstGeom>
          <a:noFill/>
          <a:ln/>
        </p:spPr>
        <p:txBody>
          <a:bodyPr wrap="square" lIns="0" tIns="0" rIns="0" bIns="0" rtlCol="0" anchor="t"/>
          <a:lstStyle/>
          <a:p>
            <a:pPr algn="ctr" indent="0" marL="0">
              <a:buNone/>
            </a:pPr>
            <a:r>
              <a:rPr lang="en-US" sz="1500" b="1" dirty="0">
                <a:solidFill>
                  <a:srgbClr val="17253D"/>
                </a:solidFill>
              </a:rPr>
              <a:t>Analyst finalizes</a:t>
            </a:r>
            <a:endParaRPr lang="en-US" sz="1500" dirty="0"/>
          </a:p>
        </p:txBody>
      </p:sp>
      <p:sp>
        <p:nvSpPr>
          <p:cNvPr id="17" name="Step 5"/>
          <p:cNvSpPr/>
          <p:nvPr/>
        </p:nvSpPr>
        <p:spPr>
          <a:xfrm>
            <a:off x="8455914" y="1920240"/>
            <a:ext cx="731520" cy="731520"/>
          </a:xfrm>
          <a:prstGeom prst="ellipse">
            <a:avLst/>
          </a:prstGeom>
          <a:solidFill>
            <a:srgbClr val="1F4E9C"/>
          </a:solidFill>
          <a:ln/>
        </p:spPr>
      </p:sp>
      <p:sp>
        <p:nvSpPr>
          <p:cNvPr id="18" name="Step 5 number"/>
          <p:cNvSpPr txBox="1"/>
          <p:nvPr/>
        </p:nvSpPr>
        <p:spPr>
          <a:xfrm>
            <a:off x="8455914"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mj-lt" pitchFamily="34" charset="0"/>
                <a:ea typeface="+mj-lt" pitchFamily="34" charset="-122"/>
                <a:cs typeface="+mj-lt" pitchFamily="34" charset="-120"/>
              </a:rPr>
              <a:t>5</a:t>
            </a:r>
            <a:endParaRPr lang="en-US" sz="2400" dirty="0"/>
          </a:p>
        </p:txBody>
      </p:sp>
      <p:sp>
        <p:nvSpPr>
          <p:cNvPr id="19" name="Step label 5"/>
          <p:cNvSpPr txBox="1"/>
          <p:nvPr/>
        </p:nvSpPr>
        <p:spPr>
          <a:xfrm>
            <a:off x="8004048" y="2834640"/>
            <a:ext cx="1635252" cy="822960"/>
          </a:xfrm>
          <a:prstGeom prst="rect">
            <a:avLst/>
          </a:prstGeom>
          <a:noFill/>
          <a:ln/>
        </p:spPr>
        <p:txBody>
          <a:bodyPr wrap="square" lIns="0" tIns="0" rIns="0" bIns="0" rtlCol="0" anchor="t"/>
          <a:lstStyle/>
          <a:p>
            <a:pPr algn="ctr" indent="0" marL="0">
              <a:buNone/>
            </a:pPr>
            <a:r>
              <a:rPr lang="en-US" sz="1500" b="1" dirty="0">
                <a:solidFill>
                  <a:srgbClr val="17253D"/>
                </a:solidFill>
              </a:rPr>
              <a:t>Three committee votes</a:t>
            </a:r>
            <a:endParaRPr lang="en-US" sz="1500" dirty="0"/>
          </a:p>
        </p:txBody>
      </p:sp>
      <p:sp>
        <p:nvSpPr>
          <p:cNvPr id="20" name="Step 6"/>
          <p:cNvSpPr/>
          <p:nvPr/>
        </p:nvSpPr>
        <p:spPr>
          <a:xfrm>
            <a:off x="10274046" y="1920240"/>
            <a:ext cx="731520" cy="731520"/>
          </a:xfrm>
          <a:prstGeom prst="ellipse">
            <a:avLst/>
          </a:prstGeom>
          <a:solidFill>
            <a:srgbClr val="1F4E9C"/>
          </a:solidFill>
          <a:ln/>
        </p:spPr>
      </p:sp>
      <p:sp>
        <p:nvSpPr>
          <p:cNvPr id="21" name="Step 6 number"/>
          <p:cNvSpPr txBox="1"/>
          <p:nvPr/>
        </p:nvSpPr>
        <p:spPr>
          <a:xfrm>
            <a:off x="10274046" y="19202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mj-lt" pitchFamily="34" charset="0"/>
                <a:ea typeface="+mj-lt" pitchFamily="34" charset="-122"/>
                <a:cs typeface="+mj-lt" pitchFamily="34" charset="-120"/>
              </a:rPr>
              <a:t>6</a:t>
            </a:r>
            <a:endParaRPr lang="en-US" sz="2400" dirty="0"/>
          </a:p>
        </p:txBody>
      </p:sp>
      <p:sp>
        <p:nvSpPr>
          <p:cNvPr id="22" name="Step label 6"/>
          <p:cNvSpPr txBox="1"/>
          <p:nvPr/>
        </p:nvSpPr>
        <p:spPr>
          <a:xfrm>
            <a:off x="9822180" y="2834640"/>
            <a:ext cx="1635252" cy="822960"/>
          </a:xfrm>
          <a:prstGeom prst="rect">
            <a:avLst/>
          </a:prstGeom>
          <a:noFill/>
          <a:ln/>
        </p:spPr>
        <p:txBody>
          <a:bodyPr wrap="square" lIns="0" tIns="0" rIns="0" bIns="0" rtlCol="0" anchor="t"/>
          <a:lstStyle/>
          <a:p>
            <a:pPr algn="ctr" indent="0" marL="0">
              <a:buNone/>
            </a:pPr>
            <a:r>
              <a:rPr lang="en-US" sz="1500" b="1" dirty="0">
                <a:solidFill>
                  <a:srgbClr val="17253D"/>
                </a:solidFill>
              </a:rPr>
              <a:t>Owner evidence; analyst closes</a:t>
            </a:r>
            <a:endParaRPr lang="en-US" sz="1500" dirty="0"/>
          </a:p>
        </p:txBody>
      </p:sp>
      <p:sp>
        <p:nvSpPr>
          <p:cNvPr id="23" name="Security card"/>
          <p:cNvSpPr/>
          <p:nvPr/>
        </p:nvSpPr>
        <p:spPr>
          <a:xfrm>
            <a:off x="640080" y="4160520"/>
            <a:ext cx="10908792" cy="1920240"/>
          </a:xfrm>
          <a:prstGeom prst="roundRect">
            <a:avLst>
              <a:gd name="adj" fmla="val 3810"/>
            </a:avLst>
          </a:prstGeom>
          <a:solidFill>
            <a:srgbClr val="0A1B34"/>
          </a:solidFill>
          <a:ln/>
          <a:effectLst>
            <a:outerShdw sx="100000" sy="100000" kx="0" ky="0" algn="bl" rotWithShape="0" blurRad="177800" dist="38100" dir="5400000">
              <a:srgbClr val="0A1B34">
                <a:alpha val="12000"/>
              </a:srgbClr>
            </a:outerShdw>
          </a:effectLst>
        </p:spPr>
      </p:sp>
      <p:sp>
        <p:nvSpPr>
          <p:cNvPr id="24" name="Security heading"/>
          <p:cNvSpPr txBox="1"/>
          <p:nvPr/>
        </p:nvSpPr>
        <p:spPr>
          <a:xfrm>
            <a:off x="1097280" y="4434840"/>
            <a:ext cx="9994392" cy="457200"/>
          </a:xfrm>
          <a:prstGeom prst="rect">
            <a:avLst/>
          </a:prstGeom>
          <a:noFill/>
          <a:ln/>
        </p:spPr>
        <p:txBody>
          <a:bodyPr wrap="square" lIns="0" tIns="0" rIns="0" bIns="0" rtlCol="0" anchor="ctr"/>
          <a:lstStyle/>
          <a:p>
            <a:pPr indent="0" marL="0">
              <a:buNone/>
            </a:pPr>
            <a:r>
              <a:rPr lang="en-US" sz="2000" b="1" dirty="0">
                <a:solidFill>
                  <a:srgbClr val="C8A24A"/>
                </a:solidFill>
                <a:latin typeface="+mj-lt" pitchFamily="34" charset="0"/>
                <a:ea typeface="+mj-lt" pitchFamily="34" charset="-122"/>
                <a:cs typeface="+mj-lt" pitchFamily="34" charset="-120"/>
              </a:rPr>
              <a:t>Security boundary</a:t>
            </a:r>
            <a:endParaRPr lang="en-US" sz="2000" dirty="0"/>
          </a:p>
        </p:txBody>
      </p:sp>
      <p:sp>
        <p:nvSpPr>
          <p:cNvPr id="25" name="Security body"/>
          <p:cNvSpPr txBox="1"/>
          <p:nvPr/>
        </p:nvSpPr>
        <p:spPr>
          <a:xfrm>
            <a:off x="1097280" y="4983480"/>
            <a:ext cx="9994392" cy="914400"/>
          </a:xfrm>
          <a:prstGeom prst="rect">
            <a:avLst/>
          </a:prstGeom>
          <a:noFill/>
          <a:ln/>
        </p:spPr>
        <p:txBody>
          <a:bodyPr wrap="square" lIns="0" tIns="0" rIns="0" bIns="0" rtlCol="0" anchor="t"/>
          <a:lstStyle/>
          <a:p>
            <a:pPr indent="0" marL="0">
              <a:buNone/>
            </a:pPr>
            <a:r>
              <a:rPr lang="en-US" sz="1700" dirty="0">
                <a:solidFill>
                  <a:srgbClr val="FFFFFF"/>
                </a:solidFill>
              </a:rPr>
              <a:t>Workflow routes check fixed demo roles, not production identities. Extraction needs the configured model provider; no offline extraction fallback. Source and audit hashes are verifiable, not immutable.</a:t>
            </a:r>
            <a:endParaRPr lang="en-US" sz="17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8A6A1F"/>
                </a:solidFill>
              </a:rPr>
              <a:t>TESTING AND EVIDENCE</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0A1B34"/>
                </a:solidFill>
                <a:latin typeface="+mj-lt" pitchFamily="34" charset="0"/>
                <a:ea typeface="+mj-lt" pitchFamily="34" charset="-122"/>
                <a:cs typeface="+mj-lt" pitchFamily="34" charset="-120"/>
              </a:rPr>
              <a:t>We measure the model, not just the demo</a:t>
            </a:r>
            <a:endParaRPr lang="en-US" sz="3000" dirty="0"/>
          </a:p>
        </p:txBody>
      </p:sp>
      <p:sp>
        <p:nvSpPr>
          <p:cNvPr id="4" name="Stat tile 1"/>
          <p:cNvSpPr/>
          <p:nvPr/>
        </p:nvSpPr>
        <p:spPr>
          <a:xfrm>
            <a:off x="640080" y="1691640"/>
            <a:ext cx="2521458" cy="1188720"/>
          </a:xfrm>
          <a:prstGeom prst="roundRect">
            <a:avLst>
              <a:gd name="adj" fmla="val 6154"/>
            </a:avLst>
          </a:prstGeom>
          <a:solidFill>
            <a:srgbClr val="0A1B34"/>
          </a:solidFill>
          <a:ln/>
          <a:effectLst>
            <a:outerShdw sx="100000" sy="100000" kx="0" ky="0" algn="bl" rotWithShape="0" blurRad="177800" dist="38100" dir="5400000">
              <a:srgbClr val="0A1B34">
                <a:alpha val="12000"/>
              </a:srgbClr>
            </a:outerShdw>
          </a:effectLst>
        </p:spPr>
      </p:sp>
      <p:sp>
        <p:nvSpPr>
          <p:cNvPr id="5" name="Stat value 1"/>
          <p:cNvSpPr txBox="1"/>
          <p:nvPr/>
        </p:nvSpPr>
        <p:spPr>
          <a:xfrm>
            <a:off x="640080" y="1783080"/>
            <a:ext cx="2521458" cy="685800"/>
          </a:xfrm>
          <a:prstGeom prst="rect">
            <a:avLst/>
          </a:prstGeom>
          <a:noFill/>
          <a:ln/>
        </p:spPr>
        <p:txBody>
          <a:bodyPr wrap="square" lIns="0" tIns="0" rIns="0" bIns="0" rtlCol="0" anchor="ctr"/>
          <a:lstStyle/>
          <a:p>
            <a:pPr algn="ctr" indent="0" marL="0">
              <a:buNone/>
            </a:pPr>
            <a:r>
              <a:rPr lang="en-US" sz="3800" b="1" dirty="0">
                <a:solidFill>
                  <a:srgbClr val="FFFFFF"/>
                </a:solidFill>
                <a:latin typeface="+mj-lt" pitchFamily="34" charset="0"/>
                <a:ea typeface="+mj-lt" pitchFamily="34" charset="-122"/>
                <a:cs typeface="+mj-lt" pitchFamily="34" charset="-120"/>
              </a:rPr>
              <a:t>8/8</a:t>
            </a:r>
            <a:endParaRPr lang="en-US" sz="3800" dirty="0"/>
          </a:p>
        </p:txBody>
      </p:sp>
      <p:sp>
        <p:nvSpPr>
          <p:cNvPr id="6" name="Stat label 1"/>
          <p:cNvSpPr txBox="1"/>
          <p:nvPr/>
        </p:nvSpPr>
        <p:spPr>
          <a:xfrm>
            <a:off x="640080" y="2468880"/>
            <a:ext cx="2521458" cy="320040"/>
          </a:xfrm>
          <a:prstGeom prst="rect">
            <a:avLst/>
          </a:prstGeom>
          <a:noFill/>
          <a:ln/>
        </p:spPr>
        <p:txBody>
          <a:bodyPr wrap="square" lIns="0" tIns="0" rIns="0" bIns="0" rtlCol="0" anchor="ctr"/>
          <a:lstStyle/>
          <a:p>
            <a:pPr algn="ctr" indent="0" marL="0">
              <a:buNone/>
            </a:pPr>
            <a:r>
              <a:rPr lang="en-US" sz="1400" dirty="0">
                <a:solidFill>
                  <a:srgbClr val="D6E4F7"/>
                </a:solidFill>
              </a:rPr>
              <a:t>live calls succeeded</a:t>
            </a:r>
            <a:endParaRPr lang="en-US" sz="1400" dirty="0"/>
          </a:p>
        </p:txBody>
      </p:sp>
      <p:sp>
        <p:nvSpPr>
          <p:cNvPr id="7" name="Stat tile 2"/>
          <p:cNvSpPr/>
          <p:nvPr/>
        </p:nvSpPr>
        <p:spPr>
          <a:xfrm>
            <a:off x="3435858" y="1691640"/>
            <a:ext cx="2521458" cy="1188720"/>
          </a:xfrm>
          <a:prstGeom prst="roundRect">
            <a:avLst>
              <a:gd name="adj" fmla="val 6154"/>
            </a:avLst>
          </a:prstGeom>
          <a:solidFill>
            <a:srgbClr val="1F4E9C"/>
          </a:solidFill>
          <a:ln/>
          <a:effectLst>
            <a:outerShdw sx="100000" sy="100000" kx="0" ky="0" algn="bl" rotWithShape="0" blurRad="177800" dist="38100" dir="5400000">
              <a:srgbClr val="0A1B34">
                <a:alpha val="12000"/>
              </a:srgbClr>
            </a:outerShdw>
          </a:effectLst>
        </p:spPr>
      </p:sp>
      <p:sp>
        <p:nvSpPr>
          <p:cNvPr id="8" name="Stat value 2"/>
          <p:cNvSpPr txBox="1"/>
          <p:nvPr/>
        </p:nvSpPr>
        <p:spPr>
          <a:xfrm>
            <a:off x="3435858" y="1783080"/>
            <a:ext cx="2521458" cy="685800"/>
          </a:xfrm>
          <a:prstGeom prst="rect">
            <a:avLst/>
          </a:prstGeom>
          <a:noFill/>
          <a:ln/>
        </p:spPr>
        <p:txBody>
          <a:bodyPr wrap="square" lIns="0" tIns="0" rIns="0" bIns="0" rtlCol="0" anchor="ctr"/>
          <a:lstStyle/>
          <a:p>
            <a:pPr algn="ctr" indent="0" marL="0">
              <a:buNone/>
            </a:pPr>
            <a:r>
              <a:rPr lang="en-US" sz="3800" b="1" dirty="0">
                <a:solidFill>
                  <a:srgbClr val="FFFFFF"/>
                </a:solidFill>
                <a:latin typeface="+mj-lt" pitchFamily="34" charset="0"/>
                <a:ea typeface="+mj-lt" pitchFamily="34" charset="-122"/>
                <a:cs typeface="+mj-lt" pitchFamily="34" charset="-120"/>
              </a:rPr>
              <a:t>100.0%</a:t>
            </a:r>
            <a:endParaRPr lang="en-US" sz="3800" dirty="0"/>
          </a:p>
        </p:txBody>
      </p:sp>
      <p:sp>
        <p:nvSpPr>
          <p:cNvPr id="9" name="Stat label 2"/>
          <p:cNvSpPr txBox="1"/>
          <p:nvPr/>
        </p:nvSpPr>
        <p:spPr>
          <a:xfrm>
            <a:off x="3435858" y="2468880"/>
            <a:ext cx="2521458" cy="320040"/>
          </a:xfrm>
          <a:prstGeom prst="rect">
            <a:avLst/>
          </a:prstGeom>
          <a:noFill/>
          <a:ln/>
        </p:spPr>
        <p:txBody>
          <a:bodyPr wrap="square" lIns="0" tIns="0" rIns="0" bIns="0" rtlCol="0" anchor="ctr"/>
          <a:lstStyle/>
          <a:p>
            <a:pPr algn="ctr" indent="0" marL="0">
              <a:buNone/>
            </a:pPr>
            <a:r>
              <a:rPr lang="en-US" sz="1400" dirty="0">
                <a:solidFill>
                  <a:srgbClr val="D6E4F7"/>
                </a:solidFill>
              </a:rPr>
              <a:t>field accuracy (80/80)</a:t>
            </a:r>
            <a:endParaRPr lang="en-US" sz="1400" dirty="0"/>
          </a:p>
        </p:txBody>
      </p:sp>
      <p:sp>
        <p:nvSpPr>
          <p:cNvPr id="10" name="Stat tile 3"/>
          <p:cNvSpPr/>
          <p:nvPr/>
        </p:nvSpPr>
        <p:spPr>
          <a:xfrm>
            <a:off x="6231636" y="1691640"/>
            <a:ext cx="2521458" cy="1188720"/>
          </a:xfrm>
          <a:prstGeom prst="roundRect">
            <a:avLst>
              <a:gd name="adj" fmla="val 6154"/>
            </a:avLst>
          </a:prstGeom>
          <a:solidFill>
            <a:srgbClr val="0A1B34"/>
          </a:solidFill>
          <a:ln/>
          <a:effectLst>
            <a:outerShdw sx="100000" sy="100000" kx="0" ky="0" algn="bl" rotWithShape="0" blurRad="177800" dist="38100" dir="5400000">
              <a:srgbClr val="0A1B34">
                <a:alpha val="12000"/>
              </a:srgbClr>
            </a:outerShdw>
          </a:effectLst>
        </p:spPr>
      </p:sp>
      <p:sp>
        <p:nvSpPr>
          <p:cNvPr id="11" name="Stat value 3"/>
          <p:cNvSpPr txBox="1"/>
          <p:nvPr/>
        </p:nvSpPr>
        <p:spPr>
          <a:xfrm>
            <a:off x="6231636" y="1783080"/>
            <a:ext cx="2521458" cy="685800"/>
          </a:xfrm>
          <a:prstGeom prst="rect">
            <a:avLst/>
          </a:prstGeom>
          <a:noFill/>
          <a:ln/>
        </p:spPr>
        <p:txBody>
          <a:bodyPr wrap="square" lIns="0" tIns="0" rIns="0" bIns="0" rtlCol="0" anchor="ctr"/>
          <a:lstStyle/>
          <a:p>
            <a:pPr algn="ctr" indent="0" marL="0">
              <a:buNone/>
            </a:pPr>
            <a:r>
              <a:rPr lang="en-US" sz="3800" b="1" dirty="0">
                <a:solidFill>
                  <a:srgbClr val="FFFFFF"/>
                </a:solidFill>
                <a:latin typeface="+mj-lt" pitchFamily="34" charset="0"/>
                <a:ea typeface="+mj-lt" pitchFamily="34" charset="-122"/>
                <a:cs typeface="+mj-lt" pitchFamily="34" charset="-120"/>
              </a:rPr>
              <a:t>100%</a:t>
            </a:r>
            <a:endParaRPr lang="en-US" sz="3800" dirty="0"/>
          </a:p>
        </p:txBody>
      </p:sp>
      <p:sp>
        <p:nvSpPr>
          <p:cNvPr id="12" name="Stat label 3"/>
          <p:cNvSpPr txBox="1"/>
          <p:nvPr/>
        </p:nvSpPr>
        <p:spPr>
          <a:xfrm>
            <a:off x="6231636" y="2468880"/>
            <a:ext cx="2521458" cy="320040"/>
          </a:xfrm>
          <a:prstGeom prst="rect">
            <a:avLst/>
          </a:prstGeom>
          <a:noFill/>
          <a:ln/>
        </p:spPr>
        <p:txBody>
          <a:bodyPr wrap="square" lIns="0" tIns="0" rIns="0" bIns="0" rtlCol="0" anchor="ctr"/>
          <a:lstStyle/>
          <a:p>
            <a:pPr algn="ctr" indent="0" marL="0">
              <a:buNone/>
            </a:pPr>
            <a:r>
              <a:rPr lang="en-US" sz="1400" dirty="0">
                <a:solidFill>
                  <a:srgbClr val="D6E4F7"/>
                </a:solidFill>
              </a:rPr>
              <a:t>risk-level agreement</a:t>
            </a:r>
            <a:endParaRPr lang="en-US" sz="1400" dirty="0"/>
          </a:p>
        </p:txBody>
      </p:sp>
      <p:sp>
        <p:nvSpPr>
          <p:cNvPr id="13" name="Stat tile 4"/>
          <p:cNvSpPr/>
          <p:nvPr/>
        </p:nvSpPr>
        <p:spPr>
          <a:xfrm>
            <a:off x="9027414" y="1691640"/>
            <a:ext cx="2521458" cy="1188720"/>
          </a:xfrm>
          <a:prstGeom prst="roundRect">
            <a:avLst>
              <a:gd name="adj" fmla="val 6154"/>
            </a:avLst>
          </a:prstGeom>
          <a:solidFill>
            <a:srgbClr val="1F4E9C"/>
          </a:solidFill>
          <a:ln/>
          <a:effectLst>
            <a:outerShdw sx="100000" sy="100000" kx="0" ky="0" algn="bl" rotWithShape="0" blurRad="177800" dist="38100" dir="5400000">
              <a:srgbClr val="0A1B34">
                <a:alpha val="12000"/>
              </a:srgbClr>
            </a:outerShdw>
          </a:effectLst>
        </p:spPr>
      </p:sp>
      <p:sp>
        <p:nvSpPr>
          <p:cNvPr id="14" name="Stat value 4"/>
          <p:cNvSpPr txBox="1"/>
          <p:nvPr/>
        </p:nvSpPr>
        <p:spPr>
          <a:xfrm>
            <a:off x="9027414" y="1783080"/>
            <a:ext cx="2521458" cy="685800"/>
          </a:xfrm>
          <a:prstGeom prst="rect">
            <a:avLst/>
          </a:prstGeom>
          <a:noFill/>
          <a:ln/>
        </p:spPr>
        <p:txBody>
          <a:bodyPr wrap="square" lIns="0" tIns="0" rIns="0" bIns="0" rtlCol="0" anchor="ctr"/>
          <a:lstStyle/>
          <a:p>
            <a:pPr algn="ctr" indent="0" marL="0">
              <a:buNone/>
            </a:pPr>
            <a:r>
              <a:rPr lang="en-US" sz="3800" b="1" dirty="0">
                <a:solidFill>
                  <a:srgbClr val="FFFFFF"/>
                </a:solidFill>
                <a:latin typeface="+mj-lt" pitchFamily="34" charset="0"/>
                <a:ea typeface="+mj-lt" pitchFamily="34" charset="-122"/>
                <a:cs typeface="+mj-lt" pitchFamily="34" charset="-120"/>
              </a:rPr>
              <a:t>3.6 s</a:t>
            </a:r>
            <a:endParaRPr lang="en-US" sz="3800" dirty="0"/>
          </a:p>
        </p:txBody>
      </p:sp>
      <p:sp>
        <p:nvSpPr>
          <p:cNvPr id="15" name="Stat label 4"/>
          <p:cNvSpPr txBox="1"/>
          <p:nvPr/>
        </p:nvSpPr>
        <p:spPr>
          <a:xfrm>
            <a:off x="9027414" y="2468880"/>
            <a:ext cx="2521458" cy="320040"/>
          </a:xfrm>
          <a:prstGeom prst="rect">
            <a:avLst/>
          </a:prstGeom>
          <a:noFill/>
          <a:ln/>
        </p:spPr>
        <p:txBody>
          <a:bodyPr wrap="square" lIns="0" tIns="0" rIns="0" bIns="0" rtlCol="0" anchor="ctr"/>
          <a:lstStyle/>
          <a:p>
            <a:pPr algn="ctr" indent="0" marL="0">
              <a:buNone/>
            </a:pPr>
            <a:r>
              <a:rPr lang="en-US" sz="1400" dirty="0">
                <a:solidFill>
                  <a:srgbClr val="D6E4F7"/>
                </a:solidFill>
              </a:rPr>
              <a:t>mean latency per case</a:t>
            </a:r>
            <a:endParaRPr lang="en-US" sz="1400" dirty="0"/>
          </a:p>
        </p:txBody>
      </p:sp>
      <p:sp>
        <p:nvSpPr>
          <p:cNvPr id="16" name="Chart card"/>
          <p:cNvSpPr/>
          <p:nvPr/>
        </p:nvSpPr>
        <p:spPr>
          <a:xfrm>
            <a:off x="640080" y="3108960"/>
            <a:ext cx="5486400" cy="3063240"/>
          </a:xfrm>
          <a:prstGeom prst="roundRect">
            <a:avLst>
              <a:gd name="adj" fmla="val 2388"/>
            </a:avLst>
          </a:prstGeom>
          <a:solidFill>
            <a:srgbClr val="FFFFFF"/>
          </a:solidFill>
          <a:ln w="9525">
            <a:solidFill>
              <a:srgbClr val="D5DDEA"/>
            </a:solidFill>
            <a:prstDash val="solid"/>
          </a:ln>
          <a:effectLst>
            <a:outerShdw sx="100000" sy="100000" kx="0" ky="0" algn="bl" rotWithShape="0" blurRad="177800" dist="38100" dir="5400000">
              <a:srgbClr val="0A1B34">
                <a:alpha val="12000"/>
              </a:srgbClr>
            </a:outerShdw>
          </a:effectLst>
        </p:spPr>
      </p:sp>
      <p:graphicFrame>
        <p:nvGraphicFramePr>
          <p:cNvPr id="17" name="Chart 0" descr=""/>
          <p:cNvGraphicFramePr/>
          <p:nvPr/>
        </p:nvGraphicFramePr>
        <p:xfrm>
          <a:off x="777240" y="3200400"/>
          <a:ext cx="5212080" cy="2880360"/>
        </p:xfrm>
        <a:graphic xmlns:a="http://schemas.openxmlformats.org/drawingml/2006/main">
          <a:graphicData uri="http://schemas.openxmlformats.org/drawingml/2006/chart">
            <c:chart xmlns:c="http://schemas.openxmlformats.org/drawingml/2006/chart" r:id="rId1"/>
          </a:graphicData>
        </a:graphic>
      </p:graphicFrame>
      <p:sp>
        <p:nvSpPr>
          <p:cNvPr id="18" name="Reading card"/>
          <p:cNvSpPr/>
          <p:nvPr/>
        </p:nvSpPr>
        <p:spPr>
          <a:xfrm>
            <a:off x="6492240" y="3108960"/>
            <a:ext cx="5056632" cy="3063240"/>
          </a:xfrm>
          <a:prstGeom prst="roundRect">
            <a:avLst>
              <a:gd name="adj" fmla="val 2388"/>
            </a:avLst>
          </a:prstGeom>
          <a:solidFill>
            <a:srgbClr val="EEF3FA"/>
          </a:solidFill>
          <a:ln w="9525">
            <a:solidFill>
              <a:srgbClr val="D5DDEA"/>
            </a:solidFill>
            <a:prstDash val="solid"/>
          </a:ln>
        </p:spPr>
      </p:sp>
      <p:sp>
        <p:nvSpPr>
          <p:cNvPr id="19" name="Reading heading"/>
          <p:cNvSpPr txBox="1"/>
          <p:nvPr/>
        </p:nvSpPr>
        <p:spPr>
          <a:xfrm>
            <a:off x="6812280" y="3310128"/>
            <a:ext cx="4416552" cy="411480"/>
          </a:xfrm>
          <a:prstGeom prst="rect">
            <a:avLst/>
          </a:prstGeom>
          <a:noFill/>
          <a:ln/>
        </p:spPr>
        <p:txBody>
          <a:bodyPr wrap="square" lIns="0" tIns="0" rIns="0" bIns="0" rtlCol="0" anchor="ctr"/>
          <a:lstStyle/>
          <a:p>
            <a:pPr indent="0" marL="0">
              <a:buNone/>
            </a:pPr>
            <a:r>
              <a:rPr lang="en-US" sz="1700" b="1" dirty="0">
                <a:solidFill>
                  <a:srgbClr val="0A1B34"/>
                </a:solidFill>
                <a:latin typeface="+mj-lt" pitchFamily="34" charset="0"/>
                <a:ea typeface="+mj-lt" pitchFamily="34" charset="-122"/>
                <a:cs typeface="+mj-lt" pitchFamily="34" charset="-120"/>
              </a:rPr>
              <a:t>Failure handled, and how to read this</a:t>
            </a:r>
            <a:endParaRPr lang="en-US" sz="1700" dirty="0"/>
          </a:p>
        </p:txBody>
      </p:sp>
      <p:sp>
        <p:nvSpPr>
          <p:cNvPr id="20" name="Reading list"/>
          <p:cNvSpPr txBox="1"/>
          <p:nvPr/>
        </p:nvSpPr>
        <p:spPr>
          <a:xfrm>
            <a:off x="6812280" y="3840480"/>
            <a:ext cx="4416552" cy="21945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7253D"/>
                </a:solidFill>
              </a:rPr>
              <a:t>Invalid PDFs and provider failures return explicit errors; transient provider failures are retried up to three times</a:t>
            </a:r>
            <a:endParaRPr lang="en-US" sz="1400" dirty="0"/>
          </a:p>
          <a:p>
            <a:pPr marL="203200" indent="-203200">
              <a:spcAft>
                <a:spcPts val="800"/>
              </a:spcAft>
              <a:buSzPct val="100000"/>
              <a:buChar char="•"/>
            </a:pPr>
            <a:r>
              <a:rPr lang="en-US" sz="1400" dirty="0">
                <a:solidFill>
                  <a:srgbClr val="17253D"/>
                </a:solidFill>
              </a:rPr>
              <a:t>Risk agreement comes from the deterministic scorer; it does not prove every field is right</a:t>
            </a:r>
            <a:endParaRPr lang="en-US" sz="1400" dirty="0"/>
          </a:p>
          <a:p>
            <a:pPr marL="203200" indent="-203200">
              <a:spcAft>
                <a:spcPts val="800"/>
              </a:spcAft>
              <a:buSzPct val="100000"/>
              <a:buChar char="•"/>
            </a:pPr>
            <a:r>
              <a:rPr lang="en-US" sz="1400" dirty="0">
                <a:solidFill>
                  <a:srgbClr val="17253D"/>
                </a:solidFill>
              </a:rPr>
              <a:t>Eight synthetic cases, not a production accuracy estimate. pytest: 89 passed</a:t>
            </a:r>
            <a:endParaRPr lang="en-US" sz="14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565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411480"/>
            <a:ext cx="10908792" cy="274320"/>
          </a:xfrm>
          <a:prstGeom prst="rect">
            <a:avLst/>
          </a:prstGeom>
          <a:noFill/>
          <a:ln/>
        </p:spPr>
        <p:txBody>
          <a:bodyPr wrap="square" lIns="0" tIns="0" rIns="0" bIns="0" rtlCol="0" anchor="ctr"/>
          <a:lstStyle/>
          <a:p>
            <a:pPr indent="0" marL="0">
              <a:buNone/>
            </a:pPr>
            <a:r>
              <a:rPr lang="en-US" sz="1200" b="1" spc="300" kern="0" dirty="0">
                <a:solidFill>
                  <a:srgbClr val="C8A24A"/>
                </a:solidFill>
              </a:rPr>
              <a:t>DEPLOYMENT AND NEXT STEPS</a:t>
            </a:r>
            <a:endParaRPr lang="en-US" sz="1200" dirty="0"/>
          </a:p>
        </p:txBody>
      </p:sp>
      <p:sp>
        <p:nvSpPr>
          <p:cNvPr id="3" name="Text 1"/>
          <p:cNvSpPr/>
          <p:nvPr>
            <p:ph idx="101" type="title" hasCustomPrompt="1"/>
          </p:nvPr>
        </p:nvSpPr>
        <p:spPr>
          <a:xfrm>
            <a:off x="640080" y="777240"/>
            <a:ext cx="10908792" cy="731520"/>
          </a:xfrm>
          <a:prstGeom prst="rect">
            <a:avLst/>
          </a:prstGeom>
          <a:noFill/>
          <a:ln/>
        </p:spPr>
        <p:txBody>
          <a:bodyPr wrap="square" lIns="0" tIns="0" rIns="0" bIns="0" rtlCol="0" anchor="t"/>
          <a:lstStyle/>
          <a:p>
            <a:pPr algn="l" indent="0" marL="0">
              <a:buNone/>
            </a:pPr>
            <a:r>
              <a:rPr lang="en-US" sz="3000" b="1" dirty="0">
                <a:solidFill>
                  <a:srgbClr val="FFFFFF"/>
                </a:solidFill>
                <a:latin typeface="+mj-lt" pitchFamily="34" charset="0"/>
                <a:ea typeface="+mj-lt" pitchFamily="34" charset="-122"/>
                <a:cs typeface="+mj-lt" pitchFamily="34" charset="-120"/>
              </a:rPr>
              <a:t>Prototype-ready, with an honest path to production</a:t>
            </a:r>
            <a:endParaRPr lang="en-US" sz="3000" dirty="0"/>
          </a:p>
        </p:txBody>
      </p:sp>
      <p:sp>
        <p:nvSpPr>
          <p:cNvPr id="4" name="Column 1"/>
          <p:cNvSpPr/>
          <p:nvPr/>
        </p:nvSpPr>
        <p:spPr>
          <a:xfrm>
            <a:off x="640080" y="1783080"/>
            <a:ext cx="3392424" cy="3611880"/>
          </a:xfrm>
          <a:prstGeom prst="roundRect">
            <a:avLst>
              <a:gd name="adj" fmla="val 2156"/>
            </a:avLst>
          </a:prstGeom>
          <a:solidFill>
            <a:srgbClr val="132E55"/>
          </a:solidFill>
          <a:ln w="12700">
            <a:solidFill>
              <a:srgbClr val="9CC3F2">
                <a:alpha val="30000"/>
              </a:srgbClr>
            </a:solidFill>
            <a:prstDash val="solid"/>
          </a:ln>
        </p:spPr>
      </p:sp>
      <p:sp>
        <p:nvSpPr>
          <p:cNvPr id="5" name="Heading 1"/>
          <p:cNvSpPr txBox="1"/>
          <p:nvPr/>
        </p:nvSpPr>
        <p:spPr>
          <a:xfrm>
            <a:off x="960120" y="2039112"/>
            <a:ext cx="2752344" cy="457200"/>
          </a:xfrm>
          <a:prstGeom prst="rect">
            <a:avLst/>
          </a:prstGeom>
          <a:noFill/>
          <a:ln/>
        </p:spPr>
        <p:txBody>
          <a:bodyPr wrap="square" lIns="0" tIns="0" rIns="0" bIns="0" rtlCol="0" anchor="ctr"/>
          <a:lstStyle/>
          <a:p>
            <a:pPr indent="0" marL="0">
              <a:buNone/>
            </a:pPr>
            <a:r>
              <a:rPr lang="en-US" sz="2000" b="1" dirty="0">
                <a:solidFill>
                  <a:srgbClr val="FFFFFF"/>
                </a:solidFill>
                <a:latin typeface="+mj-lt" pitchFamily="34" charset="0"/>
                <a:ea typeface="+mj-lt" pitchFamily="34" charset="-122"/>
                <a:cs typeface="+mj-lt" pitchFamily="34" charset="-120"/>
              </a:rPr>
              <a:t>Current demo</a:t>
            </a:r>
            <a:endParaRPr lang="en-US" sz="2000" dirty="0"/>
          </a:p>
        </p:txBody>
      </p:sp>
      <p:sp>
        <p:nvSpPr>
          <p:cNvPr id="6" name="List 1"/>
          <p:cNvSpPr txBox="1"/>
          <p:nvPr/>
        </p:nvSpPr>
        <p:spPr>
          <a:xfrm>
            <a:off x="960120" y="2651760"/>
            <a:ext cx="2752344" cy="2560320"/>
          </a:xfrm>
          <a:prstGeom prst="rect">
            <a:avLst/>
          </a:prstGeom>
          <a:noFill/>
          <a:ln/>
        </p:spPr>
        <p:txBody>
          <a:bodyPr wrap="square" lIns="0" tIns="0" rIns="0" bIns="0" rtlCol="0" anchor="t"/>
          <a:lstStyle/>
          <a:p>
            <a:pPr marL="203200" indent="-203200">
              <a:spcAft>
                <a:spcPts val="1100"/>
              </a:spcAft>
              <a:buSzPct val="100000"/>
              <a:buChar char="•"/>
            </a:pPr>
            <a:r>
              <a:rPr lang="en-US" sz="1600" dirty="0">
                <a:solidFill>
                  <a:srgbClr val="E6EEF9"/>
                </a:solidFill>
              </a:rPr>
              <a:t>Docker Compose</a:t>
            </a:r>
            <a:endParaRPr lang="en-US" sz="1600" dirty="0"/>
          </a:p>
          <a:p>
            <a:pPr marL="203200" indent="-203200">
              <a:spcAft>
                <a:spcPts val="1100"/>
              </a:spcAft>
              <a:buSzPct val="100000"/>
              <a:buChar char="•"/>
            </a:pPr>
            <a:r>
              <a:rPr lang="en-US" sz="1600" dirty="0">
                <a:solidFill>
                  <a:srgbClr val="E6EEF9"/>
                </a:solidFill>
              </a:rPr>
              <a:t>SQLite named volume</a:t>
            </a:r>
            <a:endParaRPr lang="en-US" sz="1600" dirty="0"/>
          </a:p>
          <a:p>
            <a:pPr marL="203200" indent="-203200">
              <a:spcAft>
                <a:spcPts val="1100"/>
              </a:spcAft>
              <a:buSzPct val="100000"/>
              <a:buChar char="•"/>
            </a:pPr>
            <a:r>
              <a:rPr lang="en-US" sz="1600" dirty="0">
                <a:solidFill>
                  <a:srgbClr val="E6EEF9"/>
                </a:solidFill>
              </a:rPr>
              <a:t>Synthetic data only</a:t>
            </a:r>
            <a:endParaRPr lang="en-US" sz="1600" dirty="0"/>
          </a:p>
          <a:p>
            <a:pPr marL="203200" indent="-203200">
              <a:spcAft>
                <a:spcPts val="1100"/>
              </a:spcAft>
              <a:buSzPct val="100000"/>
              <a:buChar char="•"/>
            </a:pPr>
            <a:r>
              <a:rPr lang="en-US" sz="1600" dirty="0">
                <a:solidFill>
                  <a:srgbClr val="E6EEF9"/>
                </a:solidFill>
              </a:rPr>
              <a:t>OpenAI key for extraction</a:t>
            </a:r>
            <a:endParaRPr lang="en-US" sz="1600" dirty="0"/>
          </a:p>
        </p:txBody>
      </p:sp>
      <p:sp>
        <p:nvSpPr>
          <p:cNvPr id="7" name="Column 2"/>
          <p:cNvSpPr/>
          <p:nvPr/>
        </p:nvSpPr>
        <p:spPr>
          <a:xfrm>
            <a:off x="4398264" y="1783080"/>
            <a:ext cx="3392424" cy="3611880"/>
          </a:xfrm>
          <a:prstGeom prst="roundRect">
            <a:avLst>
              <a:gd name="adj" fmla="val 2156"/>
            </a:avLst>
          </a:prstGeom>
          <a:solidFill>
            <a:srgbClr val="132E55"/>
          </a:solidFill>
          <a:ln w="12700">
            <a:solidFill>
              <a:srgbClr val="9CC3F2">
                <a:alpha val="30000"/>
              </a:srgbClr>
            </a:solidFill>
            <a:prstDash val="solid"/>
          </a:ln>
        </p:spPr>
      </p:sp>
      <p:sp>
        <p:nvSpPr>
          <p:cNvPr id="8" name="Heading 2"/>
          <p:cNvSpPr txBox="1"/>
          <p:nvPr/>
        </p:nvSpPr>
        <p:spPr>
          <a:xfrm>
            <a:off x="4718304" y="2039112"/>
            <a:ext cx="2752344" cy="457200"/>
          </a:xfrm>
          <a:prstGeom prst="rect">
            <a:avLst/>
          </a:prstGeom>
          <a:noFill/>
          <a:ln/>
        </p:spPr>
        <p:txBody>
          <a:bodyPr wrap="square" lIns="0" tIns="0" rIns="0" bIns="0" rtlCol="0" anchor="ctr"/>
          <a:lstStyle/>
          <a:p>
            <a:pPr indent="0" marL="0">
              <a:buNone/>
            </a:pPr>
            <a:r>
              <a:rPr lang="en-US" sz="2000" b="1" dirty="0">
                <a:solidFill>
                  <a:srgbClr val="FFFFFF"/>
                </a:solidFill>
                <a:latin typeface="+mj-lt" pitchFamily="34" charset="0"/>
                <a:ea typeface="+mj-lt" pitchFamily="34" charset="-122"/>
                <a:cs typeface="+mj-lt" pitchFamily="34" charset="-120"/>
              </a:rPr>
              <a:t>Free-first target</a:t>
            </a:r>
            <a:endParaRPr lang="en-US" sz="2000" dirty="0"/>
          </a:p>
        </p:txBody>
      </p:sp>
      <p:sp>
        <p:nvSpPr>
          <p:cNvPr id="9" name="List 2"/>
          <p:cNvSpPr txBox="1"/>
          <p:nvPr/>
        </p:nvSpPr>
        <p:spPr>
          <a:xfrm>
            <a:off x="4718304" y="2651760"/>
            <a:ext cx="2752344" cy="2560320"/>
          </a:xfrm>
          <a:prstGeom prst="rect">
            <a:avLst/>
          </a:prstGeom>
          <a:noFill/>
          <a:ln/>
        </p:spPr>
        <p:txBody>
          <a:bodyPr wrap="square" lIns="0" tIns="0" rIns="0" bIns="0" rtlCol="0" anchor="t"/>
          <a:lstStyle/>
          <a:p>
            <a:pPr marL="203200" indent="-203200">
              <a:spcAft>
                <a:spcPts val="1100"/>
              </a:spcAft>
              <a:buSzPct val="100000"/>
              <a:buChar char="•"/>
            </a:pPr>
            <a:r>
              <a:rPr lang="en-US" sz="1600" dirty="0">
                <a:solidFill>
                  <a:srgbClr val="E6EEF9"/>
                </a:solidFill>
              </a:rPr>
              <a:t>Ollama adapter</a:t>
            </a:r>
            <a:endParaRPr lang="en-US" sz="1600" dirty="0"/>
          </a:p>
          <a:p>
            <a:pPr marL="203200" indent="-203200">
              <a:spcAft>
                <a:spcPts val="1100"/>
              </a:spcAft>
              <a:buSzPct val="100000"/>
              <a:buChar char="•"/>
            </a:pPr>
            <a:r>
              <a:rPr lang="en-US" sz="1600" dirty="0">
                <a:solidFill>
                  <a:srgbClr val="E6EEF9"/>
                </a:solidFill>
              </a:rPr>
              <a:t>PostgreSQL and MinIO</a:t>
            </a:r>
            <a:endParaRPr lang="en-US" sz="1600" dirty="0"/>
          </a:p>
          <a:p>
            <a:pPr marL="203200" indent="-203200">
              <a:spcAft>
                <a:spcPts val="1100"/>
              </a:spcAft>
              <a:buSzPct val="100000"/>
              <a:buChar char="•"/>
            </a:pPr>
            <a:r>
              <a:rPr lang="en-US" sz="1600" dirty="0">
                <a:solidFill>
                  <a:srgbClr val="E6EEF9"/>
                </a:solidFill>
              </a:rPr>
              <a:t>Redis worker</a:t>
            </a:r>
            <a:endParaRPr lang="en-US" sz="1600" dirty="0"/>
          </a:p>
          <a:p>
            <a:pPr marL="203200" indent="-203200">
              <a:spcAft>
                <a:spcPts val="1100"/>
              </a:spcAft>
              <a:buSzPct val="100000"/>
              <a:buChar char="•"/>
            </a:pPr>
            <a:r>
              <a:rPr lang="en-US" sz="1600" dirty="0">
                <a:solidFill>
                  <a:srgbClr val="E6EEF9"/>
                </a:solidFill>
              </a:rPr>
              <a:t>Prometheus and Grafana</a:t>
            </a:r>
            <a:endParaRPr lang="en-US" sz="1600" dirty="0"/>
          </a:p>
        </p:txBody>
      </p:sp>
      <p:sp>
        <p:nvSpPr>
          <p:cNvPr id="10" name="Column 3"/>
          <p:cNvSpPr/>
          <p:nvPr/>
        </p:nvSpPr>
        <p:spPr>
          <a:xfrm>
            <a:off x="8156448" y="1783080"/>
            <a:ext cx="3392424" cy="3611880"/>
          </a:xfrm>
          <a:prstGeom prst="roundRect">
            <a:avLst>
              <a:gd name="adj" fmla="val 2156"/>
            </a:avLst>
          </a:prstGeom>
          <a:solidFill>
            <a:srgbClr val="132E55"/>
          </a:solidFill>
          <a:ln w="12700">
            <a:solidFill>
              <a:srgbClr val="C8A24A">
                <a:alpha val="70000"/>
              </a:srgbClr>
            </a:solidFill>
            <a:prstDash val="solid"/>
          </a:ln>
        </p:spPr>
      </p:sp>
      <p:sp>
        <p:nvSpPr>
          <p:cNvPr id="11" name="Heading 3"/>
          <p:cNvSpPr txBox="1"/>
          <p:nvPr/>
        </p:nvSpPr>
        <p:spPr>
          <a:xfrm>
            <a:off x="8476488" y="2039112"/>
            <a:ext cx="2752344" cy="457200"/>
          </a:xfrm>
          <a:prstGeom prst="rect">
            <a:avLst/>
          </a:prstGeom>
          <a:noFill/>
          <a:ln/>
        </p:spPr>
        <p:txBody>
          <a:bodyPr wrap="square" lIns="0" tIns="0" rIns="0" bIns="0" rtlCol="0" anchor="ctr"/>
          <a:lstStyle/>
          <a:p>
            <a:pPr indent="0" marL="0">
              <a:buNone/>
            </a:pPr>
            <a:r>
              <a:rPr lang="en-US" sz="2000" b="1" dirty="0">
                <a:solidFill>
                  <a:srgbClr val="C8A24A"/>
                </a:solidFill>
                <a:latin typeface="+mj-lt" pitchFamily="34" charset="0"/>
                <a:ea typeface="+mj-lt" pitchFamily="34" charset="-122"/>
                <a:cs typeface="+mj-lt" pitchFamily="34" charset="-120"/>
              </a:rPr>
              <a:t>Production gate</a:t>
            </a:r>
            <a:endParaRPr lang="en-US" sz="2000" dirty="0"/>
          </a:p>
        </p:txBody>
      </p:sp>
      <p:sp>
        <p:nvSpPr>
          <p:cNvPr id="12" name="List 3"/>
          <p:cNvSpPr txBox="1"/>
          <p:nvPr/>
        </p:nvSpPr>
        <p:spPr>
          <a:xfrm>
            <a:off x="8476488" y="2651760"/>
            <a:ext cx="2752344" cy="2560320"/>
          </a:xfrm>
          <a:prstGeom prst="rect">
            <a:avLst/>
          </a:prstGeom>
          <a:noFill/>
          <a:ln/>
        </p:spPr>
        <p:txBody>
          <a:bodyPr wrap="square" lIns="0" tIns="0" rIns="0" bIns="0" rtlCol="0" anchor="t"/>
          <a:lstStyle/>
          <a:p>
            <a:pPr marL="203200" indent="-203200">
              <a:spcAft>
                <a:spcPts val="1100"/>
              </a:spcAft>
              <a:buSzPct val="100000"/>
              <a:buChar char="•"/>
            </a:pPr>
            <a:r>
              <a:rPr lang="en-US" sz="1600" dirty="0">
                <a:solidFill>
                  <a:srgbClr val="E6EEF9"/>
                </a:solidFill>
              </a:rPr>
              <a:t>Real identity + hardened access</a:t>
            </a:r>
            <a:endParaRPr lang="en-US" sz="1600" dirty="0"/>
          </a:p>
          <a:p>
            <a:pPr marL="203200" indent="-203200">
              <a:spcAft>
                <a:spcPts val="1100"/>
              </a:spcAft>
              <a:buSzPct val="100000"/>
              <a:buChar char="•"/>
            </a:pPr>
            <a:r>
              <a:rPr lang="en-US" sz="1600" dirty="0">
                <a:solidFill>
                  <a:srgbClr val="E6EEF9"/>
                </a:solidFill>
              </a:rPr>
              <a:t>Approved rules + residual-risk controls</a:t>
            </a:r>
            <a:endParaRPr lang="en-US" sz="1600" dirty="0"/>
          </a:p>
          <a:p>
            <a:pPr marL="203200" indent="-203200">
              <a:spcAft>
                <a:spcPts val="1100"/>
              </a:spcAft>
              <a:buSzPct val="100000"/>
              <a:buChar char="•"/>
            </a:pPr>
            <a:r>
              <a:rPr lang="en-US" sz="1600" dirty="0">
                <a:solidFill>
                  <a:srgbClr val="E6EEF9"/>
                </a:solidFill>
              </a:rPr>
              <a:t>Protected storage + external audit anchor</a:t>
            </a:r>
            <a:endParaRPr lang="en-US" sz="1600" dirty="0"/>
          </a:p>
          <a:p>
            <a:pPr marL="203200" indent="-203200">
              <a:spcAft>
                <a:spcPts val="1100"/>
              </a:spcAft>
              <a:buSzPct val="100000"/>
              <a:buChar char="•"/>
            </a:pPr>
            <a:r>
              <a:rPr lang="en-US" sz="1600" dirty="0">
                <a:solidFill>
                  <a:srgbClr val="E6EEF9"/>
                </a:solidFill>
              </a:rPr>
              <a:t>Migrations, backups, alerts, rollback</a:t>
            </a:r>
            <a:endParaRPr lang="en-US" sz="1600" dirty="0"/>
          </a:p>
        </p:txBody>
      </p:sp>
      <p:sp>
        <p:nvSpPr>
          <p:cNvPr id="13" name="Closing tagline"/>
          <p:cNvSpPr txBox="1"/>
          <p:nvPr/>
        </p:nvSpPr>
        <p:spPr>
          <a:xfrm>
            <a:off x="640080" y="5532120"/>
            <a:ext cx="10908792" cy="640080"/>
          </a:xfrm>
          <a:prstGeom prst="rect">
            <a:avLst/>
          </a:prstGeom>
          <a:noFill/>
          <a:ln/>
        </p:spPr>
        <p:txBody>
          <a:bodyPr wrap="square" lIns="0" tIns="0" rIns="0" bIns="0" rtlCol="0" anchor="ctr"/>
          <a:lstStyle/>
          <a:p>
            <a:pPr indent="0" marL="0">
              <a:buNone/>
            </a:pPr>
            <a:r>
              <a:rPr lang="en-US" sz="2000" b="1" dirty="0">
                <a:solidFill>
                  <a:srgbClr val="C8A24A"/>
                </a:solidFill>
                <a:latin typeface="+mj-lt" pitchFamily="34" charset="0"/>
                <a:ea typeface="+mj-lt" pitchFamily="34" charset="-122"/>
                <a:cs typeface="+mj-lt" pitchFamily="34" charset="-120"/>
              </a:rPr>
              <a:t>Prepare evidence. Preserve disagreement. Keep humans accountable.</a:t>
            </a:r>
            <a:endParaRPr lang="en-US" sz="2000" dirty="0"/>
          </a:p>
        </p:txBody>
      </p:sp>
      <p:sp>
        <p:nvSpPr>
          <p:cNvPr id="25" name="Slide Number Placeholder 0"/>
          <p:cNvSpPr>
            <a:spLocks noGrp="1"/>
          </p:cNvSpPr>
          <p:nvPr>
            <p:ph type="sldNum" sz="quarter" idx="4294967295"/>
          </p:nvPr>
        </p:nvSpPr>
        <p:spPr>
          <a:xfrm>
            <a:off x="10881360" y="6355080"/>
            <a:ext cx="66751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CC3F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Governance Navy">
  <a:themeElements>
    <a:clrScheme name="Governance Navy">
      <a:dk1>
        <a:srgbClr val="17253D"/>
      </a:dk1>
      <a:lt1>
        <a:srgbClr val="FFFFFF"/>
      </a:lt1>
      <a:dk2>
        <a:srgbClr val="0A1B34"/>
      </a:dk2>
      <a:lt2>
        <a:srgbClr val="EEF3FA"/>
      </a:lt2>
      <a:accent1>
        <a:srgbClr val="1F4E9C"/>
      </a:accent1>
      <a:accent2>
        <a:srgbClr val="C8A24A"/>
      </a:accent2>
      <a:accent3>
        <a:srgbClr val="9CC3F2"/>
      </a:accent3>
      <a:accent4>
        <a:srgbClr val="132E55"/>
      </a:accent4>
      <a:accent5>
        <a:srgbClr val="55657D"/>
      </a:accent5>
      <a:accent6>
        <a:srgbClr val="4A86D8"/>
      </a:accent6>
      <a:hlink>
        <a:srgbClr val="1F4E9C"/>
      </a:hlink>
      <a:folHlink>
        <a:srgbClr val="55657D"/>
      </a:folHlink>
    </a:clrScheme>
    <a:fontScheme name="Governance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Assessment Workbench - Genius Hacks 2026</dc:title>
  <dc:subject>PptxGenJS Presentation</dc:subject>
  <dc:creator>PptxGenJS</dc:creator>
  <cp:lastModifiedBy>PptxGenJS</cp:lastModifiedBy>
  <cp:revision>1</cp:revision>
  <dcterms:created xsi:type="dcterms:W3CDTF">2026-10-21T11:19:05Z</dcterms:created>
  <dcterms:modified xsi:type="dcterms:W3CDTF">2026-10-21T11:19:05Z</dcterms:modified>
</cp:coreProperties>
</file>