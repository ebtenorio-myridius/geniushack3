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600" b="0">
                <a:solidFill>
                  <a:srgbClr val="0A1B34"/>
                </a:solidFill>
                <a:latin typeface="Calibri"/>
              </a:rPr>
              <a:t>Category weight in the risk score (%)</a:t>
            </a:r>
          </a:p>
        </c:rich>
      </c:tx>
      <c:layout/>
      <c:overlay val="0"/>
    </c:title>
    <c:autoTitleDeleted val="0"/>
    <c:plotArea>
      <c:barChart>
        <c:barDir val="bar"/>
        <c:grouping val="clustered"/>
        <c:ser>
          <c:idx val="0"/>
          <c:order val="0"/>
          <c:tx>
            <c:strRef>
              <c:f>Sheet1!$B$1</c:f>
              <c:strCache>
                <c:ptCount val="1"/>
                <c:pt idx="0">
                  <c:v>Weight (%)</c:v>
                </c:pt>
              </c:strCache>
            </c:strRef>
          </c:tx>
          <c:dPt>
            <c:idx val="0"/>
            <c:spPr>
              <a:solidFill>
                <a:srgbClr val="0A1B34"/>
              </a:solidFill>
            </c:spPr>
          </c:dPt>
          <c:dPt>
            <c:idx val="1"/>
            <c:spPr>
              <a:solidFill>
                <a:srgbClr val="1F4E9C"/>
              </a:solidFill>
            </c:spPr>
          </c:dPt>
          <c:dPt>
            <c:idx val="2"/>
            <c:spPr>
              <a:solidFill>
                <a:srgbClr val="4A86D8"/>
              </a:solidFill>
            </c:spPr>
          </c:dPt>
          <c:dPt>
            <c:idx val="3"/>
            <c:spPr>
              <a:solidFill>
                <a:srgbClr val="9CC3F2"/>
              </a:solidFill>
            </c:spPr>
          </c:dPt>
          <c:cat>
            <c:strRef>
              <c:f>Sheet1!$A$2:$A$5</c:f>
              <c:strCache>
                <c:ptCount val="4"/>
                <c:pt idx="0">
                  <c:v>Customer + geography</c:v>
                </c:pt>
                <c:pt idx="1">
                  <c:v>Product + channel</c:v>
                </c:pt>
                <c:pt idx="2">
                  <c:v>Third party</c:v>
                </c:pt>
                <c:pt idx="3">
                  <c:v>Complexity</c:v>
                </c:pt>
              </c:strCache>
            </c:strRef>
          </c:cat>
          <c:val>
            <c:numRef>
              <c:f>Sheet1!$B$2:$B$5</c:f>
              <c:numCache>
                <c:formatCode>General</c:formatCode>
                <c:ptCount val="4"/>
                <c:pt idx="0">
                  <c:v>35</c:v>
                </c:pt>
                <c:pt idx="1">
                  <c:v>30</c:v>
                </c:pt>
                <c:pt idx="2">
                  <c:v>20</c:v>
                </c:pt>
                <c:pt idx="3">
                  <c:v>15</c:v>
                </c:pt>
              </c:numCache>
            </c:numRef>
          </c:val>
        </c:ser>
        <c:dLbls>
          <c:numFmt formatCode="0" sourceLinked="0"/>
          <c:txPr>
            <a:bodyPr/>
            <a:lstStyle/>
            <a:p>
              <a:pPr>
                <a:defRPr sz="1400">
                  <a:solidFill>
                    <a:srgbClr val="17253D"/>
                  </a:solidFill>
                  <a:latin typeface="Calibri"/>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D5DDEA"/>
            </a:solidFill>
          </a:ln>
        </c:spPr>
        <c:txPr>
          <a:bodyPr/>
          <a:lstStyle/>
          <a:p>
            <a:pPr>
              <a:defRPr sz="1400">
                <a:solidFill>
                  <a:srgbClr val="17253D"/>
                </a:solidFill>
                <a:latin typeface="Calibri"/>
              </a:defRPr>
            </a:pPr>
          </a:p>
        </c:txPr>
        <c:crossAx val="-2113994440"/>
        <c:crosses val="autoZero"/>
        <c:auto val="1"/>
        <c:lblAlgn val="ctr"/>
        <c:lblOffset val="100"/>
        <c:noMultiLvlLbl val="0"/>
      </c:catAx>
      <c:valAx>
        <c:axId val="-2113994440"/>
        <c:scaling>
          <c:max val="40.0"/>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600" b="0">
                <a:solidFill>
                  <a:srgbClr val="0A1B34"/>
                </a:solidFill>
                <a:latin typeface="Calibri"/>
              </a:rPr>
              <a:t>Field accuracy by synthetic case (%)</a:t>
            </a:r>
          </a:p>
        </c:rich>
      </c:tx>
      <c:layout/>
      <c:overlay val="0"/>
    </c:title>
    <c:autoTitleDeleted val="0"/>
    <c:plotArea>
      <c:barChart>
        <c:barDir val="col"/>
        <c:grouping val="clustered"/>
        <c:ser>
          <c:idx val="0"/>
          <c:order val="0"/>
          <c:tx>
            <c:strRef>
              <c:f>Sheet1!$B$1</c:f>
              <c:strCache>
                <c:ptCount val="1"/>
                <c:pt idx="0">
                  <c:v>Field accuracy (%)</c:v>
                </c:pt>
              </c:strCache>
            </c:strRef>
          </c:tx>
          <c:spPr>
            <a:solidFill>
              <a:srgbClr val="1F4E9C"/>
            </a:solidFill>
          </c:spPr>
          <c:cat>
            <c:strRef>
              <c:f>Sheet1!$A$2:$A$9</c:f>
              <c:strCache>
                <c:ptCount val="8"/>
                <c:pt idx="0">
                  <c:v>001</c:v>
                </c:pt>
                <c:pt idx="1">
                  <c:v>002</c:v>
                </c:pt>
                <c:pt idx="2">
                  <c:v>003</c:v>
                </c:pt>
                <c:pt idx="3">
                  <c:v>004</c:v>
                </c:pt>
                <c:pt idx="4">
                  <c:v>005</c:v>
                </c:pt>
                <c:pt idx="5">
                  <c:v>006</c:v>
                </c:pt>
                <c:pt idx="6">
                  <c:v>007</c:v>
                </c:pt>
                <c:pt idx="7">
                  <c:v>008</c:v>
                </c:pt>
              </c:strCache>
            </c:strRef>
          </c:cat>
          <c:val>
            <c:numRef>
              <c:f>Sheet1!$B$2:$B$9</c:f>
              <c:numCache>
                <c:formatCode>General</c:formatCode>
                <c:ptCount val="8"/>
                <c:pt idx="0">
                  <c:v>100</c:v>
                </c:pt>
                <c:pt idx="1">
                  <c:v>100</c:v>
                </c:pt>
                <c:pt idx="2">
                  <c:v>100</c:v>
                </c:pt>
                <c:pt idx="3">
                  <c:v>100</c:v>
                </c:pt>
                <c:pt idx="4">
                  <c:v>100</c:v>
                </c:pt>
                <c:pt idx="5">
                  <c:v>100</c:v>
                </c:pt>
                <c:pt idx="6">
                  <c:v>100</c:v>
                </c:pt>
                <c:pt idx="7">
                  <c:v>100</c:v>
                </c:pt>
              </c:numCache>
            </c:numRef>
          </c:val>
        </c:ser>
        <c:dLbls>
          <c:numFmt formatCode="0" sourceLinked="0"/>
          <c:txPr>
            <a:bodyPr/>
            <a:lstStyle/>
            <a:p>
              <a:pPr>
                <a:defRPr sz="1400">
                  <a:solidFill>
                    <a:srgbClr val="17253D"/>
                  </a:solidFill>
                  <a:latin typeface="Calibri"/>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b"/>
        <c:majorTickMark val="out"/>
        <c:minorTickMark val="none"/>
        <c:tickLblPos val="nextTo"/>
        <c:spPr>
          <a:ln>
            <a:solidFill>
              <a:srgbClr val="D5DDEA"/>
            </a:solidFill>
          </a:ln>
        </c:spPr>
        <c:txPr>
          <a:bodyPr/>
          <a:lstStyle/>
          <a:p>
            <a:pPr>
              <a:defRPr sz="1400">
                <a:solidFill>
                  <a:srgbClr val="17253D"/>
                </a:solidFill>
                <a:latin typeface="Calibri"/>
              </a:defRPr>
            </a:pPr>
          </a:p>
        </c:txPr>
        <c:crossAx val="-2113994440"/>
        <c:crosses val="autoZero"/>
        <c:auto val="1"/>
        <c:lblAlgn val="ctr"/>
        <c:lblOffset val="100"/>
        <c:noMultiLvlLbl val="0"/>
      </c:catAx>
      <c:valAx>
        <c:axId val="-2113994440"/>
        <c:scaling>
          <c:max val="125.0"/>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0:00-0:20. One-sentence pitch: the system prepares the evidence, humans make the decision. Introduce the team and roles.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0:20-0:50. Attribute the 15-20 business-day current-state figure to the brief and the two-day figure to the brief's target; neither is a measured app result. State the design stance: nothing is automatically approved or rejected.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0:50-1:30. The brief describes scattered evidence, inconsistent decisions, and a slow review path. The expanded specification names the users, states, acceptance criteria, scope decisions, and unresolved assumptions. The brief's two-day target is not an application result.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1:30-2:10. Walk the pipeline left to right. Extraction is a probabilistic problem, scoring is not, so scoring is plain Python a committee can reproduce. This is the engineering-judgement answer.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2:10-3:00. Context management: untrusted-document boundary, schema-constrained output, versioned prompts. Orchestration is a bounded single extraction call, followed by deterministic scoring and policy lookup. If asked why no multi-agent orchestration: one narrow extraction step does not need it, and every extra agent is another probabilistic step to govern and evaluate.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2:50-3:30. Deterministic versus probabilistic, justified. Be upfront that the weights are a prototype choice awaiting FCRM approval.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3:30-4:15. One line per stage, naming the artifact: docs/requirements, docs/architecture, src and ai, tests and evals, ops. Point to docs/sdlc/ai-delivery-evidence.md. Move fast; the repo carries the detail.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4:15-5:15. Every risk level goes through analyst review before committee decision. Explain the resume-after-information-request path and that conditions must be evidenced before analyst closure. The event hash chain and examiner export help reconstruct the record but are not immutable against a database owner.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5:00-7:30 (about 2.5 minutes). Owner uploads, checks required draft fields, and submits. The analyst verifies/corrects with source citations, finalizes, and submits to committee. Use three separate committee identities. For a conditional outcome, show owner evidence followed by analyst closure; end with audit verification/export. If the provider is unavailable, use the recorded evaluation and local tests without implying offline extraction.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7:30-8:20. Quote the values generated from the latest recorded PDF evaluation and state that this is only eight synthetic cases. Risk agreement comes from deterministic scoring and does not establish field accuracy.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8:20-9:10. Describe the concrete failure behavior: invalid or textless PDFs fail before case creation, provider failure is visible with no offline extraction fallback, and transient errors receive bounded retries. Then point to selected commits as a trace of evolving prompts, workflow alignment, and delivery evidence, not as proof of complete SDLC automation.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9:10-9:45. The input is capped at 12,000 characters, which is not a token guarantee. Provider usage metadata captures input/output tokens when returned; the recorded PDF evaluation does not include token totals or per-case cost. One small model and one bounded extraction step are the current efficiency choices. Do not claim savings. The next experiment is a prompt/context comparison scored on both field accuracy and measured provider usage, including retries.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9:45-10:00. Close on the tagline, then stop on time. Leave Q&amp;A for the decisions: why deterministic scoring, why no multi-agent orchestration, why field accuracy and risk agreement differ, and what is needed for measured token efficiency.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chart" Target="../charts/char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B34"/>
        </a:solidFill>
        <a:effectLst/>
      </p:bgPr>
    </p:bg>
    <p:spTree>
      <p:nvGrpSpPr>
        <p:cNvPr id="1" name=""/>
        <p:cNvGrpSpPr/>
        <p:nvPr/>
      </p:nvGrpSpPr>
      <p:grpSpPr/>
      <p:sp>
        <p:nvSpPr>
          <p:cNvPr id="2" name="Oval 1"/>
          <p:cNvSpPr/>
          <p:nvPr/>
        </p:nvSpPr>
        <p:spPr>
          <a:xfrm>
            <a:off x="9326880" y="5394960"/>
            <a:ext cx="3657600" cy="3657600"/>
          </a:xfrm>
          <a:prstGeom prst="ellipse">
            <a:avLst/>
          </a:prstGeom>
          <a:noFill/>
          <a:ln w="12700">
            <a:solidFill>
              <a:srgbClr val="9CC3F2">
                <a:alpha val="200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Oval 2"/>
          <p:cNvSpPr/>
          <p:nvPr/>
        </p:nvSpPr>
        <p:spPr>
          <a:xfrm>
            <a:off x="8321040" y="4389120"/>
            <a:ext cx="5669280" cy="5669280"/>
          </a:xfrm>
          <a:prstGeom prst="ellipse">
            <a:avLst/>
          </a:prstGeom>
          <a:noFill/>
          <a:ln w="12700">
            <a:solidFill>
              <a:srgbClr val="9CC3F2">
                <a:alpha val="240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Oval 3"/>
          <p:cNvSpPr/>
          <p:nvPr/>
        </p:nvSpPr>
        <p:spPr>
          <a:xfrm>
            <a:off x="7315199" y="3383280"/>
            <a:ext cx="7680960" cy="7680960"/>
          </a:xfrm>
          <a:prstGeom prst="ellipse">
            <a:avLst/>
          </a:prstGeom>
          <a:noFill/>
          <a:ln w="12700">
            <a:solidFill>
              <a:srgbClr val="9CC3F2">
                <a:alpha val="280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822960" y="1234440"/>
            <a:ext cx="5943600" cy="365760"/>
          </a:xfrm>
          <a:prstGeom prst="rect">
            <a:avLst/>
          </a:prstGeom>
          <a:noFill/>
        </p:spPr>
        <p:txBody>
          <a:bodyPr wrap="square" lIns="0" rIns="0" tIns="0" bIns="0" anchor="t">
            <a:spAutoFit/>
          </a:bodyPr>
          <a:lstStyle/>
          <a:p>
            <a:pPr algn="l"/>
            <a:r>
              <a:rPr sz="1600" b="1" i="0" spc="500">
                <a:solidFill>
                  <a:srgbClr val="C8A24A"/>
                </a:solidFill>
                <a:latin typeface="Calibri"/>
              </a:rPr>
              <a:t>GENIUS HACKS 2026</a:t>
            </a:r>
          </a:p>
        </p:txBody>
      </p:sp>
      <p:sp>
        <p:nvSpPr>
          <p:cNvPr id="6" name="TextBox 5"/>
          <p:cNvSpPr txBox="1"/>
          <p:nvPr/>
        </p:nvSpPr>
        <p:spPr>
          <a:xfrm>
            <a:off x="822960" y="1828800"/>
            <a:ext cx="6035040" cy="2011680"/>
          </a:xfrm>
          <a:prstGeom prst="rect">
            <a:avLst/>
          </a:prstGeom>
          <a:noFill/>
        </p:spPr>
        <p:txBody>
          <a:bodyPr wrap="square" lIns="0" rIns="0" tIns="0" bIns="0" anchor="t">
            <a:spAutoFit/>
          </a:bodyPr>
          <a:lstStyle/>
          <a:p>
            <a:pPr algn="l"/>
            <a:r>
              <a:rPr sz="4800" b="1" i="0">
                <a:solidFill>
                  <a:srgbClr val="FFFFFF"/>
                </a:solidFill>
                <a:latin typeface="Arial"/>
              </a:rPr>
              <a:t>Risk Assessment Workbench</a:t>
            </a:r>
          </a:p>
        </p:txBody>
      </p:sp>
      <p:sp>
        <p:nvSpPr>
          <p:cNvPr id="7" name="TextBox 6"/>
          <p:cNvSpPr txBox="1"/>
          <p:nvPr/>
        </p:nvSpPr>
        <p:spPr>
          <a:xfrm>
            <a:off x="822960" y="4069080"/>
            <a:ext cx="5669280" cy="914400"/>
          </a:xfrm>
          <a:prstGeom prst="rect">
            <a:avLst/>
          </a:prstGeom>
          <a:noFill/>
        </p:spPr>
        <p:txBody>
          <a:bodyPr wrap="square" lIns="0" rIns="0" tIns="0" bIns="0" anchor="t">
            <a:spAutoFit/>
          </a:bodyPr>
          <a:lstStyle/>
          <a:p>
            <a:pPr algn="l"/>
            <a:r>
              <a:rPr sz="2200" b="0" i="0">
                <a:solidFill>
                  <a:srgbClr val="D6E4F7"/>
                </a:solidFill>
                <a:latin typeface="Calibri"/>
              </a:rPr>
              <a:t>From an unstructured change request to a governed, reviewable risk decision.</a:t>
            </a:r>
          </a:p>
        </p:txBody>
      </p:sp>
      <p:sp>
        <p:nvSpPr>
          <p:cNvPr id="8" name="TextBox 7"/>
          <p:cNvSpPr txBox="1"/>
          <p:nvPr/>
        </p:nvSpPr>
        <p:spPr>
          <a:xfrm>
            <a:off x="822960" y="5943600"/>
            <a:ext cx="6400800" cy="320040"/>
          </a:xfrm>
          <a:prstGeom prst="rect">
            <a:avLst/>
          </a:prstGeom>
          <a:noFill/>
        </p:spPr>
        <p:txBody>
          <a:bodyPr wrap="square" lIns="0" rIns="0" tIns="0" bIns="0" anchor="t">
            <a:spAutoFit/>
          </a:bodyPr>
          <a:lstStyle/>
          <a:p>
            <a:pPr algn="l"/>
            <a:r>
              <a:rPr sz="1400" b="0" i="0">
                <a:solidFill>
                  <a:srgbClr val="9CC3F2"/>
                </a:solidFill>
                <a:latin typeface="Calibri"/>
              </a:rPr>
              <a:t>A synthetic-data vertical slice for financial crimes risk management</a:t>
            </a:r>
          </a:p>
        </p:txBody>
      </p:sp>
      <p:sp>
        <p:nvSpPr>
          <p:cNvPr id="9" name="Rounded Rectangle 8"/>
          <p:cNvSpPr/>
          <p:nvPr/>
        </p:nvSpPr>
        <p:spPr>
          <a:xfrm>
            <a:off x="7315200" y="1097280"/>
            <a:ext cx="4114800" cy="4572000"/>
          </a:xfrm>
          <a:prstGeom prst="roundRect">
            <a:avLst>
              <a:gd name="adj" fmla="val 2222"/>
            </a:avLst>
          </a:prstGeom>
          <a:solidFill>
            <a:srgbClr val="132E55"/>
          </a:solidFill>
          <a:ln w="9525">
            <a:solidFill>
              <a:srgbClr val="C8A24A">
                <a:alpha val="450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680960" y="1325880"/>
            <a:ext cx="3383280" cy="1188720"/>
          </a:xfrm>
          <a:prstGeom prst="rect">
            <a:avLst/>
          </a:prstGeom>
          <a:noFill/>
        </p:spPr>
        <p:txBody>
          <a:bodyPr wrap="square" lIns="0" rIns="0" tIns="0" bIns="0" anchor="ctr">
            <a:spAutoFit/>
          </a:bodyPr>
          <a:lstStyle/>
          <a:p>
            <a:pPr algn="l"/>
            <a:r>
              <a:rPr sz="2600" b="1" i="0">
                <a:solidFill>
                  <a:srgbClr val="FFFFFF"/>
                </a:solidFill>
                <a:latin typeface="Arial"/>
              </a:rPr>
              <a:t>Prepare evidence.</a:t>
            </a:r>
          </a:p>
        </p:txBody>
      </p:sp>
      <p:cxnSp>
        <p:nvCxnSpPr>
          <p:cNvPr id="11" name="Connector 10"/>
          <p:cNvCxnSpPr/>
          <p:nvPr/>
        </p:nvCxnSpPr>
        <p:spPr>
          <a:xfrm>
            <a:off x="7680960" y="2606039"/>
            <a:ext cx="1097280" cy="0"/>
          </a:xfrm>
          <a:prstGeom prst="line">
            <a:avLst/>
          </a:prstGeom>
          <a:ln w="19050">
            <a:solidFill>
              <a:srgbClr val="C8A24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680960" y="2697480"/>
            <a:ext cx="3383280" cy="1188720"/>
          </a:xfrm>
          <a:prstGeom prst="rect">
            <a:avLst/>
          </a:prstGeom>
          <a:noFill/>
        </p:spPr>
        <p:txBody>
          <a:bodyPr wrap="square" lIns="0" rIns="0" tIns="0" bIns="0" anchor="ctr">
            <a:spAutoFit/>
          </a:bodyPr>
          <a:lstStyle/>
          <a:p>
            <a:pPr algn="l"/>
            <a:r>
              <a:rPr sz="2600" b="1" i="0">
                <a:solidFill>
                  <a:srgbClr val="FFFFFF"/>
                </a:solidFill>
                <a:latin typeface="Arial"/>
              </a:rPr>
              <a:t>Preserve disagreement.</a:t>
            </a:r>
          </a:p>
        </p:txBody>
      </p:sp>
      <p:cxnSp>
        <p:nvCxnSpPr>
          <p:cNvPr id="13" name="Connector 12"/>
          <p:cNvCxnSpPr/>
          <p:nvPr/>
        </p:nvCxnSpPr>
        <p:spPr>
          <a:xfrm>
            <a:off x="7680960" y="3977639"/>
            <a:ext cx="1097280" cy="0"/>
          </a:xfrm>
          <a:prstGeom prst="line">
            <a:avLst/>
          </a:prstGeom>
          <a:ln w="19050">
            <a:solidFill>
              <a:srgbClr val="C8A24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680960" y="4069080"/>
            <a:ext cx="3383280" cy="1188720"/>
          </a:xfrm>
          <a:prstGeom prst="rect">
            <a:avLst/>
          </a:prstGeom>
          <a:noFill/>
        </p:spPr>
        <p:txBody>
          <a:bodyPr wrap="square" lIns="0" rIns="0" tIns="0" bIns="0" anchor="ctr">
            <a:spAutoFit/>
          </a:bodyPr>
          <a:lstStyle/>
          <a:p>
            <a:pPr algn="l"/>
            <a:r>
              <a:rPr sz="2600" b="1" i="0">
                <a:solidFill>
                  <a:srgbClr val="FFFFFF"/>
                </a:solidFill>
                <a:latin typeface="Arial"/>
              </a:rPr>
              <a:t>Keep humans accountable.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08792" cy="274320"/>
          </a:xfrm>
          <a:prstGeom prst="rect">
            <a:avLst/>
          </a:prstGeom>
          <a:noFill/>
        </p:spPr>
        <p:txBody>
          <a:bodyPr wrap="square" lIns="0" rIns="0" tIns="0" bIns="0" anchor="ctr">
            <a:spAutoFit/>
          </a:bodyPr>
          <a:lstStyle/>
          <a:p>
            <a:pPr algn="l"/>
            <a:r>
              <a:rPr sz="1200" b="1" i="0" spc="300">
                <a:solidFill>
                  <a:srgbClr val="8A6A1F"/>
                </a:solidFill>
                <a:latin typeface="Calibri"/>
              </a:rPr>
              <a:t>THE PROBLEM</a:t>
            </a:r>
          </a:p>
        </p:txBody>
      </p:sp>
      <p:sp>
        <p:nvSpPr>
          <p:cNvPr id="3" name="TextBox 2"/>
          <p:cNvSpPr txBox="1"/>
          <p:nvPr/>
        </p:nvSpPr>
        <p:spPr>
          <a:xfrm>
            <a:off x="640080" y="777240"/>
            <a:ext cx="10908792" cy="731520"/>
          </a:xfrm>
          <a:prstGeom prst="rect">
            <a:avLst/>
          </a:prstGeom>
          <a:noFill/>
        </p:spPr>
        <p:txBody>
          <a:bodyPr wrap="square" lIns="0" rIns="0" tIns="0" bIns="0" anchor="t">
            <a:spAutoFit/>
          </a:bodyPr>
          <a:lstStyle/>
          <a:p>
            <a:pPr algn="l"/>
            <a:r>
              <a:rPr sz="3000" b="1" i="0">
                <a:solidFill>
                  <a:srgbClr val="0A1B34"/>
                </a:solidFill>
                <a:latin typeface="Arial"/>
              </a:rPr>
              <a:t>Slow, variable, and hard to reconstruct</a:t>
            </a:r>
          </a:p>
        </p:txBody>
      </p:sp>
      <p:sp>
        <p:nvSpPr>
          <p:cNvPr id="4" name="TextBox 3"/>
          <p:cNvSpPr txBox="1"/>
          <p:nvPr/>
        </p:nvSpPr>
        <p:spPr>
          <a:xfrm>
            <a:off x="640080" y="6355080"/>
            <a:ext cx="7315200" cy="274320"/>
          </a:xfrm>
          <a:prstGeom prst="rect">
            <a:avLst/>
          </a:prstGeom>
          <a:noFill/>
        </p:spPr>
        <p:txBody>
          <a:bodyPr wrap="square" lIns="0" rIns="0" tIns="0" bIns="0" anchor="ctr">
            <a:spAutoFit/>
          </a:bodyPr>
          <a:lstStyle/>
          <a:p>
            <a:pPr algn="l"/>
            <a:r>
              <a:rPr sz="1000" b="0" i="0">
                <a:solidFill>
                  <a:srgbClr val="55657D"/>
                </a:solidFill>
                <a:latin typeface="Calibri"/>
              </a:rPr>
              <a:t>Risk Assessment Workbench  |  Genius Hacks 2026</a:t>
            </a:r>
          </a:p>
        </p:txBody>
      </p:sp>
      <p:sp>
        <p:nvSpPr>
          <p:cNvPr id="5" name="TextBox 4"/>
          <p:cNvSpPr txBox="1"/>
          <p:nvPr/>
        </p:nvSpPr>
        <p:spPr>
          <a:xfrm>
            <a:off x="10881360" y="6355080"/>
            <a:ext cx="667512" cy="274320"/>
          </a:xfrm>
          <a:prstGeom prst="rect">
            <a:avLst/>
          </a:prstGeom>
          <a:noFill/>
        </p:spPr>
        <p:txBody>
          <a:bodyPr wrap="square" lIns="0" rIns="0" tIns="0" bIns="0" anchor="ctr">
            <a:spAutoFit/>
          </a:bodyPr>
          <a:lstStyle/>
          <a:p>
            <a:pPr algn="r"/>
            <a:r>
              <a:rPr sz="1000" b="0" i="0">
                <a:solidFill>
                  <a:srgbClr val="55657D"/>
                </a:solidFill>
                <a:latin typeface="Calibri"/>
              </a:rPr>
              <a:t>2</a:t>
            </a:r>
          </a:p>
        </p:txBody>
      </p:sp>
      <p:sp>
        <p:nvSpPr>
          <p:cNvPr id="6" name="Rounded Rectangle 5"/>
          <p:cNvSpPr/>
          <p:nvPr/>
        </p:nvSpPr>
        <p:spPr>
          <a:xfrm>
            <a:off x="640080" y="1783080"/>
            <a:ext cx="3383280" cy="4251960"/>
          </a:xfrm>
          <a:prstGeom prst="roundRect">
            <a:avLst>
              <a:gd name="adj" fmla="val 2162"/>
            </a:avLst>
          </a:prstGeom>
          <a:solidFill>
            <a:srgbClr val="0A1B34"/>
          </a:solidFill>
          <a:ln>
            <a:noFill/>
          </a:ln>
          <a:effectLst/>
          <a:effectLst>
            <a:outerShdw blurRad="177800" dist="38100" dir="5400000" algn="t" rotWithShape="0">
              <a:srgbClr val="0A1B34">
                <a:alpha val="1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960119" y="2148840"/>
            <a:ext cx="2743200" cy="1005840"/>
          </a:xfrm>
          <a:prstGeom prst="rect">
            <a:avLst/>
          </a:prstGeom>
          <a:noFill/>
        </p:spPr>
        <p:txBody>
          <a:bodyPr wrap="square" lIns="0" rIns="0" tIns="0" bIns="0" anchor="ctr">
            <a:spAutoFit/>
          </a:bodyPr>
          <a:lstStyle/>
          <a:p>
            <a:pPr algn="l"/>
            <a:r>
              <a:rPr sz="6600" b="1" i="0">
                <a:solidFill>
                  <a:srgbClr val="FFFFFF"/>
                </a:solidFill>
                <a:latin typeface="Arial"/>
              </a:rPr>
              <a:t>15-20</a:t>
            </a:r>
          </a:p>
        </p:txBody>
      </p:sp>
      <p:sp>
        <p:nvSpPr>
          <p:cNvPr id="8" name="TextBox 7"/>
          <p:cNvSpPr txBox="1"/>
          <p:nvPr/>
        </p:nvSpPr>
        <p:spPr>
          <a:xfrm>
            <a:off x="960119" y="3200400"/>
            <a:ext cx="2743200" cy="365760"/>
          </a:xfrm>
          <a:prstGeom prst="rect">
            <a:avLst/>
          </a:prstGeom>
          <a:noFill/>
        </p:spPr>
        <p:txBody>
          <a:bodyPr wrap="square" lIns="0" rIns="0" tIns="0" bIns="0" anchor="t">
            <a:spAutoFit/>
          </a:bodyPr>
          <a:lstStyle/>
          <a:p>
            <a:pPr algn="l"/>
            <a:r>
              <a:rPr sz="1500" b="0" i="0">
                <a:solidFill>
                  <a:srgbClr val="D6E4F7"/>
                </a:solidFill>
                <a:latin typeface="Calibri"/>
              </a:rPr>
              <a:t>business days: brief estimate</a:t>
            </a:r>
          </a:p>
        </p:txBody>
      </p:sp>
      <p:cxnSp>
        <p:nvCxnSpPr>
          <p:cNvPr id="9" name="Connector 8"/>
          <p:cNvCxnSpPr/>
          <p:nvPr/>
        </p:nvCxnSpPr>
        <p:spPr>
          <a:xfrm>
            <a:off x="960119" y="3977639"/>
            <a:ext cx="1097281" cy="0"/>
          </a:xfrm>
          <a:prstGeom prst="line">
            <a:avLst/>
          </a:prstGeom>
          <a:ln w="19050">
            <a:solidFill>
              <a:srgbClr val="C8A24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960119" y="4206240"/>
            <a:ext cx="2743200" cy="1005840"/>
          </a:xfrm>
          <a:prstGeom prst="rect">
            <a:avLst/>
          </a:prstGeom>
          <a:noFill/>
        </p:spPr>
        <p:txBody>
          <a:bodyPr wrap="square" lIns="0" rIns="0" tIns="0" bIns="0" anchor="ctr">
            <a:spAutoFit/>
          </a:bodyPr>
          <a:lstStyle/>
          <a:p>
            <a:pPr algn="l"/>
            <a:r>
              <a:rPr sz="6600" b="1" i="0">
                <a:solidFill>
                  <a:srgbClr val="C8A24A"/>
                </a:solidFill>
                <a:latin typeface="Arial"/>
              </a:rPr>
              <a:t>~2</a:t>
            </a:r>
          </a:p>
        </p:txBody>
      </p:sp>
      <p:sp>
        <p:nvSpPr>
          <p:cNvPr id="11" name="TextBox 10"/>
          <p:cNvSpPr txBox="1"/>
          <p:nvPr/>
        </p:nvSpPr>
        <p:spPr>
          <a:xfrm>
            <a:off x="960119" y="5257800"/>
            <a:ext cx="2743200" cy="365760"/>
          </a:xfrm>
          <a:prstGeom prst="rect">
            <a:avLst/>
          </a:prstGeom>
          <a:noFill/>
        </p:spPr>
        <p:txBody>
          <a:bodyPr wrap="square" lIns="0" rIns="0" tIns="0" bIns="0" anchor="t">
            <a:spAutoFit/>
          </a:bodyPr>
          <a:lstStyle/>
          <a:p>
            <a:pPr algn="l"/>
            <a:r>
              <a:rPr sz="1500" b="0" i="0">
                <a:solidFill>
                  <a:srgbClr val="D6E4F7"/>
                </a:solidFill>
                <a:latin typeface="Calibri"/>
              </a:rPr>
              <a:t>days: brief target, not measured</a:t>
            </a:r>
          </a:p>
        </p:txBody>
      </p:sp>
      <p:sp>
        <p:nvSpPr>
          <p:cNvPr id="12" name="Rounded Rectangle 11"/>
          <p:cNvSpPr/>
          <p:nvPr/>
        </p:nvSpPr>
        <p:spPr>
          <a:xfrm>
            <a:off x="4389120" y="1783080"/>
            <a:ext cx="3474720" cy="4251960"/>
          </a:xfrm>
          <a:prstGeom prst="roundRect">
            <a:avLst>
              <a:gd name="adj" fmla="val 2105"/>
            </a:avLst>
          </a:prstGeom>
          <a:solidFill>
            <a:srgbClr val="EEF3FA"/>
          </a:solidFill>
          <a:ln w="9525">
            <a:solidFill>
              <a:srgbClr val="D5DDE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709160" y="2057400"/>
            <a:ext cx="2834639" cy="457200"/>
          </a:xfrm>
          <a:prstGeom prst="rect">
            <a:avLst/>
          </a:prstGeom>
          <a:noFill/>
        </p:spPr>
        <p:txBody>
          <a:bodyPr wrap="square" lIns="0" rIns="0" tIns="0" bIns="0" anchor="t">
            <a:spAutoFit/>
          </a:bodyPr>
          <a:lstStyle/>
          <a:p>
            <a:pPr algn="l"/>
            <a:r>
              <a:rPr sz="2000" b="1" i="0">
                <a:solidFill>
                  <a:srgbClr val="0A1B34"/>
                </a:solidFill>
                <a:latin typeface="Arial"/>
              </a:rPr>
              <a:t>Today</a:t>
            </a:r>
          </a:p>
        </p:txBody>
      </p:sp>
      <p:sp>
        <p:nvSpPr>
          <p:cNvPr id="14" name="TextBox 13"/>
          <p:cNvSpPr txBox="1"/>
          <p:nvPr/>
        </p:nvSpPr>
        <p:spPr>
          <a:xfrm>
            <a:off x="4709160" y="2651760"/>
            <a:ext cx="2834639" cy="3108960"/>
          </a:xfrm>
          <a:prstGeom prst="rect">
            <a:avLst/>
          </a:prstGeom>
          <a:noFill/>
        </p:spPr>
        <p:txBody>
          <a:bodyPr wrap="square" lIns="0" rIns="0" tIns="0" bIns="0" anchor="t">
            <a:spAutoFit/>
          </a:bodyPr>
          <a:lstStyle/>
          <a:p>
            <a:pPr marL="201168" indent="-201168">
              <a:spcAft>
                <a:spcPts val="1400"/>
              </a:spcAft>
              <a:buChar char="•"/>
            </a:pPr>
            <a:r>
              <a:rPr sz="1600">
                <a:solidFill>
                  <a:srgbClr val="17253D"/>
                </a:solidFill>
                <a:latin typeface="Calibri"/>
              </a:rPr>
              <a:t>Email, Word, Excel, SharePoint</a:t>
            </a:r>
          </a:p>
          <a:p>
            <a:pPr marL="201168" indent="-201168">
              <a:spcAft>
                <a:spcPts val="1400"/>
              </a:spcAft>
              <a:buChar char="•"/>
            </a:pPr>
            <a:r>
              <a:rPr sz="1600">
                <a:solidFill>
                  <a:srgbClr val="17253D"/>
                </a:solidFill>
                <a:latin typeface="Calibri"/>
              </a:rPr>
              <a:t>Different analysts reach different conclusions</a:t>
            </a:r>
          </a:p>
          <a:p>
            <a:pPr marL="201168" indent="-201168">
              <a:spcAft>
                <a:spcPts val="1400"/>
              </a:spcAft>
              <a:buChar char="•"/>
            </a:pPr>
            <a:r>
              <a:rPr sz="1600">
                <a:solidFill>
                  <a:srgbClr val="17253D"/>
                </a:solidFill>
                <a:latin typeface="Calibri"/>
              </a:rPr>
              <a:t>Examiner asks why it was rated this way: evidence is scattered and slow to rebuild</a:t>
            </a:r>
          </a:p>
        </p:txBody>
      </p:sp>
      <p:sp>
        <p:nvSpPr>
          <p:cNvPr id="15" name="Rounded Rectangle 14"/>
          <p:cNvSpPr/>
          <p:nvPr/>
        </p:nvSpPr>
        <p:spPr>
          <a:xfrm>
            <a:off x="8151876" y="1783080"/>
            <a:ext cx="3474720" cy="4251960"/>
          </a:xfrm>
          <a:prstGeom prst="roundRect">
            <a:avLst>
              <a:gd name="adj" fmla="val 2105"/>
            </a:avLst>
          </a:prstGeom>
          <a:solidFill>
            <a:srgbClr val="FFFFFF"/>
          </a:solidFill>
          <a:ln w="9525">
            <a:solidFill>
              <a:srgbClr val="1F4E9C"/>
            </a:solidFill>
          </a:ln>
          <a:effectLst/>
          <a:effectLst>
            <a:outerShdw blurRad="177800" dist="38100" dir="5400000" algn="t" rotWithShape="0">
              <a:srgbClr val="0A1B34">
                <a:alpha val="1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8471916" y="2057400"/>
            <a:ext cx="2834639" cy="457200"/>
          </a:xfrm>
          <a:prstGeom prst="rect">
            <a:avLst/>
          </a:prstGeom>
          <a:noFill/>
        </p:spPr>
        <p:txBody>
          <a:bodyPr wrap="square" lIns="0" rIns="0" tIns="0" bIns="0" anchor="t">
            <a:spAutoFit/>
          </a:bodyPr>
          <a:lstStyle/>
          <a:p>
            <a:pPr algn="l"/>
            <a:r>
              <a:rPr sz="2000" b="1" i="0">
                <a:solidFill>
                  <a:srgbClr val="1F4E9C"/>
                </a:solidFill>
                <a:latin typeface="Arial"/>
              </a:rPr>
              <a:t>Our response</a:t>
            </a:r>
          </a:p>
        </p:txBody>
      </p:sp>
      <p:sp>
        <p:nvSpPr>
          <p:cNvPr id="17" name="TextBox 16"/>
          <p:cNvSpPr txBox="1"/>
          <p:nvPr/>
        </p:nvSpPr>
        <p:spPr>
          <a:xfrm>
            <a:off x="8471916" y="2651760"/>
            <a:ext cx="2834639" cy="3108960"/>
          </a:xfrm>
          <a:prstGeom prst="rect">
            <a:avLst/>
          </a:prstGeom>
          <a:noFill/>
        </p:spPr>
        <p:txBody>
          <a:bodyPr wrap="square" lIns="0" rIns="0" tIns="0" bIns="0" anchor="t">
            <a:spAutoFit/>
          </a:bodyPr>
          <a:lstStyle/>
          <a:p>
            <a:pPr marL="201168" indent="-201168">
              <a:spcAft>
                <a:spcPts val="1400"/>
              </a:spcAft>
              <a:buChar char="•"/>
            </a:pPr>
            <a:r>
              <a:rPr sz="1600">
                <a:solidFill>
                  <a:srgbClr val="17253D"/>
                </a:solidFill>
                <a:latin typeface="Calibri"/>
              </a:rPr>
              <a:t>One governed case record</a:t>
            </a:r>
          </a:p>
          <a:p>
            <a:pPr marL="201168" indent="-201168">
              <a:spcAft>
                <a:spcPts val="1400"/>
              </a:spcAft>
              <a:buChar char="•"/>
            </a:pPr>
            <a:r>
              <a:rPr sz="1600">
                <a:solidFill>
                  <a:srgbClr val="17253D"/>
                </a:solidFill>
                <a:latin typeface="Calibri"/>
              </a:rPr>
              <a:t>AI structures the evidence</a:t>
            </a:r>
          </a:p>
          <a:p>
            <a:pPr marL="201168" indent="-201168">
              <a:spcAft>
                <a:spcPts val="1400"/>
              </a:spcAft>
              <a:buChar char="•"/>
            </a:pPr>
            <a:r>
              <a:rPr sz="1600">
                <a:solidFill>
                  <a:srgbClr val="17253D"/>
                </a:solidFill>
                <a:latin typeface="Calibri"/>
              </a:rPr>
              <a:t>Humans own the decision</a:t>
            </a:r>
          </a:p>
          <a:p>
            <a:pPr marL="201168" indent="-201168">
              <a:spcAft>
                <a:spcPts val="1400"/>
              </a:spcAft>
              <a:buChar char="•"/>
            </a:pPr>
            <a:r>
              <a:rPr sz="1600">
                <a:solidFill>
                  <a:srgbClr val="17253D"/>
                </a:solidFill>
                <a:latin typeface="Calibri"/>
              </a:rPr>
              <a:t>Every rating traceable to inputs and reasoning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08792" cy="274320"/>
          </a:xfrm>
          <a:prstGeom prst="rect">
            <a:avLst/>
          </a:prstGeom>
          <a:noFill/>
        </p:spPr>
        <p:txBody>
          <a:bodyPr wrap="square" lIns="0" rIns="0" tIns="0" bIns="0" anchor="ctr">
            <a:spAutoFit/>
          </a:bodyPr>
          <a:lstStyle/>
          <a:p>
            <a:pPr algn="l"/>
            <a:r>
              <a:rPr sz="1200" b="1" i="0" spc="300">
                <a:solidFill>
                  <a:srgbClr val="8A6A1F"/>
                </a:solidFill>
                <a:latin typeface="Calibri"/>
              </a:rPr>
              <a:t>FROM BRIEF TO SPECIFICATION</a:t>
            </a:r>
          </a:p>
        </p:txBody>
      </p:sp>
      <p:sp>
        <p:nvSpPr>
          <p:cNvPr id="3" name="TextBox 2"/>
          <p:cNvSpPr txBox="1"/>
          <p:nvPr/>
        </p:nvSpPr>
        <p:spPr>
          <a:xfrm>
            <a:off x="640080" y="777240"/>
            <a:ext cx="10908792" cy="731520"/>
          </a:xfrm>
          <a:prstGeom prst="rect">
            <a:avLst/>
          </a:prstGeom>
          <a:noFill/>
        </p:spPr>
        <p:txBody>
          <a:bodyPr wrap="square" lIns="0" rIns="0" tIns="0" bIns="0" anchor="t">
            <a:spAutoFit/>
          </a:bodyPr>
          <a:lstStyle/>
          <a:p>
            <a:pPr algn="l"/>
            <a:r>
              <a:rPr sz="3000" b="1" i="0">
                <a:solidFill>
                  <a:srgbClr val="0A1B34"/>
                </a:solidFill>
                <a:latin typeface="Arial"/>
              </a:rPr>
              <a:t>We turned an open-ended problem into testable scope</a:t>
            </a:r>
          </a:p>
        </p:txBody>
      </p:sp>
      <p:sp>
        <p:nvSpPr>
          <p:cNvPr id="4" name="TextBox 3"/>
          <p:cNvSpPr txBox="1"/>
          <p:nvPr/>
        </p:nvSpPr>
        <p:spPr>
          <a:xfrm>
            <a:off x="640080" y="6355080"/>
            <a:ext cx="7315200" cy="274320"/>
          </a:xfrm>
          <a:prstGeom prst="rect">
            <a:avLst/>
          </a:prstGeom>
          <a:noFill/>
        </p:spPr>
        <p:txBody>
          <a:bodyPr wrap="square" lIns="0" rIns="0" tIns="0" bIns="0" anchor="ctr">
            <a:spAutoFit/>
          </a:bodyPr>
          <a:lstStyle/>
          <a:p>
            <a:pPr algn="l"/>
            <a:r>
              <a:rPr sz="1000" b="0" i="0">
                <a:solidFill>
                  <a:srgbClr val="55657D"/>
                </a:solidFill>
                <a:latin typeface="Calibri"/>
              </a:rPr>
              <a:t>Risk Assessment Workbench  |  Genius Hacks 2026</a:t>
            </a:r>
          </a:p>
        </p:txBody>
      </p:sp>
      <p:sp>
        <p:nvSpPr>
          <p:cNvPr id="5" name="TextBox 4"/>
          <p:cNvSpPr txBox="1"/>
          <p:nvPr/>
        </p:nvSpPr>
        <p:spPr>
          <a:xfrm>
            <a:off x="10881360" y="6355080"/>
            <a:ext cx="667512" cy="274320"/>
          </a:xfrm>
          <a:prstGeom prst="rect">
            <a:avLst/>
          </a:prstGeom>
          <a:noFill/>
        </p:spPr>
        <p:txBody>
          <a:bodyPr wrap="square" lIns="0" rIns="0" tIns="0" bIns="0" anchor="ctr">
            <a:spAutoFit/>
          </a:bodyPr>
          <a:lstStyle/>
          <a:p>
            <a:pPr algn="r"/>
            <a:r>
              <a:rPr sz="1000" b="0" i="0">
                <a:solidFill>
                  <a:srgbClr val="55657D"/>
                </a:solidFill>
                <a:latin typeface="Calibri"/>
              </a:rPr>
              <a:t>3</a:t>
            </a:r>
          </a:p>
        </p:txBody>
      </p:sp>
      <p:sp>
        <p:nvSpPr>
          <p:cNvPr id="6" name="Rounded Rectangle 5"/>
          <p:cNvSpPr/>
          <p:nvPr/>
        </p:nvSpPr>
        <p:spPr>
          <a:xfrm>
            <a:off x="640080" y="1783080"/>
            <a:ext cx="3392423" cy="4343400"/>
          </a:xfrm>
          <a:prstGeom prst="roundRect">
            <a:avLst>
              <a:gd name="adj" fmla="val 2156"/>
            </a:avLst>
          </a:prstGeom>
          <a:solidFill>
            <a:srgbClr val="EEF3FA"/>
          </a:solidFill>
          <a:ln w="9525">
            <a:solidFill>
              <a:srgbClr val="D5DDEA"/>
            </a:solidFill>
          </a:ln>
          <a:effectLst/>
          <a:effectLst>
            <a:outerShdw blurRad="177800" dist="38100" dir="5400000" algn="t" rotWithShape="0">
              <a:srgbClr val="0A1B34">
                <a:alpha val="1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960119" y="2103120"/>
            <a:ext cx="2752344" cy="502920"/>
          </a:xfrm>
          <a:prstGeom prst="rect">
            <a:avLst/>
          </a:prstGeom>
          <a:noFill/>
        </p:spPr>
        <p:txBody>
          <a:bodyPr wrap="square" lIns="0" rIns="0" tIns="0" bIns="0" anchor="t">
            <a:spAutoFit/>
          </a:bodyPr>
          <a:lstStyle/>
          <a:p>
            <a:pPr algn="l"/>
            <a:r>
              <a:rPr sz="1900" b="1" i="0">
                <a:solidFill>
                  <a:srgbClr val="0A1B34"/>
                </a:solidFill>
                <a:latin typeface="Arial"/>
              </a:rPr>
              <a:t>Problem as given</a:t>
            </a:r>
          </a:p>
        </p:txBody>
      </p:sp>
      <p:sp>
        <p:nvSpPr>
          <p:cNvPr id="8" name="TextBox 7"/>
          <p:cNvSpPr txBox="1"/>
          <p:nvPr/>
        </p:nvSpPr>
        <p:spPr>
          <a:xfrm>
            <a:off x="960119" y="2834639"/>
            <a:ext cx="2752344" cy="3017520"/>
          </a:xfrm>
          <a:prstGeom prst="rect">
            <a:avLst/>
          </a:prstGeom>
          <a:noFill/>
        </p:spPr>
        <p:txBody>
          <a:bodyPr wrap="square" lIns="0" rIns="0" tIns="0" bIns="0" anchor="t">
            <a:spAutoFit/>
          </a:bodyPr>
          <a:lstStyle/>
          <a:p>
            <a:pPr marL="201168" indent="-201168">
              <a:spcAft>
                <a:spcPts val="1400"/>
              </a:spcAft>
              <a:buChar char="•"/>
            </a:pPr>
            <a:r>
              <a:rPr sz="1500">
                <a:solidFill>
                  <a:srgbClr val="17253D"/>
                </a:solidFill>
                <a:latin typeface="Calibri"/>
              </a:rPr>
              <a:t>Change evidence is fragmented</a:t>
            </a:r>
          </a:p>
          <a:p>
            <a:pPr marL="201168" indent="-201168">
              <a:spcAft>
                <a:spcPts val="1400"/>
              </a:spcAft>
              <a:buChar char="•"/>
            </a:pPr>
            <a:r>
              <a:rPr sz="1500">
                <a:solidFill>
                  <a:srgbClr val="17253D"/>
                </a:solidFill>
                <a:latin typeface="Calibri"/>
              </a:rPr>
              <a:t>Similar cases can be assessed inconsistently</a:t>
            </a:r>
          </a:p>
          <a:p>
            <a:pPr marL="201168" indent="-201168">
              <a:spcAft>
                <a:spcPts val="1400"/>
              </a:spcAft>
              <a:buChar char="•"/>
            </a:pPr>
            <a:r>
              <a:rPr sz="1500">
                <a:solidFill>
                  <a:srgbClr val="17253D"/>
                </a:solidFill>
                <a:latin typeface="Calibri"/>
              </a:rPr>
              <a:t>Rebuilding rationale is slow</a:t>
            </a:r>
          </a:p>
        </p:txBody>
      </p:sp>
      <p:sp>
        <p:nvSpPr>
          <p:cNvPr id="9" name="Rounded Rectangle 8"/>
          <p:cNvSpPr/>
          <p:nvPr/>
        </p:nvSpPr>
        <p:spPr>
          <a:xfrm>
            <a:off x="4398264" y="1783080"/>
            <a:ext cx="3392423" cy="4343400"/>
          </a:xfrm>
          <a:prstGeom prst="roundRect">
            <a:avLst>
              <a:gd name="adj" fmla="val 2156"/>
            </a:avLst>
          </a:prstGeom>
          <a:solidFill>
            <a:srgbClr val="FFFFFF"/>
          </a:solidFill>
          <a:ln w="9525">
            <a:solidFill>
              <a:srgbClr val="D5DDEA"/>
            </a:solidFill>
          </a:ln>
          <a:effectLst/>
          <a:effectLst>
            <a:outerShdw blurRad="177800" dist="38100" dir="5400000" algn="t" rotWithShape="0">
              <a:srgbClr val="0A1B34">
                <a:alpha val="1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4718303" y="2103120"/>
            <a:ext cx="2752344" cy="502920"/>
          </a:xfrm>
          <a:prstGeom prst="rect">
            <a:avLst/>
          </a:prstGeom>
          <a:noFill/>
        </p:spPr>
        <p:txBody>
          <a:bodyPr wrap="square" lIns="0" rIns="0" tIns="0" bIns="0" anchor="t">
            <a:spAutoFit/>
          </a:bodyPr>
          <a:lstStyle/>
          <a:p>
            <a:pPr algn="l"/>
            <a:r>
              <a:rPr sz="1900" b="1" i="0">
                <a:solidFill>
                  <a:srgbClr val="0A1B34"/>
                </a:solidFill>
                <a:latin typeface="Arial"/>
              </a:rPr>
              <a:t>Specification added</a:t>
            </a:r>
          </a:p>
        </p:txBody>
      </p:sp>
      <p:sp>
        <p:nvSpPr>
          <p:cNvPr id="11" name="TextBox 10"/>
          <p:cNvSpPr txBox="1"/>
          <p:nvPr/>
        </p:nvSpPr>
        <p:spPr>
          <a:xfrm>
            <a:off x="4718303" y="2834639"/>
            <a:ext cx="2752344" cy="3017520"/>
          </a:xfrm>
          <a:prstGeom prst="rect">
            <a:avLst/>
          </a:prstGeom>
          <a:noFill/>
        </p:spPr>
        <p:txBody>
          <a:bodyPr wrap="square" lIns="0" rIns="0" tIns="0" bIns="0" anchor="t">
            <a:spAutoFit/>
          </a:bodyPr>
          <a:lstStyle/>
          <a:p>
            <a:pPr marL="201168" indent="-201168">
              <a:spcAft>
                <a:spcPts val="1400"/>
              </a:spcAft>
              <a:buChar char="•"/>
            </a:pPr>
            <a:r>
              <a:rPr sz="1500">
                <a:solidFill>
                  <a:srgbClr val="17253D"/>
                </a:solidFill>
                <a:latin typeface="Calibri"/>
              </a:rPr>
              <a:t>Product owner, analyst, and committee personas</a:t>
            </a:r>
          </a:p>
          <a:p>
            <a:pPr marL="201168" indent="-201168">
              <a:spcAft>
                <a:spcPts val="1400"/>
              </a:spcAft>
              <a:buChar char="•"/>
            </a:pPr>
            <a:r>
              <a:rPr sz="1500">
                <a:solidFill>
                  <a:srgbClr val="17253D"/>
                </a:solidFill>
                <a:latin typeface="Calibri"/>
              </a:rPr>
              <a:t>Draft -&gt; analyst -&gt; committee -&gt; follow-up workflow</a:t>
            </a:r>
          </a:p>
          <a:p>
            <a:pPr marL="201168" indent="-201168">
              <a:spcAft>
                <a:spcPts val="1400"/>
              </a:spcAft>
              <a:buChar char="•"/>
            </a:pPr>
            <a:r>
              <a:rPr sz="1500">
                <a:solidFill>
                  <a:srgbClr val="17253D"/>
                </a:solidFill>
                <a:latin typeface="Calibri"/>
              </a:rPr>
              <a:t>Acceptance criteria for citations, decisions, and closure</a:t>
            </a:r>
          </a:p>
        </p:txBody>
      </p:sp>
      <p:sp>
        <p:nvSpPr>
          <p:cNvPr id="12" name="Rounded Rectangle 11"/>
          <p:cNvSpPr/>
          <p:nvPr/>
        </p:nvSpPr>
        <p:spPr>
          <a:xfrm>
            <a:off x="8156447" y="1783080"/>
            <a:ext cx="3392423" cy="4343400"/>
          </a:xfrm>
          <a:prstGeom prst="roundRect">
            <a:avLst>
              <a:gd name="adj" fmla="val 2156"/>
            </a:avLst>
          </a:prstGeom>
          <a:solidFill>
            <a:srgbClr val="FFFFFF"/>
          </a:solidFill>
          <a:ln w="9525">
            <a:solidFill>
              <a:srgbClr val="C8A24A"/>
            </a:solidFill>
          </a:ln>
          <a:effectLst/>
          <a:effectLst>
            <a:outerShdw blurRad="177800" dist="38100" dir="5400000" algn="t" rotWithShape="0">
              <a:srgbClr val="0A1B34">
                <a:alpha val="1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8476487" y="2103120"/>
            <a:ext cx="2752344" cy="502920"/>
          </a:xfrm>
          <a:prstGeom prst="rect">
            <a:avLst/>
          </a:prstGeom>
          <a:noFill/>
        </p:spPr>
        <p:txBody>
          <a:bodyPr wrap="square" lIns="0" rIns="0" tIns="0" bIns="0" anchor="t">
            <a:spAutoFit/>
          </a:bodyPr>
          <a:lstStyle/>
          <a:p>
            <a:pPr algn="l"/>
            <a:r>
              <a:rPr sz="1900" b="1" i="0">
                <a:solidFill>
                  <a:srgbClr val="8A6A1F"/>
                </a:solidFill>
                <a:latin typeface="Arial"/>
              </a:rPr>
              <a:t>Boundaries made explicit</a:t>
            </a:r>
          </a:p>
        </p:txBody>
      </p:sp>
      <p:sp>
        <p:nvSpPr>
          <p:cNvPr id="14" name="TextBox 13"/>
          <p:cNvSpPr txBox="1"/>
          <p:nvPr/>
        </p:nvSpPr>
        <p:spPr>
          <a:xfrm>
            <a:off x="8476487" y="2834639"/>
            <a:ext cx="2752344" cy="3017520"/>
          </a:xfrm>
          <a:prstGeom prst="rect">
            <a:avLst/>
          </a:prstGeom>
          <a:noFill/>
        </p:spPr>
        <p:txBody>
          <a:bodyPr wrap="square" lIns="0" rIns="0" tIns="0" bIns="0" anchor="t">
            <a:spAutoFit/>
          </a:bodyPr>
          <a:lstStyle/>
          <a:p>
            <a:pPr marL="201168" indent="-201168">
              <a:spcAft>
                <a:spcPts val="1400"/>
              </a:spcAft>
              <a:buChar char="•"/>
            </a:pPr>
            <a:r>
              <a:rPr sz="1500">
                <a:solidFill>
                  <a:srgbClr val="17253D"/>
                </a:solidFill>
                <a:latin typeface="Calibri"/>
              </a:rPr>
              <a:t>Synthetic PDF intake and inherent-risk score</a:t>
            </a:r>
          </a:p>
          <a:p>
            <a:pPr marL="201168" indent="-201168">
              <a:spcAft>
                <a:spcPts val="1400"/>
              </a:spcAft>
              <a:buChar char="•"/>
            </a:pPr>
            <a:r>
              <a:rPr sz="1500">
                <a:solidFill>
                  <a:srgbClr val="17253D"/>
                </a:solidFill>
                <a:latin typeface="Calibri"/>
              </a:rPr>
              <a:t>Production identity and approved rules out of scope</a:t>
            </a:r>
          </a:p>
          <a:p>
            <a:pPr marL="201168" indent="-201168">
              <a:spcAft>
                <a:spcPts val="1400"/>
              </a:spcAft>
              <a:buChar char="•"/>
            </a:pPr>
            <a:r>
              <a:rPr sz="1500">
                <a:solidFill>
                  <a:srgbClr val="17253D"/>
                </a:solidFill>
                <a:latin typeface="Calibri"/>
              </a:rPr>
              <a:t>Residual-risk modeling and immutable audit storage remain gaps</a:t>
            </a:r>
          </a:p>
        </p:txBody>
      </p:sp>
      <p:sp>
        <p:nvSpPr>
          <p:cNvPr id="15" name="TextBox 14"/>
          <p:cNvSpPr txBox="1"/>
          <p:nvPr/>
        </p:nvSpPr>
        <p:spPr>
          <a:xfrm>
            <a:off x="640080" y="5806440"/>
            <a:ext cx="10908792" cy="384048"/>
          </a:xfrm>
          <a:prstGeom prst="rect">
            <a:avLst/>
          </a:prstGeom>
          <a:noFill/>
        </p:spPr>
        <p:txBody>
          <a:bodyPr wrap="square" lIns="0" rIns="0" tIns="0" bIns="0" anchor="ctr">
            <a:spAutoFit/>
          </a:bodyPr>
          <a:lstStyle/>
          <a:p>
            <a:pPr algn="l"/>
            <a:r>
              <a:rPr sz="1200" b="0" i="1">
                <a:solidFill>
                  <a:srgbClr val="55657D"/>
                </a:solidFill>
                <a:latin typeface="Calibri"/>
              </a:rPr>
              <a:t>Evidence: docs/requirements/spec.md + open-questions.md | Current-state and target turnaround figures belong to the brief, not measured results.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08792" cy="274320"/>
          </a:xfrm>
          <a:prstGeom prst="rect">
            <a:avLst/>
          </a:prstGeom>
          <a:noFill/>
        </p:spPr>
        <p:txBody>
          <a:bodyPr wrap="square" lIns="0" rIns="0" tIns="0" bIns="0" anchor="ctr">
            <a:spAutoFit/>
          </a:bodyPr>
          <a:lstStyle/>
          <a:p>
            <a:pPr algn="l"/>
            <a:r>
              <a:rPr sz="1200" b="1" i="0" spc="300">
                <a:solidFill>
                  <a:srgbClr val="8A6A1F"/>
                </a:solidFill>
                <a:latin typeface="Calibri"/>
              </a:rPr>
              <a:t>ARCHITECTURE</a:t>
            </a:r>
          </a:p>
        </p:txBody>
      </p:sp>
      <p:sp>
        <p:nvSpPr>
          <p:cNvPr id="3" name="TextBox 2"/>
          <p:cNvSpPr txBox="1"/>
          <p:nvPr/>
        </p:nvSpPr>
        <p:spPr>
          <a:xfrm>
            <a:off x="640080" y="777240"/>
            <a:ext cx="10908792" cy="731520"/>
          </a:xfrm>
          <a:prstGeom prst="rect">
            <a:avLst/>
          </a:prstGeom>
          <a:noFill/>
        </p:spPr>
        <p:txBody>
          <a:bodyPr wrap="square" lIns="0" rIns="0" tIns="0" bIns="0" anchor="t">
            <a:spAutoFit/>
          </a:bodyPr>
          <a:lstStyle/>
          <a:p>
            <a:pPr algn="l"/>
            <a:r>
              <a:rPr sz="3000" b="1" i="0">
                <a:solidFill>
                  <a:srgbClr val="0A1B34"/>
                </a:solidFill>
                <a:latin typeface="Arial"/>
              </a:rPr>
              <a:t>A deliberately narrow AI boundary</a:t>
            </a:r>
          </a:p>
        </p:txBody>
      </p:sp>
      <p:sp>
        <p:nvSpPr>
          <p:cNvPr id="4" name="TextBox 3"/>
          <p:cNvSpPr txBox="1"/>
          <p:nvPr/>
        </p:nvSpPr>
        <p:spPr>
          <a:xfrm>
            <a:off x="640080" y="6355080"/>
            <a:ext cx="7315200" cy="274320"/>
          </a:xfrm>
          <a:prstGeom prst="rect">
            <a:avLst/>
          </a:prstGeom>
          <a:noFill/>
        </p:spPr>
        <p:txBody>
          <a:bodyPr wrap="square" lIns="0" rIns="0" tIns="0" bIns="0" anchor="ctr">
            <a:spAutoFit/>
          </a:bodyPr>
          <a:lstStyle/>
          <a:p>
            <a:pPr algn="l"/>
            <a:r>
              <a:rPr sz="1000" b="0" i="0">
                <a:solidFill>
                  <a:srgbClr val="55657D"/>
                </a:solidFill>
                <a:latin typeface="Calibri"/>
              </a:rPr>
              <a:t>Risk Assessment Workbench  |  Genius Hacks 2026</a:t>
            </a:r>
          </a:p>
        </p:txBody>
      </p:sp>
      <p:sp>
        <p:nvSpPr>
          <p:cNvPr id="5" name="TextBox 4"/>
          <p:cNvSpPr txBox="1"/>
          <p:nvPr/>
        </p:nvSpPr>
        <p:spPr>
          <a:xfrm>
            <a:off x="10881360" y="6355080"/>
            <a:ext cx="667512" cy="274320"/>
          </a:xfrm>
          <a:prstGeom prst="rect">
            <a:avLst/>
          </a:prstGeom>
          <a:noFill/>
        </p:spPr>
        <p:txBody>
          <a:bodyPr wrap="square" lIns="0" rIns="0" tIns="0" bIns="0" anchor="ctr">
            <a:spAutoFit/>
          </a:bodyPr>
          <a:lstStyle/>
          <a:p>
            <a:pPr algn="r"/>
            <a:r>
              <a:rPr sz="1000" b="0" i="0">
                <a:solidFill>
                  <a:srgbClr val="55657D"/>
                </a:solidFill>
                <a:latin typeface="Calibri"/>
              </a:rPr>
              <a:t>4</a:t>
            </a:r>
          </a:p>
        </p:txBody>
      </p:sp>
      <p:sp>
        <p:nvSpPr>
          <p:cNvPr id="6" name="Rounded Rectangle 5"/>
          <p:cNvSpPr/>
          <p:nvPr/>
        </p:nvSpPr>
        <p:spPr>
          <a:xfrm>
            <a:off x="640080" y="1828800"/>
            <a:ext cx="1463040" cy="777240"/>
          </a:xfrm>
          <a:prstGeom prst="roundRect">
            <a:avLst>
              <a:gd name="adj" fmla="val 9411"/>
            </a:avLst>
          </a:prstGeom>
          <a:solidFill>
            <a:srgbClr val="EEF3FA"/>
          </a:solidFill>
          <a:ln w="9525">
            <a:solidFill>
              <a:srgbClr val="D5DDEA"/>
            </a:solidFill>
          </a:ln>
          <a:effectLst/>
          <a:effectLst>
            <a:outerShdw blurRad="177800" dist="38100" dir="5400000" algn="t" rotWithShape="0">
              <a:srgbClr val="0A1B34">
                <a:alpha val="1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40080" y="1828800"/>
            <a:ext cx="1463040" cy="777240"/>
          </a:xfrm>
          <a:prstGeom prst="rect">
            <a:avLst/>
          </a:prstGeom>
          <a:noFill/>
        </p:spPr>
        <p:txBody>
          <a:bodyPr wrap="square" lIns="0" rIns="0" tIns="0" bIns="0" anchor="ctr">
            <a:spAutoFit/>
          </a:bodyPr>
          <a:lstStyle/>
          <a:p>
            <a:pPr algn="ctr"/>
            <a:r>
              <a:rPr sz="1700" b="1" i="0">
                <a:solidFill>
                  <a:srgbClr val="17253D"/>
                </a:solidFill>
                <a:latin typeface="Calibri"/>
              </a:rPr>
              <a:t>PDF</a:t>
            </a:r>
          </a:p>
        </p:txBody>
      </p:sp>
      <p:sp>
        <p:nvSpPr>
          <p:cNvPr id="8" name="TextBox 7"/>
          <p:cNvSpPr txBox="1"/>
          <p:nvPr/>
        </p:nvSpPr>
        <p:spPr>
          <a:xfrm>
            <a:off x="2103120" y="1828800"/>
            <a:ext cx="426110" cy="777240"/>
          </a:xfrm>
          <a:prstGeom prst="rect">
            <a:avLst/>
          </a:prstGeom>
          <a:noFill/>
        </p:spPr>
        <p:txBody>
          <a:bodyPr wrap="square" lIns="0" rIns="0" tIns="0" bIns="0" anchor="ctr">
            <a:spAutoFit/>
          </a:bodyPr>
          <a:lstStyle/>
          <a:p>
            <a:pPr algn="ctr"/>
            <a:r>
              <a:rPr sz="2200" b="0" i="0">
                <a:solidFill>
                  <a:srgbClr val="8A6A1F"/>
                </a:solidFill>
                <a:latin typeface="Calibri"/>
              </a:rPr>
              <a:t>→</a:t>
            </a:r>
          </a:p>
        </p:txBody>
      </p:sp>
      <p:sp>
        <p:nvSpPr>
          <p:cNvPr id="9" name="Rounded Rectangle 8"/>
          <p:cNvSpPr/>
          <p:nvPr/>
        </p:nvSpPr>
        <p:spPr>
          <a:xfrm>
            <a:off x="2529230" y="1828800"/>
            <a:ext cx="1463040" cy="777240"/>
          </a:xfrm>
          <a:prstGeom prst="roundRect">
            <a:avLst>
              <a:gd name="adj" fmla="val 9411"/>
            </a:avLst>
          </a:prstGeom>
          <a:solidFill>
            <a:srgbClr val="EEF3FA"/>
          </a:solidFill>
          <a:ln w="9525">
            <a:solidFill>
              <a:srgbClr val="D5DDEA"/>
            </a:solidFill>
          </a:ln>
          <a:effectLst/>
          <a:effectLst>
            <a:outerShdw blurRad="177800" dist="38100" dir="5400000" algn="t" rotWithShape="0">
              <a:srgbClr val="0A1B34">
                <a:alpha val="1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2529230" y="1828800"/>
            <a:ext cx="1463040" cy="777240"/>
          </a:xfrm>
          <a:prstGeom prst="rect">
            <a:avLst/>
          </a:prstGeom>
          <a:noFill/>
        </p:spPr>
        <p:txBody>
          <a:bodyPr wrap="square" lIns="0" rIns="0" tIns="0" bIns="0" anchor="ctr">
            <a:spAutoFit/>
          </a:bodyPr>
          <a:lstStyle/>
          <a:p>
            <a:pPr algn="ctr"/>
            <a:r>
              <a:rPr sz="1700" b="1" i="0">
                <a:solidFill>
                  <a:srgbClr val="17253D"/>
                </a:solidFill>
                <a:latin typeface="Calibri"/>
              </a:rPr>
              <a:t>pypdf</a:t>
            </a:r>
          </a:p>
        </p:txBody>
      </p:sp>
      <p:sp>
        <p:nvSpPr>
          <p:cNvPr id="11" name="TextBox 10"/>
          <p:cNvSpPr txBox="1"/>
          <p:nvPr/>
        </p:nvSpPr>
        <p:spPr>
          <a:xfrm>
            <a:off x="3992270" y="1828800"/>
            <a:ext cx="426110" cy="777240"/>
          </a:xfrm>
          <a:prstGeom prst="rect">
            <a:avLst/>
          </a:prstGeom>
          <a:noFill/>
        </p:spPr>
        <p:txBody>
          <a:bodyPr wrap="square" lIns="0" rIns="0" tIns="0" bIns="0" anchor="ctr">
            <a:spAutoFit/>
          </a:bodyPr>
          <a:lstStyle/>
          <a:p>
            <a:pPr algn="ctr"/>
            <a:r>
              <a:rPr sz="2200" b="0" i="0">
                <a:solidFill>
                  <a:srgbClr val="8A6A1F"/>
                </a:solidFill>
                <a:latin typeface="Calibri"/>
              </a:rPr>
              <a:t>→</a:t>
            </a:r>
          </a:p>
        </p:txBody>
      </p:sp>
      <p:sp>
        <p:nvSpPr>
          <p:cNvPr id="12" name="Rounded Rectangle 11"/>
          <p:cNvSpPr/>
          <p:nvPr/>
        </p:nvSpPr>
        <p:spPr>
          <a:xfrm>
            <a:off x="4418380" y="1828800"/>
            <a:ext cx="1463040" cy="777240"/>
          </a:xfrm>
          <a:prstGeom prst="roundRect">
            <a:avLst>
              <a:gd name="adj" fmla="val 9411"/>
            </a:avLst>
          </a:prstGeom>
          <a:solidFill>
            <a:srgbClr val="9CC3F2"/>
          </a:solidFill>
          <a:ln>
            <a:noFill/>
          </a:ln>
          <a:effectLst/>
          <a:effectLst>
            <a:outerShdw blurRad="177800" dist="38100" dir="5400000" algn="t" rotWithShape="0">
              <a:srgbClr val="0A1B34">
                <a:alpha val="1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418380" y="1828800"/>
            <a:ext cx="1463040" cy="777240"/>
          </a:xfrm>
          <a:prstGeom prst="rect">
            <a:avLst/>
          </a:prstGeom>
          <a:noFill/>
        </p:spPr>
        <p:txBody>
          <a:bodyPr wrap="square" lIns="0" rIns="0" tIns="0" bIns="0" anchor="ctr">
            <a:spAutoFit/>
          </a:bodyPr>
          <a:lstStyle/>
          <a:p>
            <a:pPr algn="ctr"/>
            <a:r>
              <a:rPr sz="1700" b="1" i="0">
                <a:solidFill>
                  <a:srgbClr val="0A1B34"/>
                </a:solidFill>
                <a:latin typeface="Calibri"/>
              </a:rPr>
              <a:t>LLM JSON</a:t>
            </a:r>
          </a:p>
        </p:txBody>
      </p:sp>
      <p:sp>
        <p:nvSpPr>
          <p:cNvPr id="14" name="TextBox 13"/>
          <p:cNvSpPr txBox="1"/>
          <p:nvPr/>
        </p:nvSpPr>
        <p:spPr>
          <a:xfrm>
            <a:off x="5881420" y="1828800"/>
            <a:ext cx="426110" cy="777240"/>
          </a:xfrm>
          <a:prstGeom prst="rect">
            <a:avLst/>
          </a:prstGeom>
          <a:noFill/>
        </p:spPr>
        <p:txBody>
          <a:bodyPr wrap="square" lIns="0" rIns="0" tIns="0" bIns="0" anchor="ctr">
            <a:spAutoFit/>
          </a:bodyPr>
          <a:lstStyle/>
          <a:p>
            <a:pPr algn="ctr"/>
            <a:r>
              <a:rPr sz="2200" b="0" i="0">
                <a:solidFill>
                  <a:srgbClr val="8A6A1F"/>
                </a:solidFill>
                <a:latin typeface="Calibri"/>
              </a:rPr>
              <a:t>→</a:t>
            </a:r>
          </a:p>
        </p:txBody>
      </p:sp>
      <p:sp>
        <p:nvSpPr>
          <p:cNvPr id="15" name="Rounded Rectangle 14"/>
          <p:cNvSpPr/>
          <p:nvPr/>
        </p:nvSpPr>
        <p:spPr>
          <a:xfrm>
            <a:off x="6307531" y="1828800"/>
            <a:ext cx="1463040" cy="777240"/>
          </a:xfrm>
          <a:prstGeom prst="roundRect">
            <a:avLst>
              <a:gd name="adj" fmla="val 9411"/>
            </a:avLst>
          </a:prstGeom>
          <a:solidFill>
            <a:srgbClr val="0A1B34"/>
          </a:solidFill>
          <a:ln>
            <a:noFill/>
          </a:ln>
          <a:effectLst/>
          <a:effectLst>
            <a:outerShdw blurRad="177800" dist="38100" dir="5400000" algn="t" rotWithShape="0">
              <a:srgbClr val="0A1B34">
                <a:alpha val="1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307531" y="1828800"/>
            <a:ext cx="1463040" cy="777240"/>
          </a:xfrm>
          <a:prstGeom prst="rect">
            <a:avLst/>
          </a:prstGeom>
          <a:noFill/>
        </p:spPr>
        <p:txBody>
          <a:bodyPr wrap="square" lIns="0" rIns="0" tIns="0" bIns="0" anchor="ctr">
            <a:spAutoFit/>
          </a:bodyPr>
          <a:lstStyle/>
          <a:p>
            <a:pPr algn="ctr"/>
            <a:r>
              <a:rPr sz="1700" b="1" i="0">
                <a:solidFill>
                  <a:srgbClr val="FFFFFF"/>
                </a:solidFill>
                <a:latin typeface="Calibri"/>
              </a:rPr>
              <a:t>Rules</a:t>
            </a:r>
          </a:p>
        </p:txBody>
      </p:sp>
      <p:sp>
        <p:nvSpPr>
          <p:cNvPr id="17" name="TextBox 16"/>
          <p:cNvSpPr txBox="1"/>
          <p:nvPr/>
        </p:nvSpPr>
        <p:spPr>
          <a:xfrm>
            <a:off x="7770571" y="1828800"/>
            <a:ext cx="426110" cy="777240"/>
          </a:xfrm>
          <a:prstGeom prst="rect">
            <a:avLst/>
          </a:prstGeom>
          <a:noFill/>
        </p:spPr>
        <p:txBody>
          <a:bodyPr wrap="square" lIns="0" rIns="0" tIns="0" bIns="0" anchor="ctr">
            <a:spAutoFit/>
          </a:bodyPr>
          <a:lstStyle/>
          <a:p>
            <a:pPr algn="ctr"/>
            <a:r>
              <a:rPr sz="2200" b="0" i="0">
                <a:solidFill>
                  <a:srgbClr val="8A6A1F"/>
                </a:solidFill>
                <a:latin typeface="Calibri"/>
              </a:rPr>
              <a:t>→</a:t>
            </a:r>
          </a:p>
        </p:txBody>
      </p:sp>
      <p:sp>
        <p:nvSpPr>
          <p:cNvPr id="18" name="Rounded Rectangle 17"/>
          <p:cNvSpPr/>
          <p:nvPr/>
        </p:nvSpPr>
        <p:spPr>
          <a:xfrm>
            <a:off x="8196681" y="1828800"/>
            <a:ext cx="1463040" cy="777240"/>
          </a:xfrm>
          <a:prstGeom prst="roundRect">
            <a:avLst>
              <a:gd name="adj" fmla="val 9411"/>
            </a:avLst>
          </a:prstGeom>
          <a:solidFill>
            <a:srgbClr val="EEF3FA"/>
          </a:solidFill>
          <a:ln w="9525">
            <a:solidFill>
              <a:srgbClr val="D5DDEA"/>
            </a:solidFill>
          </a:ln>
          <a:effectLst/>
          <a:effectLst>
            <a:outerShdw blurRad="177800" dist="38100" dir="5400000" algn="t" rotWithShape="0">
              <a:srgbClr val="0A1B34">
                <a:alpha val="1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8196681" y="1828800"/>
            <a:ext cx="1463040" cy="777240"/>
          </a:xfrm>
          <a:prstGeom prst="rect">
            <a:avLst/>
          </a:prstGeom>
          <a:noFill/>
        </p:spPr>
        <p:txBody>
          <a:bodyPr wrap="square" lIns="0" rIns="0" tIns="0" bIns="0" anchor="ctr">
            <a:spAutoFit/>
          </a:bodyPr>
          <a:lstStyle/>
          <a:p>
            <a:pPr algn="ctr"/>
            <a:r>
              <a:rPr sz="1700" b="1" i="0">
                <a:solidFill>
                  <a:srgbClr val="17253D"/>
                </a:solidFill>
                <a:latin typeface="Calibri"/>
              </a:rPr>
              <a:t>SQLite</a:t>
            </a:r>
          </a:p>
        </p:txBody>
      </p:sp>
      <p:sp>
        <p:nvSpPr>
          <p:cNvPr id="20" name="TextBox 19"/>
          <p:cNvSpPr txBox="1"/>
          <p:nvPr/>
        </p:nvSpPr>
        <p:spPr>
          <a:xfrm>
            <a:off x="9659721" y="1828800"/>
            <a:ext cx="426110" cy="777240"/>
          </a:xfrm>
          <a:prstGeom prst="rect">
            <a:avLst/>
          </a:prstGeom>
          <a:noFill/>
        </p:spPr>
        <p:txBody>
          <a:bodyPr wrap="square" lIns="0" rIns="0" tIns="0" bIns="0" anchor="ctr">
            <a:spAutoFit/>
          </a:bodyPr>
          <a:lstStyle/>
          <a:p>
            <a:pPr algn="ctr"/>
            <a:r>
              <a:rPr sz="2200" b="0" i="0">
                <a:solidFill>
                  <a:srgbClr val="8A6A1F"/>
                </a:solidFill>
                <a:latin typeface="Calibri"/>
              </a:rPr>
              <a:t>→</a:t>
            </a:r>
          </a:p>
        </p:txBody>
      </p:sp>
      <p:sp>
        <p:nvSpPr>
          <p:cNvPr id="21" name="Rounded Rectangle 20"/>
          <p:cNvSpPr/>
          <p:nvPr/>
        </p:nvSpPr>
        <p:spPr>
          <a:xfrm>
            <a:off x="10085831" y="1828800"/>
            <a:ext cx="1463040" cy="777240"/>
          </a:xfrm>
          <a:prstGeom prst="roundRect">
            <a:avLst>
              <a:gd name="adj" fmla="val 9411"/>
            </a:avLst>
          </a:prstGeom>
          <a:solidFill>
            <a:srgbClr val="1F4E9C"/>
          </a:solidFill>
          <a:ln>
            <a:noFill/>
          </a:ln>
          <a:effectLst/>
          <a:effectLst>
            <a:outerShdw blurRad="177800" dist="38100" dir="5400000" algn="t" rotWithShape="0">
              <a:srgbClr val="0A1B34">
                <a:alpha val="1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10085831" y="1828800"/>
            <a:ext cx="1463040" cy="777240"/>
          </a:xfrm>
          <a:prstGeom prst="rect">
            <a:avLst/>
          </a:prstGeom>
          <a:noFill/>
        </p:spPr>
        <p:txBody>
          <a:bodyPr wrap="square" lIns="0" rIns="0" tIns="0" bIns="0" anchor="ctr">
            <a:spAutoFit/>
          </a:bodyPr>
          <a:lstStyle/>
          <a:p>
            <a:pPr algn="ctr"/>
            <a:r>
              <a:rPr sz="1700" b="1" i="0">
                <a:solidFill>
                  <a:srgbClr val="FFFFFF"/>
                </a:solidFill>
                <a:latin typeface="Calibri"/>
              </a:rPr>
              <a:t>Review</a:t>
            </a:r>
          </a:p>
        </p:txBody>
      </p:sp>
      <p:sp>
        <p:nvSpPr>
          <p:cNvPr id="23" name="Oval 22"/>
          <p:cNvSpPr/>
          <p:nvPr/>
        </p:nvSpPr>
        <p:spPr>
          <a:xfrm>
            <a:off x="640080" y="2889504"/>
            <a:ext cx="182880" cy="182880"/>
          </a:xfrm>
          <a:prstGeom prst="ellipse">
            <a:avLst/>
          </a:prstGeom>
          <a:solidFill>
            <a:srgbClr val="9CC3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932688" y="2834640"/>
            <a:ext cx="2011680" cy="292608"/>
          </a:xfrm>
          <a:prstGeom prst="rect">
            <a:avLst/>
          </a:prstGeom>
          <a:noFill/>
        </p:spPr>
        <p:txBody>
          <a:bodyPr wrap="square" lIns="0" rIns="0" tIns="0" bIns="0" anchor="ctr">
            <a:spAutoFit/>
          </a:bodyPr>
          <a:lstStyle/>
          <a:p>
            <a:pPr algn="l"/>
            <a:r>
              <a:rPr sz="1400" b="0" i="0">
                <a:solidFill>
                  <a:srgbClr val="55657D"/>
                </a:solidFill>
                <a:latin typeface="Calibri"/>
              </a:rPr>
              <a:t>Probabilistic (AI)</a:t>
            </a:r>
          </a:p>
        </p:txBody>
      </p:sp>
      <p:sp>
        <p:nvSpPr>
          <p:cNvPr id="25" name="Oval 24"/>
          <p:cNvSpPr/>
          <p:nvPr/>
        </p:nvSpPr>
        <p:spPr>
          <a:xfrm>
            <a:off x="3017520" y="2889504"/>
            <a:ext cx="182880" cy="182880"/>
          </a:xfrm>
          <a:prstGeom prst="ellipse">
            <a:avLst/>
          </a:prstGeom>
          <a:solidFill>
            <a:srgbClr val="0A1B3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3310127" y="2834640"/>
            <a:ext cx="2011680" cy="292608"/>
          </a:xfrm>
          <a:prstGeom prst="rect">
            <a:avLst/>
          </a:prstGeom>
          <a:noFill/>
        </p:spPr>
        <p:txBody>
          <a:bodyPr wrap="square" lIns="0" rIns="0" tIns="0" bIns="0" anchor="ctr">
            <a:spAutoFit/>
          </a:bodyPr>
          <a:lstStyle/>
          <a:p>
            <a:pPr algn="l"/>
            <a:r>
              <a:rPr sz="1400" b="0" i="0">
                <a:solidFill>
                  <a:srgbClr val="55657D"/>
                </a:solidFill>
                <a:latin typeface="Calibri"/>
              </a:rPr>
              <a:t>Deterministic (code)</a:t>
            </a:r>
          </a:p>
        </p:txBody>
      </p:sp>
      <p:sp>
        <p:nvSpPr>
          <p:cNvPr id="27" name="Oval 26"/>
          <p:cNvSpPr/>
          <p:nvPr/>
        </p:nvSpPr>
        <p:spPr>
          <a:xfrm>
            <a:off x="5669280" y="2889504"/>
            <a:ext cx="182880" cy="182880"/>
          </a:xfrm>
          <a:prstGeom prst="ellipse">
            <a:avLst/>
          </a:prstGeom>
          <a:solidFill>
            <a:srgbClr val="1F4E9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5961888" y="2834640"/>
            <a:ext cx="2011680" cy="292608"/>
          </a:xfrm>
          <a:prstGeom prst="rect">
            <a:avLst/>
          </a:prstGeom>
          <a:noFill/>
        </p:spPr>
        <p:txBody>
          <a:bodyPr wrap="square" lIns="0" rIns="0" tIns="0" bIns="0" anchor="ctr">
            <a:spAutoFit/>
          </a:bodyPr>
          <a:lstStyle/>
          <a:p>
            <a:pPr algn="l"/>
            <a:r>
              <a:rPr sz="1400" b="0" i="0">
                <a:solidFill>
                  <a:srgbClr val="55657D"/>
                </a:solidFill>
                <a:latin typeface="Calibri"/>
              </a:rPr>
              <a:t>Human</a:t>
            </a:r>
          </a:p>
        </p:txBody>
      </p:sp>
      <p:sp>
        <p:nvSpPr>
          <p:cNvPr id="29" name="Rounded Rectangle 28"/>
          <p:cNvSpPr/>
          <p:nvPr/>
        </p:nvSpPr>
        <p:spPr>
          <a:xfrm>
            <a:off x="640080" y="3429000"/>
            <a:ext cx="5271516" cy="2697480"/>
          </a:xfrm>
          <a:prstGeom prst="roundRect">
            <a:avLst>
              <a:gd name="adj" fmla="val 2711"/>
            </a:avLst>
          </a:prstGeom>
          <a:solidFill>
            <a:srgbClr val="FFFFFF"/>
          </a:solidFill>
          <a:ln w="9525">
            <a:solidFill>
              <a:srgbClr val="D5DDEA"/>
            </a:solidFill>
          </a:ln>
          <a:effectLst/>
          <a:effectLst>
            <a:outerShdw blurRad="177800" dist="38100" dir="5400000" algn="t" rotWithShape="0">
              <a:srgbClr val="0A1B34">
                <a:alpha val="1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960119" y="3703320"/>
            <a:ext cx="1737360" cy="457200"/>
          </a:xfrm>
          <a:prstGeom prst="roundRect">
            <a:avLst>
              <a:gd name="adj" fmla="val 50000"/>
            </a:avLst>
          </a:prstGeom>
          <a:solidFill>
            <a:srgbClr val="9CC3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960119" y="3703320"/>
            <a:ext cx="1737360" cy="457200"/>
          </a:xfrm>
          <a:prstGeom prst="rect">
            <a:avLst/>
          </a:prstGeom>
          <a:noFill/>
        </p:spPr>
        <p:txBody>
          <a:bodyPr wrap="square" lIns="0" rIns="0" tIns="0" bIns="0" anchor="ctr">
            <a:spAutoFit/>
          </a:bodyPr>
          <a:lstStyle/>
          <a:p>
            <a:pPr algn="ctr"/>
            <a:r>
              <a:rPr sz="1600" b="1" i="0">
                <a:solidFill>
                  <a:srgbClr val="0A1B34"/>
                </a:solidFill>
                <a:latin typeface="Calibri"/>
              </a:rPr>
              <a:t>AI does</a:t>
            </a:r>
          </a:p>
        </p:txBody>
      </p:sp>
      <p:sp>
        <p:nvSpPr>
          <p:cNvPr id="32" name="TextBox 31"/>
          <p:cNvSpPr txBox="1"/>
          <p:nvPr/>
        </p:nvSpPr>
        <p:spPr>
          <a:xfrm>
            <a:off x="960119" y="4389120"/>
            <a:ext cx="4631436" cy="1508760"/>
          </a:xfrm>
          <a:prstGeom prst="rect">
            <a:avLst/>
          </a:prstGeom>
          <a:noFill/>
        </p:spPr>
        <p:txBody>
          <a:bodyPr wrap="square" lIns="0" rIns="0" tIns="0" bIns="0" anchor="t">
            <a:spAutoFit/>
          </a:bodyPr>
          <a:lstStyle/>
          <a:p>
            <a:pPr marL="201168" indent="-201168">
              <a:spcAft>
                <a:spcPts val="1200"/>
              </a:spcAft>
              <a:buChar char="•"/>
            </a:pPr>
            <a:r>
              <a:rPr sz="1600">
                <a:solidFill>
                  <a:srgbClr val="17253D"/>
                </a:solidFill>
                <a:latin typeface="Calibri"/>
              </a:rPr>
              <a:t>Extract structure from unstructured text</a:t>
            </a:r>
          </a:p>
          <a:p>
            <a:pPr marL="201168" indent="-201168">
              <a:spcAft>
                <a:spcPts val="1200"/>
              </a:spcAft>
              <a:buChar char="•"/>
            </a:pPr>
            <a:r>
              <a:rPr sz="1600">
                <a:solidFill>
                  <a:srgbClr val="17253D"/>
                </a:solidFill>
                <a:latin typeface="Calibri"/>
              </a:rPr>
              <a:t>Identify stated risk factors</a:t>
            </a:r>
          </a:p>
          <a:p>
            <a:pPr marL="201168" indent="-201168">
              <a:spcAft>
                <a:spcPts val="1200"/>
              </a:spcAft>
              <a:buChar char="•"/>
            </a:pPr>
            <a:r>
              <a:rPr sz="1600">
                <a:solidFill>
                  <a:srgbClr val="17253D"/>
                </a:solidFill>
                <a:latin typeface="Calibri"/>
              </a:rPr>
              <a:t>Attempt semantic policy retrieval when configured</a:t>
            </a:r>
          </a:p>
        </p:txBody>
      </p:sp>
      <p:sp>
        <p:nvSpPr>
          <p:cNvPr id="33" name="Rounded Rectangle 32"/>
          <p:cNvSpPr/>
          <p:nvPr/>
        </p:nvSpPr>
        <p:spPr>
          <a:xfrm>
            <a:off x="6277356" y="3429000"/>
            <a:ext cx="5271516" cy="2697480"/>
          </a:xfrm>
          <a:prstGeom prst="roundRect">
            <a:avLst>
              <a:gd name="adj" fmla="val 2711"/>
            </a:avLst>
          </a:prstGeom>
          <a:solidFill>
            <a:srgbClr val="FFFFFF"/>
          </a:solidFill>
          <a:ln w="9525">
            <a:solidFill>
              <a:srgbClr val="D5DDEA"/>
            </a:solidFill>
          </a:ln>
          <a:effectLst/>
          <a:effectLst>
            <a:outerShdw blurRad="177800" dist="38100" dir="5400000" algn="t" rotWithShape="0">
              <a:srgbClr val="0A1B34">
                <a:alpha val="1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Rounded Rectangle 33"/>
          <p:cNvSpPr/>
          <p:nvPr/>
        </p:nvSpPr>
        <p:spPr>
          <a:xfrm>
            <a:off x="6597396" y="3703320"/>
            <a:ext cx="1737360" cy="457200"/>
          </a:xfrm>
          <a:prstGeom prst="roundRect">
            <a:avLst>
              <a:gd name="adj" fmla="val 50000"/>
            </a:avLst>
          </a:prstGeom>
          <a:solidFill>
            <a:srgbClr val="0A1B3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6597396" y="3703320"/>
            <a:ext cx="1737360" cy="457200"/>
          </a:xfrm>
          <a:prstGeom prst="rect">
            <a:avLst/>
          </a:prstGeom>
          <a:noFill/>
        </p:spPr>
        <p:txBody>
          <a:bodyPr wrap="square" lIns="0" rIns="0" tIns="0" bIns="0" anchor="ctr">
            <a:spAutoFit/>
          </a:bodyPr>
          <a:lstStyle/>
          <a:p>
            <a:pPr algn="ctr"/>
            <a:r>
              <a:rPr sz="1600" b="1" i="0">
                <a:solidFill>
                  <a:srgbClr val="FFFFFF"/>
                </a:solidFill>
                <a:latin typeface="Calibri"/>
              </a:rPr>
              <a:t>Code does</a:t>
            </a:r>
          </a:p>
        </p:txBody>
      </p:sp>
      <p:sp>
        <p:nvSpPr>
          <p:cNvPr id="36" name="TextBox 35"/>
          <p:cNvSpPr txBox="1"/>
          <p:nvPr/>
        </p:nvSpPr>
        <p:spPr>
          <a:xfrm>
            <a:off x="6597396" y="4389120"/>
            <a:ext cx="4631436" cy="1508760"/>
          </a:xfrm>
          <a:prstGeom prst="rect">
            <a:avLst/>
          </a:prstGeom>
          <a:noFill/>
        </p:spPr>
        <p:txBody>
          <a:bodyPr wrap="square" lIns="0" rIns="0" tIns="0" bIns="0" anchor="t">
            <a:spAutoFit/>
          </a:bodyPr>
          <a:lstStyle/>
          <a:p>
            <a:pPr marL="201168" indent="-201168">
              <a:spcAft>
                <a:spcPts val="1200"/>
              </a:spcAft>
              <a:buChar char="•"/>
            </a:pPr>
            <a:r>
              <a:rPr sz="1600">
                <a:solidFill>
                  <a:srgbClr val="17253D"/>
                </a:solidFill>
                <a:latin typeface="Calibri"/>
              </a:rPr>
              <a:t>Validate schemas</a:t>
            </a:r>
          </a:p>
          <a:p>
            <a:pPr marL="201168" indent="-201168">
              <a:spcAft>
                <a:spcPts val="1200"/>
              </a:spcAft>
              <a:buChar char="•"/>
            </a:pPr>
            <a:r>
              <a:rPr sz="1600">
                <a:solidFill>
                  <a:srgbClr val="17253D"/>
                </a:solidFill>
                <a:latin typeface="Calibri"/>
              </a:rPr>
              <a:t>Calculate scores and thresholds</a:t>
            </a:r>
          </a:p>
          <a:p>
            <a:pPr marL="201168" indent="-201168">
              <a:spcAft>
                <a:spcPts val="1200"/>
              </a:spcAft>
              <a:buChar char="•"/>
            </a:pPr>
            <a:r>
              <a:rPr sz="1600">
                <a:solidFill>
                  <a:srgbClr val="17253D"/>
                </a:solidFill>
                <a:latin typeface="Calibri"/>
              </a:rPr>
              <a:t>Persist workflow events; policy lookup falls back to rules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08792" cy="274320"/>
          </a:xfrm>
          <a:prstGeom prst="rect">
            <a:avLst/>
          </a:prstGeom>
          <a:noFill/>
        </p:spPr>
        <p:txBody>
          <a:bodyPr wrap="square" lIns="0" rIns="0" tIns="0" bIns="0" anchor="ctr">
            <a:spAutoFit/>
          </a:bodyPr>
          <a:lstStyle/>
          <a:p>
            <a:pPr algn="l"/>
            <a:r>
              <a:rPr sz="1200" b="1" i="0" spc="300">
                <a:solidFill>
                  <a:srgbClr val="8A6A1F"/>
                </a:solidFill>
                <a:latin typeface="Calibri"/>
              </a:rPr>
              <a:t>AI HARNESS AND CONTEXT</a:t>
            </a:r>
          </a:p>
        </p:txBody>
      </p:sp>
      <p:sp>
        <p:nvSpPr>
          <p:cNvPr id="3" name="TextBox 2"/>
          <p:cNvSpPr txBox="1"/>
          <p:nvPr/>
        </p:nvSpPr>
        <p:spPr>
          <a:xfrm>
            <a:off x="640080" y="777240"/>
            <a:ext cx="10908792" cy="731520"/>
          </a:xfrm>
          <a:prstGeom prst="rect">
            <a:avLst/>
          </a:prstGeom>
          <a:noFill/>
        </p:spPr>
        <p:txBody>
          <a:bodyPr wrap="square" lIns="0" rIns="0" tIns="0" bIns="0" anchor="t">
            <a:spAutoFit/>
          </a:bodyPr>
          <a:lstStyle/>
          <a:p>
            <a:pPr algn="l"/>
            <a:r>
              <a:rPr sz="3000" b="1" i="0">
                <a:solidFill>
                  <a:srgbClr val="0A1B34"/>
                </a:solidFill>
                <a:latin typeface="Arial"/>
              </a:rPr>
              <a:t>The document is data, not authority</a:t>
            </a:r>
          </a:p>
        </p:txBody>
      </p:sp>
      <p:sp>
        <p:nvSpPr>
          <p:cNvPr id="4" name="TextBox 3"/>
          <p:cNvSpPr txBox="1"/>
          <p:nvPr/>
        </p:nvSpPr>
        <p:spPr>
          <a:xfrm>
            <a:off x="640080" y="6355080"/>
            <a:ext cx="7315200" cy="274320"/>
          </a:xfrm>
          <a:prstGeom prst="rect">
            <a:avLst/>
          </a:prstGeom>
          <a:noFill/>
        </p:spPr>
        <p:txBody>
          <a:bodyPr wrap="square" lIns="0" rIns="0" tIns="0" bIns="0" anchor="ctr">
            <a:spAutoFit/>
          </a:bodyPr>
          <a:lstStyle/>
          <a:p>
            <a:pPr algn="l"/>
            <a:r>
              <a:rPr sz="1000" b="0" i="0">
                <a:solidFill>
                  <a:srgbClr val="55657D"/>
                </a:solidFill>
                <a:latin typeface="Calibri"/>
              </a:rPr>
              <a:t>Risk Assessment Workbench  |  Genius Hacks 2026</a:t>
            </a:r>
          </a:p>
        </p:txBody>
      </p:sp>
      <p:sp>
        <p:nvSpPr>
          <p:cNvPr id="5" name="TextBox 4"/>
          <p:cNvSpPr txBox="1"/>
          <p:nvPr/>
        </p:nvSpPr>
        <p:spPr>
          <a:xfrm>
            <a:off x="10881360" y="6355080"/>
            <a:ext cx="667512" cy="274320"/>
          </a:xfrm>
          <a:prstGeom prst="rect">
            <a:avLst/>
          </a:prstGeom>
          <a:noFill/>
        </p:spPr>
        <p:txBody>
          <a:bodyPr wrap="square" lIns="0" rIns="0" tIns="0" bIns="0" anchor="ctr">
            <a:spAutoFit/>
          </a:bodyPr>
          <a:lstStyle/>
          <a:p>
            <a:pPr algn="r"/>
            <a:r>
              <a:rPr sz="1000" b="0" i="0">
                <a:solidFill>
                  <a:srgbClr val="55657D"/>
                </a:solidFill>
                <a:latin typeface="Calibri"/>
              </a:rPr>
              <a:t>5</a:t>
            </a:r>
          </a:p>
        </p:txBody>
      </p:sp>
      <p:sp>
        <p:nvSpPr>
          <p:cNvPr id="6" name="Rounded Rectangle 5"/>
          <p:cNvSpPr/>
          <p:nvPr/>
        </p:nvSpPr>
        <p:spPr>
          <a:xfrm>
            <a:off x="640080" y="1783080"/>
            <a:ext cx="3392423" cy="4343400"/>
          </a:xfrm>
          <a:prstGeom prst="roundRect">
            <a:avLst>
              <a:gd name="adj" fmla="val 2156"/>
            </a:avLst>
          </a:prstGeom>
          <a:solidFill>
            <a:srgbClr val="FFFFFF"/>
          </a:solidFill>
          <a:ln w="9525">
            <a:solidFill>
              <a:srgbClr val="D5DDEA"/>
            </a:solidFill>
          </a:ln>
          <a:effectLst/>
          <a:effectLst>
            <a:outerShdw blurRad="177800" dist="38100" dir="5400000" algn="t" rotWithShape="0">
              <a:srgbClr val="0A1B34">
                <a:alpha val="1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p:cNvSpPr/>
          <p:nvPr/>
        </p:nvSpPr>
        <p:spPr>
          <a:xfrm>
            <a:off x="960119" y="2103120"/>
            <a:ext cx="640080" cy="640080"/>
          </a:xfrm>
          <a:prstGeom prst="ellipse">
            <a:avLst/>
          </a:prstGeom>
          <a:solidFill>
            <a:srgbClr val="0A1B3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960119" y="2103120"/>
            <a:ext cx="640080" cy="640080"/>
          </a:xfrm>
          <a:prstGeom prst="rect">
            <a:avLst/>
          </a:prstGeom>
          <a:noFill/>
        </p:spPr>
        <p:txBody>
          <a:bodyPr wrap="square" lIns="0" rIns="0" tIns="0" bIns="0" anchor="ctr">
            <a:spAutoFit/>
          </a:bodyPr>
          <a:lstStyle/>
          <a:p>
            <a:pPr algn="ctr"/>
            <a:r>
              <a:rPr sz="2100" b="1" i="0">
                <a:solidFill>
                  <a:srgbClr val="FFFFFF"/>
                </a:solidFill>
                <a:latin typeface="Arial"/>
              </a:rPr>
              <a:t>1</a:t>
            </a:r>
          </a:p>
        </p:txBody>
      </p:sp>
      <p:sp>
        <p:nvSpPr>
          <p:cNvPr id="9" name="TextBox 8"/>
          <p:cNvSpPr txBox="1"/>
          <p:nvPr/>
        </p:nvSpPr>
        <p:spPr>
          <a:xfrm>
            <a:off x="960119" y="2971800"/>
            <a:ext cx="2752344" cy="457200"/>
          </a:xfrm>
          <a:prstGeom prst="rect">
            <a:avLst/>
          </a:prstGeom>
          <a:noFill/>
        </p:spPr>
        <p:txBody>
          <a:bodyPr wrap="square" lIns="0" rIns="0" tIns="0" bIns="0" anchor="t">
            <a:spAutoFit/>
          </a:bodyPr>
          <a:lstStyle/>
          <a:p>
            <a:pPr algn="l"/>
            <a:r>
              <a:rPr sz="2000" b="1" i="0">
                <a:solidFill>
                  <a:srgbClr val="0A1B34"/>
                </a:solidFill>
                <a:latin typeface="Arial"/>
              </a:rPr>
              <a:t>Context boundary</a:t>
            </a:r>
          </a:p>
        </p:txBody>
      </p:sp>
      <p:sp>
        <p:nvSpPr>
          <p:cNvPr id="10" name="TextBox 9"/>
          <p:cNvSpPr txBox="1"/>
          <p:nvPr/>
        </p:nvSpPr>
        <p:spPr>
          <a:xfrm>
            <a:off x="960119" y="3611880"/>
            <a:ext cx="2752344" cy="2240280"/>
          </a:xfrm>
          <a:prstGeom prst="rect">
            <a:avLst/>
          </a:prstGeom>
          <a:noFill/>
        </p:spPr>
        <p:txBody>
          <a:bodyPr wrap="square" lIns="0" rIns="0" tIns="0" bIns="0" anchor="t">
            <a:spAutoFit/>
          </a:bodyPr>
          <a:lstStyle/>
          <a:p>
            <a:pPr marL="201168" indent="-201168">
              <a:spcAft>
                <a:spcPts val="1400"/>
              </a:spcAft>
              <a:buChar char="•"/>
            </a:pPr>
            <a:r>
              <a:rPr sz="1600">
                <a:solidFill>
                  <a:srgbClr val="17253D"/>
                </a:solidFill>
                <a:latin typeface="Calibri"/>
              </a:rPr>
              <a:t>Source text is explicitly untrusted</a:t>
            </a:r>
          </a:p>
          <a:p>
            <a:pPr marL="201168" indent="-201168">
              <a:spcAft>
                <a:spcPts val="1400"/>
              </a:spcAft>
              <a:buChar char="•"/>
            </a:pPr>
            <a:r>
              <a:rPr sz="1600">
                <a:solidFill>
                  <a:srgbClr val="17253D"/>
                </a:solidFill>
                <a:latin typeface="Calibri"/>
              </a:rPr>
              <a:t>Embedded instructions cannot approve a case</a:t>
            </a:r>
          </a:p>
          <a:p>
            <a:pPr marL="201168" indent="-201168">
              <a:spcAft>
                <a:spcPts val="1400"/>
              </a:spcAft>
              <a:buChar char="•"/>
            </a:pPr>
            <a:r>
              <a:rPr sz="1600">
                <a:solidFill>
                  <a:srgbClr val="17253D"/>
                </a:solidFill>
                <a:latin typeface="Calibri"/>
              </a:rPr>
              <a:t>Prompt requires faithful extraction</a:t>
            </a:r>
          </a:p>
        </p:txBody>
      </p:sp>
      <p:sp>
        <p:nvSpPr>
          <p:cNvPr id="11" name="Rounded Rectangle 10"/>
          <p:cNvSpPr/>
          <p:nvPr/>
        </p:nvSpPr>
        <p:spPr>
          <a:xfrm>
            <a:off x="4398264" y="1783080"/>
            <a:ext cx="3392423" cy="4343400"/>
          </a:xfrm>
          <a:prstGeom prst="roundRect">
            <a:avLst>
              <a:gd name="adj" fmla="val 2156"/>
            </a:avLst>
          </a:prstGeom>
          <a:solidFill>
            <a:srgbClr val="FFFFFF"/>
          </a:solidFill>
          <a:ln w="9525">
            <a:solidFill>
              <a:srgbClr val="D5DDEA"/>
            </a:solidFill>
          </a:ln>
          <a:effectLst/>
          <a:effectLst>
            <a:outerShdw blurRad="177800" dist="38100" dir="5400000" algn="t" rotWithShape="0">
              <a:srgbClr val="0A1B34">
                <a:alpha val="1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Oval 11"/>
          <p:cNvSpPr/>
          <p:nvPr/>
        </p:nvSpPr>
        <p:spPr>
          <a:xfrm>
            <a:off x="4718303" y="2103120"/>
            <a:ext cx="640080" cy="640080"/>
          </a:xfrm>
          <a:prstGeom prst="ellipse">
            <a:avLst/>
          </a:prstGeom>
          <a:solidFill>
            <a:srgbClr val="0A1B3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718303" y="2103120"/>
            <a:ext cx="640080" cy="640080"/>
          </a:xfrm>
          <a:prstGeom prst="rect">
            <a:avLst/>
          </a:prstGeom>
          <a:noFill/>
        </p:spPr>
        <p:txBody>
          <a:bodyPr wrap="square" lIns="0" rIns="0" tIns="0" bIns="0" anchor="ctr">
            <a:spAutoFit/>
          </a:bodyPr>
          <a:lstStyle/>
          <a:p>
            <a:pPr algn="ctr"/>
            <a:r>
              <a:rPr sz="2100" b="1" i="0">
                <a:solidFill>
                  <a:srgbClr val="FFFFFF"/>
                </a:solidFill>
                <a:latin typeface="Arial"/>
              </a:rPr>
              <a:t>2</a:t>
            </a:r>
          </a:p>
        </p:txBody>
      </p:sp>
      <p:sp>
        <p:nvSpPr>
          <p:cNvPr id="14" name="TextBox 13"/>
          <p:cNvSpPr txBox="1"/>
          <p:nvPr/>
        </p:nvSpPr>
        <p:spPr>
          <a:xfrm>
            <a:off x="4718303" y="2971800"/>
            <a:ext cx="2752344" cy="457200"/>
          </a:xfrm>
          <a:prstGeom prst="rect">
            <a:avLst/>
          </a:prstGeom>
          <a:noFill/>
        </p:spPr>
        <p:txBody>
          <a:bodyPr wrap="square" lIns="0" rIns="0" tIns="0" bIns="0" anchor="t">
            <a:spAutoFit/>
          </a:bodyPr>
          <a:lstStyle/>
          <a:p>
            <a:pPr algn="l"/>
            <a:r>
              <a:rPr sz="2000" b="1" i="0">
                <a:solidFill>
                  <a:srgbClr val="0A1B34"/>
                </a:solidFill>
                <a:latin typeface="Arial"/>
              </a:rPr>
              <a:t>Structured contract</a:t>
            </a:r>
          </a:p>
        </p:txBody>
      </p:sp>
      <p:sp>
        <p:nvSpPr>
          <p:cNvPr id="15" name="TextBox 14"/>
          <p:cNvSpPr txBox="1"/>
          <p:nvPr/>
        </p:nvSpPr>
        <p:spPr>
          <a:xfrm>
            <a:off x="4718303" y="3611880"/>
            <a:ext cx="2752344" cy="2240280"/>
          </a:xfrm>
          <a:prstGeom prst="rect">
            <a:avLst/>
          </a:prstGeom>
          <a:noFill/>
        </p:spPr>
        <p:txBody>
          <a:bodyPr wrap="square" lIns="0" rIns="0" tIns="0" bIns="0" anchor="t">
            <a:spAutoFit/>
          </a:bodyPr>
          <a:lstStyle/>
          <a:p>
            <a:pPr marL="201168" indent="-201168">
              <a:spcAft>
                <a:spcPts val="1400"/>
              </a:spcAft>
              <a:buChar char="•"/>
            </a:pPr>
            <a:r>
              <a:rPr sz="1600">
                <a:solidFill>
                  <a:srgbClr val="17253D"/>
                </a:solidFill>
                <a:latin typeface="Calibri"/>
              </a:rPr>
              <a:t>Pydantic schema at the model boundary</a:t>
            </a:r>
          </a:p>
          <a:p>
            <a:pPr marL="201168" indent="-201168">
              <a:spcAft>
                <a:spcPts val="1400"/>
              </a:spcAft>
              <a:buChar char="•"/>
            </a:pPr>
            <a:r>
              <a:rPr sz="1600">
                <a:solidFill>
                  <a:srgbClr val="17253D"/>
                </a:solidFill>
                <a:latin typeface="Calibri"/>
              </a:rPr>
              <a:t>Malformed output fails loudly</a:t>
            </a:r>
          </a:p>
          <a:p>
            <a:pPr marL="201168" indent="-201168">
              <a:spcAft>
                <a:spcPts val="1400"/>
              </a:spcAft>
              <a:buChar char="•"/>
            </a:pPr>
            <a:r>
              <a:rPr sz="1600">
                <a:solidFill>
                  <a:srgbClr val="17253D"/>
                </a:solidFill>
                <a:latin typeface="Calibri"/>
              </a:rPr>
              <a:t>Extraction versions stay reconstructable</a:t>
            </a:r>
          </a:p>
        </p:txBody>
      </p:sp>
      <p:sp>
        <p:nvSpPr>
          <p:cNvPr id="16" name="Rounded Rectangle 15"/>
          <p:cNvSpPr/>
          <p:nvPr/>
        </p:nvSpPr>
        <p:spPr>
          <a:xfrm>
            <a:off x="8156447" y="1783080"/>
            <a:ext cx="3392423" cy="4343400"/>
          </a:xfrm>
          <a:prstGeom prst="roundRect">
            <a:avLst>
              <a:gd name="adj" fmla="val 2156"/>
            </a:avLst>
          </a:prstGeom>
          <a:solidFill>
            <a:srgbClr val="FFFFFF"/>
          </a:solidFill>
          <a:ln w="9525">
            <a:solidFill>
              <a:srgbClr val="D5DDEA"/>
            </a:solidFill>
          </a:ln>
          <a:effectLst/>
          <a:effectLst>
            <a:outerShdw blurRad="177800" dist="38100" dir="5400000" algn="t" rotWithShape="0">
              <a:srgbClr val="0A1B34">
                <a:alpha val="1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Oval 16"/>
          <p:cNvSpPr/>
          <p:nvPr/>
        </p:nvSpPr>
        <p:spPr>
          <a:xfrm>
            <a:off x="8476487" y="2103120"/>
            <a:ext cx="640080" cy="640080"/>
          </a:xfrm>
          <a:prstGeom prst="ellipse">
            <a:avLst/>
          </a:prstGeom>
          <a:solidFill>
            <a:srgbClr val="0A1B3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476487" y="2103120"/>
            <a:ext cx="640080" cy="640080"/>
          </a:xfrm>
          <a:prstGeom prst="rect">
            <a:avLst/>
          </a:prstGeom>
          <a:noFill/>
        </p:spPr>
        <p:txBody>
          <a:bodyPr wrap="square" lIns="0" rIns="0" tIns="0" bIns="0" anchor="ctr">
            <a:spAutoFit/>
          </a:bodyPr>
          <a:lstStyle/>
          <a:p>
            <a:pPr algn="ctr"/>
            <a:r>
              <a:rPr sz="2100" b="1" i="0">
                <a:solidFill>
                  <a:srgbClr val="FFFFFF"/>
                </a:solidFill>
                <a:latin typeface="Arial"/>
              </a:rPr>
              <a:t>3</a:t>
            </a:r>
          </a:p>
        </p:txBody>
      </p:sp>
      <p:sp>
        <p:nvSpPr>
          <p:cNvPr id="19" name="TextBox 18"/>
          <p:cNvSpPr txBox="1"/>
          <p:nvPr/>
        </p:nvSpPr>
        <p:spPr>
          <a:xfrm>
            <a:off x="8476487" y="2971800"/>
            <a:ext cx="2752344" cy="457200"/>
          </a:xfrm>
          <a:prstGeom prst="rect">
            <a:avLst/>
          </a:prstGeom>
          <a:noFill/>
        </p:spPr>
        <p:txBody>
          <a:bodyPr wrap="square" lIns="0" rIns="0" tIns="0" bIns="0" anchor="t">
            <a:spAutoFit/>
          </a:bodyPr>
          <a:lstStyle/>
          <a:p>
            <a:pPr algn="l"/>
            <a:r>
              <a:rPr sz="2000" b="1" i="0">
                <a:solidFill>
                  <a:srgbClr val="0A1B34"/>
                </a:solidFill>
                <a:latin typeface="Arial"/>
              </a:rPr>
              <a:t>Traceable context</a:t>
            </a:r>
          </a:p>
        </p:txBody>
      </p:sp>
      <p:sp>
        <p:nvSpPr>
          <p:cNvPr id="20" name="TextBox 19"/>
          <p:cNvSpPr txBox="1"/>
          <p:nvPr/>
        </p:nvSpPr>
        <p:spPr>
          <a:xfrm>
            <a:off x="8476487" y="3611880"/>
            <a:ext cx="2752344" cy="2240280"/>
          </a:xfrm>
          <a:prstGeom prst="rect">
            <a:avLst/>
          </a:prstGeom>
          <a:noFill/>
        </p:spPr>
        <p:txBody>
          <a:bodyPr wrap="square" lIns="0" rIns="0" tIns="0" bIns="0" anchor="t">
            <a:spAutoFit/>
          </a:bodyPr>
          <a:lstStyle/>
          <a:p>
            <a:pPr marL="201168" indent="-201168">
              <a:spcAft>
                <a:spcPts val="1400"/>
              </a:spcAft>
              <a:buChar char="•"/>
            </a:pPr>
            <a:r>
              <a:rPr sz="1600">
                <a:solidFill>
                  <a:srgbClr val="17253D"/>
                </a:solidFill>
                <a:latin typeface="Calibri"/>
              </a:rPr>
              <a:t>Synthetic policy IDs and source paths</a:t>
            </a:r>
          </a:p>
          <a:p>
            <a:pPr marL="201168" indent="-201168">
              <a:spcAft>
                <a:spcPts val="1400"/>
              </a:spcAft>
              <a:buChar char="•"/>
            </a:pPr>
            <a:r>
              <a:rPr sz="1600">
                <a:solidFill>
                  <a:srgbClr val="17253D"/>
                </a:solidFill>
                <a:latin typeface="Calibri"/>
              </a:rPr>
              <a:t>Prompt version telemetry</a:t>
            </a:r>
          </a:p>
          <a:p>
            <a:pPr marL="201168" indent="-201168">
              <a:spcAft>
                <a:spcPts val="1400"/>
              </a:spcAft>
              <a:buChar char="•"/>
            </a:pPr>
            <a:r>
              <a:rPr sz="1600">
                <a:solidFill>
                  <a:srgbClr val="17253D"/>
                </a:solidFill>
                <a:latin typeface="Calibri"/>
              </a:rPr>
              <a:t>Analyst can disagree with the rationale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08792" cy="274320"/>
          </a:xfrm>
          <a:prstGeom prst="rect">
            <a:avLst/>
          </a:prstGeom>
          <a:noFill/>
        </p:spPr>
        <p:txBody>
          <a:bodyPr wrap="square" lIns="0" rIns="0" tIns="0" bIns="0" anchor="ctr">
            <a:spAutoFit/>
          </a:bodyPr>
          <a:lstStyle/>
          <a:p>
            <a:pPr algn="l"/>
            <a:r>
              <a:rPr sz="1200" b="1" i="0" spc="300">
                <a:solidFill>
                  <a:srgbClr val="8A6A1F"/>
                </a:solidFill>
                <a:latin typeface="Calibri"/>
              </a:rPr>
              <a:t>ENGINEERING JUDGEMENT</a:t>
            </a:r>
          </a:p>
        </p:txBody>
      </p:sp>
      <p:sp>
        <p:nvSpPr>
          <p:cNvPr id="3" name="TextBox 2"/>
          <p:cNvSpPr txBox="1"/>
          <p:nvPr/>
        </p:nvSpPr>
        <p:spPr>
          <a:xfrm>
            <a:off x="640080" y="777240"/>
            <a:ext cx="10908792" cy="731520"/>
          </a:xfrm>
          <a:prstGeom prst="rect">
            <a:avLst/>
          </a:prstGeom>
          <a:noFill/>
        </p:spPr>
        <p:txBody>
          <a:bodyPr wrap="square" lIns="0" rIns="0" tIns="0" bIns="0" anchor="t">
            <a:spAutoFit/>
          </a:bodyPr>
          <a:lstStyle/>
          <a:p>
            <a:pPr algn="l"/>
            <a:r>
              <a:rPr sz="3000" b="1" i="0">
                <a:solidFill>
                  <a:srgbClr val="0A1B34"/>
                </a:solidFill>
                <a:latin typeface="Arial"/>
              </a:rPr>
              <a:t>Scoring is explainable by construction</a:t>
            </a:r>
          </a:p>
        </p:txBody>
      </p:sp>
      <p:sp>
        <p:nvSpPr>
          <p:cNvPr id="4" name="TextBox 3"/>
          <p:cNvSpPr txBox="1"/>
          <p:nvPr/>
        </p:nvSpPr>
        <p:spPr>
          <a:xfrm>
            <a:off x="640080" y="6355080"/>
            <a:ext cx="7315200" cy="274320"/>
          </a:xfrm>
          <a:prstGeom prst="rect">
            <a:avLst/>
          </a:prstGeom>
          <a:noFill/>
        </p:spPr>
        <p:txBody>
          <a:bodyPr wrap="square" lIns="0" rIns="0" tIns="0" bIns="0" anchor="ctr">
            <a:spAutoFit/>
          </a:bodyPr>
          <a:lstStyle/>
          <a:p>
            <a:pPr algn="l"/>
            <a:r>
              <a:rPr sz="1000" b="0" i="0">
                <a:solidFill>
                  <a:srgbClr val="55657D"/>
                </a:solidFill>
                <a:latin typeface="Calibri"/>
              </a:rPr>
              <a:t>Risk Assessment Workbench  |  Genius Hacks 2026</a:t>
            </a:r>
          </a:p>
        </p:txBody>
      </p:sp>
      <p:sp>
        <p:nvSpPr>
          <p:cNvPr id="5" name="TextBox 4"/>
          <p:cNvSpPr txBox="1"/>
          <p:nvPr/>
        </p:nvSpPr>
        <p:spPr>
          <a:xfrm>
            <a:off x="10881360" y="6355080"/>
            <a:ext cx="667512" cy="274320"/>
          </a:xfrm>
          <a:prstGeom prst="rect">
            <a:avLst/>
          </a:prstGeom>
          <a:noFill/>
        </p:spPr>
        <p:txBody>
          <a:bodyPr wrap="square" lIns="0" rIns="0" tIns="0" bIns="0" anchor="ctr">
            <a:spAutoFit/>
          </a:bodyPr>
          <a:lstStyle/>
          <a:p>
            <a:pPr algn="r"/>
            <a:r>
              <a:rPr sz="1000" b="0" i="0">
                <a:solidFill>
                  <a:srgbClr val="55657D"/>
                </a:solidFill>
                <a:latin typeface="Calibri"/>
              </a:rPr>
              <a:t>6</a:t>
            </a:r>
          </a:p>
        </p:txBody>
      </p:sp>
      <p:sp>
        <p:nvSpPr>
          <p:cNvPr id="6" name="Rounded Rectangle 5"/>
          <p:cNvSpPr/>
          <p:nvPr/>
        </p:nvSpPr>
        <p:spPr>
          <a:xfrm>
            <a:off x="640080" y="1783080"/>
            <a:ext cx="6035040" cy="4343400"/>
          </a:xfrm>
          <a:prstGeom prst="roundRect">
            <a:avLst>
              <a:gd name="adj" fmla="val 1684"/>
            </a:avLst>
          </a:prstGeom>
          <a:solidFill>
            <a:srgbClr val="FFFFFF"/>
          </a:solidFill>
          <a:ln w="9525">
            <a:solidFill>
              <a:srgbClr val="D5DDEA"/>
            </a:solidFill>
          </a:ln>
          <a:effectLst/>
          <a:effectLst>
            <a:outerShdw blurRad="177800" dist="38100" dir="5400000" algn="t" rotWithShape="0">
              <a:srgbClr val="0A1B34">
                <a:alpha val="1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822959" y="1920240"/>
          <a:ext cx="5669279" cy="4069080"/>
        </p:xfrm>
        <a:graphic>
          <a:graphicData uri="http://schemas.openxmlformats.org/drawingml/2006/chart">
            <c:chart xmlns:c="http://schemas.openxmlformats.org/drawingml/2006/chart" r:id="rId3"/>
          </a:graphicData>
        </a:graphic>
      </p:graphicFrame>
      <p:sp>
        <p:nvSpPr>
          <p:cNvPr id="8" name="Rounded Rectangle 7"/>
          <p:cNvSpPr/>
          <p:nvPr/>
        </p:nvSpPr>
        <p:spPr>
          <a:xfrm>
            <a:off x="7040880" y="1783080"/>
            <a:ext cx="4507992" cy="1988819"/>
          </a:xfrm>
          <a:prstGeom prst="roundRect">
            <a:avLst>
              <a:gd name="adj" fmla="val 3678"/>
            </a:avLst>
          </a:prstGeom>
          <a:solidFill>
            <a:srgbClr val="EEF3FA"/>
          </a:solidFill>
          <a:ln w="9525">
            <a:solidFill>
              <a:srgbClr val="D5DDE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360920" y="2011680"/>
            <a:ext cx="3867911" cy="411480"/>
          </a:xfrm>
          <a:prstGeom prst="rect">
            <a:avLst/>
          </a:prstGeom>
          <a:noFill/>
        </p:spPr>
        <p:txBody>
          <a:bodyPr wrap="square" lIns="0" rIns="0" tIns="0" bIns="0" anchor="t">
            <a:spAutoFit/>
          </a:bodyPr>
          <a:lstStyle/>
          <a:p>
            <a:pPr algn="l"/>
            <a:r>
              <a:rPr sz="2000" b="1" i="0">
                <a:solidFill>
                  <a:srgbClr val="0A1B34"/>
                </a:solidFill>
                <a:latin typeface="Arial"/>
              </a:rPr>
              <a:t>Why not an LLM score?</a:t>
            </a:r>
          </a:p>
        </p:txBody>
      </p:sp>
      <p:sp>
        <p:nvSpPr>
          <p:cNvPr id="10" name="TextBox 9"/>
          <p:cNvSpPr txBox="1"/>
          <p:nvPr/>
        </p:nvSpPr>
        <p:spPr>
          <a:xfrm>
            <a:off x="7360920" y="2514600"/>
            <a:ext cx="3867911" cy="1074419"/>
          </a:xfrm>
          <a:prstGeom prst="rect">
            <a:avLst/>
          </a:prstGeom>
          <a:noFill/>
        </p:spPr>
        <p:txBody>
          <a:bodyPr wrap="square" lIns="0" rIns="0" tIns="0" bIns="0" anchor="t">
            <a:spAutoFit/>
          </a:bodyPr>
          <a:lstStyle/>
          <a:p>
            <a:pPr algn="l"/>
            <a:r>
              <a:rPr sz="1500" b="0" i="0">
                <a:solidFill>
                  <a:srgbClr val="17253D"/>
                </a:solidFill>
                <a:latin typeface="Calibri"/>
              </a:rPr>
              <a:t>A committee must reproduce, challenge, and test the number. The model structures evidence; deterministic Python combines category scores.</a:t>
            </a:r>
          </a:p>
        </p:txBody>
      </p:sp>
      <p:sp>
        <p:nvSpPr>
          <p:cNvPr id="11" name="Rounded Rectangle 10"/>
          <p:cNvSpPr/>
          <p:nvPr/>
        </p:nvSpPr>
        <p:spPr>
          <a:xfrm>
            <a:off x="7040880" y="4137659"/>
            <a:ext cx="4507992" cy="1988819"/>
          </a:xfrm>
          <a:prstGeom prst="roundRect">
            <a:avLst>
              <a:gd name="adj" fmla="val 3678"/>
            </a:avLst>
          </a:prstGeom>
          <a:solidFill>
            <a:srgbClr val="FFFFFF"/>
          </a:solidFill>
          <a:ln w="9525">
            <a:solidFill>
              <a:srgbClr val="C8A24A"/>
            </a:solidFill>
          </a:ln>
          <a:effectLst/>
          <a:effectLst>
            <a:outerShdw blurRad="177800" dist="38100" dir="5400000" algn="t" rotWithShape="0">
              <a:srgbClr val="0A1B34">
                <a:alpha val="1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360920" y="4366259"/>
            <a:ext cx="3867911" cy="411480"/>
          </a:xfrm>
          <a:prstGeom prst="rect">
            <a:avLst/>
          </a:prstGeom>
          <a:noFill/>
        </p:spPr>
        <p:txBody>
          <a:bodyPr wrap="square" lIns="0" rIns="0" tIns="0" bIns="0" anchor="t">
            <a:spAutoFit/>
          </a:bodyPr>
          <a:lstStyle/>
          <a:p>
            <a:pPr algn="l"/>
            <a:r>
              <a:rPr sz="2000" b="1" i="0">
                <a:solidFill>
                  <a:srgbClr val="8A6A1F"/>
                </a:solidFill>
                <a:latin typeface="Arial"/>
              </a:rPr>
              <a:t>Honest limits</a:t>
            </a:r>
          </a:p>
        </p:txBody>
      </p:sp>
      <p:sp>
        <p:nvSpPr>
          <p:cNvPr id="13" name="TextBox 12"/>
          <p:cNvSpPr txBox="1"/>
          <p:nvPr/>
        </p:nvSpPr>
        <p:spPr>
          <a:xfrm>
            <a:off x="7360920" y="4869179"/>
            <a:ext cx="3867911" cy="1074419"/>
          </a:xfrm>
          <a:prstGeom prst="rect">
            <a:avLst/>
          </a:prstGeom>
          <a:noFill/>
        </p:spPr>
        <p:txBody>
          <a:bodyPr wrap="square" lIns="0" rIns="0" tIns="0" bIns="0" anchor="t">
            <a:spAutoFit/>
          </a:bodyPr>
          <a:lstStyle/>
          <a:p>
            <a:pPr algn="l"/>
            <a:r>
              <a:rPr sz="1500" b="0" i="0">
                <a:solidFill>
                  <a:srgbClr val="17253D"/>
                </a:solidFill>
                <a:latin typeface="Calibri"/>
              </a:rPr>
              <a:t>Weights and policy material are synthetic, not approved supervisory mappings. Control effectiveness and residual risk are not yet modeled.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08792" cy="274320"/>
          </a:xfrm>
          <a:prstGeom prst="rect">
            <a:avLst/>
          </a:prstGeom>
          <a:noFill/>
        </p:spPr>
        <p:txBody>
          <a:bodyPr wrap="square" lIns="0" rIns="0" tIns="0" bIns="0" anchor="ctr">
            <a:spAutoFit/>
          </a:bodyPr>
          <a:lstStyle/>
          <a:p>
            <a:pPr algn="l"/>
            <a:r>
              <a:rPr sz="1200" b="1" i="0" spc="300">
                <a:solidFill>
                  <a:srgbClr val="8A6A1F"/>
                </a:solidFill>
                <a:latin typeface="Calibri"/>
              </a:rPr>
              <a:t>SIX STAGES</a:t>
            </a:r>
          </a:p>
        </p:txBody>
      </p:sp>
      <p:sp>
        <p:nvSpPr>
          <p:cNvPr id="3" name="TextBox 2"/>
          <p:cNvSpPr txBox="1"/>
          <p:nvPr/>
        </p:nvSpPr>
        <p:spPr>
          <a:xfrm>
            <a:off x="640080" y="777240"/>
            <a:ext cx="10908792" cy="731520"/>
          </a:xfrm>
          <a:prstGeom prst="rect">
            <a:avLst/>
          </a:prstGeom>
          <a:noFill/>
        </p:spPr>
        <p:txBody>
          <a:bodyPr wrap="square" lIns="0" rIns="0" tIns="0" bIns="0" anchor="t">
            <a:spAutoFit/>
          </a:bodyPr>
          <a:lstStyle/>
          <a:p>
            <a:pPr algn="l"/>
            <a:r>
              <a:rPr sz="3000" b="1" i="0">
                <a:solidFill>
                  <a:srgbClr val="0A1B34"/>
                </a:solidFill>
                <a:latin typeface="Arial"/>
              </a:rPr>
              <a:t>AI is part of delivery, not only runtime code</a:t>
            </a:r>
          </a:p>
        </p:txBody>
      </p:sp>
      <p:sp>
        <p:nvSpPr>
          <p:cNvPr id="4" name="TextBox 3"/>
          <p:cNvSpPr txBox="1"/>
          <p:nvPr/>
        </p:nvSpPr>
        <p:spPr>
          <a:xfrm>
            <a:off x="640080" y="6355080"/>
            <a:ext cx="7315200" cy="274320"/>
          </a:xfrm>
          <a:prstGeom prst="rect">
            <a:avLst/>
          </a:prstGeom>
          <a:noFill/>
        </p:spPr>
        <p:txBody>
          <a:bodyPr wrap="square" lIns="0" rIns="0" tIns="0" bIns="0" anchor="ctr">
            <a:spAutoFit/>
          </a:bodyPr>
          <a:lstStyle/>
          <a:p>
            <a:pPr algn="l"/>
            <a:r>
              <a:rPr sz="1000" b="0" i="0">
                <a:solidFill>
                  <a:srgbClr val="55657D"/>
                </a:solidFill>
                <a:latin typeface="Calibri"/>
              </a:rPr>
              <a:t>Risk Assessment Workbench  |  Genius Hacks 2026</a:t>
            </a:r>
          </a:p>
        </p:txBody>
      </p:sp>
      <p:sp>
        <p:nvSpPr>
          <p:cNvPr id="5" name="TextBox 4"/>
          <p:cNvSpPr txBox="1"/>
          <p:nvPr/>
        </p:nvSpPr>
        <p:spPr>
          <a:xfrm>
            <a:off x="10881360" y="6355080"/>
            <a:ext cx="667512" cy="274320"/>
          </a:xfrm>
          <a:prstGeom prst="rect">
            <a:avLst/>
          </a:prstGeom>
          <a:noFill/>
        </p:spPr>
        <p:txBody>
          <a:bodyPr wrap="square" lIns="0" rIns="0" tIns="0" bIns="0" anchor="ctr">
            <a:spAutoFit/>
          </a:bodyPr>
          <a:lstStyle/>
          <a:p>
            <a:pPr algn="r"/>
            <a:r>
              <a:rPr sz="1000" b="0" i="0">
                <a:solidFill>
                  <a:srgbClr val="55657D"/>
                </a:solidFill>
                <a:latin typeface="Calibri"/>
              </a:rPr>
              <a:t>7</a:t>
            </a:r>
          </a:p>
        </p:txBody>
      </p:sp>
      <p:sp>
        <p:nvSpPr>
          <p:cNvPr id="6" name="Rounded Rectangle 5"/>
          <p:cNvSpPr/>
          <p:nvPr/>
        </p:nvSpPr>
        <p:spPr>
          <a:xfrm>
            <a:off x="640080" y="1783080"/>
            <a:ext cx="3392423" cy="1691640"/>
          </a:xfrm>
          <a:prstGeom prst="roundRect">
            <a:avLst>
              <a:gd name="adj" fmla="val 4324"/>
            </a:avLst>
          </a:prstGeom>
          <a:solidFill>
            <a:srgbClr val="FFFFFF"/>
          </a:solidFill>
          <a:ln w="9525">
            <a:solidFill>
              <a:srgbClr val="D5DDEA"/>
            </a:solidFill>
          </a:ln>
          <a:effectLst/>
          <a:effectLst>
            <a:outerShdw blurRad="177800" dist="38100" dir="5400000" algn="t" rotWithShape="0">
              <a:srgbClr val="0A1B34">
                <a:alpha val="1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p:cNvSpPr/>
          <p:nvPr/>
        </p:nvSpPr>
        <p:spPr>
          <a:xfrm>
            <a:off x="960119" y="2057400"/>
            <a:ext cx="594360" cy="594360"/>
          </a:xfrm>
          <a:prstGeom prst="ellipse">
            <a:avLst/>
          </a:prstGeom>
          <a:solidFill>
            <a:srgbClr val="0A1B3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960119" y="2057400"/>
            <a:ext cx="594360" cy="594360"/>
          </a:xfrm>
          <a:prstGeom prst="rect">
            <a:avLst/>
          </a:prstGeom>
          <a:noFill/>
        </p:spPr>
        <p:txBody>
          <a:bodyPr wrap="square" lIns="0" rIns="0" tIns="0" bIns="0" anchor="ctr">
            <a:spAutoFit/>
          </a:bodyPr>
          <a:lstStyle/>
          <a:p>
            <a:pPr algn="ctr"/>
            <a:r>
              <a:rPr sz="2000" b="1" i="0">
                <a:solidFill>
                  <a:srgbClr val="FFFFFF"/>
                </a:solidFill>
                <a:latin typeface="Arial"/>
              </a:rPr>
              <a:t>1</a:t>
            </a:r>
          </a:p>
        </p:txBody>
      </p:sp>
      <p:sp>
        <p:nvSpPr>
          <p:cNvPr id="9" name="TextBox 8"/>
          <p:cNvSpPr txBox="1"/>
          <p:nvPr/>
        </p:nvSpPr>
        <p:spPr>
          <a:xfrm>
            <a:off x="1737360" y="2057400"/>
            <a:ext cx="2020823" cy="594360"/>
          </a:xfrm>
          <a:prstGeom prst="rect">
            <a:avLst/>
          </a:prstGeom>
          <a:noFill/>
        </p:spPr>
        <p:txBody>
          <a:bodyPr wrap="square" lIns="0" rIns="0" tIns="0" bIns="0" anchor="ctr">
            <a:spAutoFit/>
          </a:bodyPr>
          <a:lstStyle/>
          <a:p>
            <a:pPr algn="l"/>
            <a:r>
              <a:rPr sz="2000" b="1" i="0">
                <a:solidFill>
                  <a:srgbClr val="0A1B34"/>
                </a:solidFill>
                <a:latin typeface="Arial"/>
              </a:rPr>
              <a:t>Requirements</a:t>
            </a:r>
          </a:p>
        </p:txBody>
      </p:sp>
      <p:sp>
        <p:nvSpPr>
          <p:cNvPr id="10" name="TextBox 9"/>
          <p:cNvSpPr txBox="1"/>
          <p:nvPr/>
        </p:nvSpPr>
        <p:spPr>
          <a:xfrm>
            <a:off x="960119" y="2880360"/>
            <a:ext cx="2752344" cy="365760"/>
          </a:xfrm>
          <a:prstGeom prst="rect">
            <a:avLst/>
          </a:prstGeom>
          <a:noFill/>
        </p:spPr>
        <p:txBody>
          <a:bodyPr wrap="square" lIns="0" rIns="0" tIns="0" bIns="0" anchor="ctr">
            <a:spAutoFit/>
          </a:bodyPr>
          <a:lstStyle/>
          <a:p>
            <a:pPr algn="l"/>
            <a:r>
              <a:rPr sz="1700" b="0" i="0">
                <a:solidFill>
                  <a:srgbClr val="55657D"/>
                </a:solidFill>
                <a:latin typeface="Calibri"/>
              </a:rPr>
              <a:t>Brief → spec</a:t>
            </a:r>
          </a:p>
        </p:txBody>
      </p:sp>
      <p:sp>
        <p:nvSpPr>
          <p:cNvPr id="11" name="Rounded Rectangle 10"/>
          <p:cNvSpPr/>
          <p:nvPr/>
        </p:nvSpPr>
        <p:spPr>
          <a:xfrm>
            <a:off x="4398264" y="1783080"/>
            <a:ext cx="3392423" cy="1691640"/>
          </a:xfrm>
          <a:prstGeom prst="roundRect">
            <a:avLst>
              <a:gd name="adj" fmla="val 4324"/>
            </a:avLst>
          </a:prstGeom>
          <a:solidFill>
            <a:srgbClr val="FFFFFF"/>
          </a:solidFill>
          <a:ln w="9525">
            <a:solidFill>
              <a:srgbClr val="D5DDEA"/>
            </a:solidFill>
          </a:ln>
          <a:effectLst/>
          <a:effectLst>
            <a:outerShdw blurRad="177800" dist="38100" dir="5400000" algn="t" rotWithShape="0">
              <a:srgbClr val="0A1B34">
                <a:alpha val="1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Oval 11"/>
          <p:cNvSpPr/>
          <p:nvPr/>
        </p:nvSpPr>
        <p:spPr>
          <a:xfrm>
            <a:off x="4718303" y="2057400"/>
            <a:ext cx="594360" cy="594360"/>
          </a:xfrm>
          <a:prstGeom prst="ellipse">
            <a:avLst/>
          </a:prstGeom>
          <a:solidFill>
            <a:srgbClr val="1F4E9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718303" y="2057400"/>
            <a:ext cx="594360" cy="594360"/>
          </a:xfrm>
          <a:prstGeom prst="rect">
            <a:avLst/>
          </a:prstGeom>
          <a:noFill/>
        </p:spPr>
        <p:txBody>
          <a:bodyPr wrap="square" lIns="0" rIns="0" tIns="0" bIns="0" anchor="ctr">
            <a:spAutoFit/>
          </a:bodyPr>
          <a:lstStyle/>
          <a:p>
            <a:pPr algn="ctr"/>
            <a:r>
              <a:rPr sz="2000" b="1" i="0">
                <a:solidFill>
                  <a:srgbClr val="FFFFFF"/>
                </a:solidFill>
                <a:latin typeface="Arial"/>
              </a:rPr>
              <a:t>2</a:t>
            </a:r>
          </a:p>
        </p:txBody>
      </p:sp>
      <p:sp>
        <p:nvSpPr>
          <p:cNvPr id="14" name="TextBox 13"/>
          <p:cNvSpPr txBox="1"/>
          <p:nvPr/>
        </p:nvSpPr>
        <p:spPr>
          <a:xfrm>
            <a:off x="5495544" y="2057400"/>
            <a:ext cx="2020823" cy="594360"/>
          </a:xfrm>
          <a:prstGeom prst="rect">
            <a:avLst/>
          </a:prstGeom>
          <a:noFill/>
        </p:spPr>
        <p:txBody>
          <a:bodyPr wrap="square" lIns="0" rIns="0" tIns="0" bIns="0" anchor="ctr">
            <a:spAutoFit/>
          </a:bodyPr>
          <a:lstStyle/>
          <a:p>
            <a:pPr algn="l"/>
            <a:r>
              <a:rPr sz="2000" b="1" i="0">
                <a:solidFill>
                  <a:srgbClr val="0A1B34"/>
                </a:solidFill>
                <a:latin typeface="Arial"/>
              </a:rPr>
              <a:t>Design</a:t>
            </a:r>
          </a:p>
        </p:txBody>
      </p:sp>
      <p:sp>
        <p:nvSpPr>
          <p:cNvPr id="15" name="TextBox 14"/>
          <p:cNvSpPr txBox="1"/>
          <p:nvPr/>
        </p:nvSpPr>
        <p:spPr>
          <a:xfrm>
            <a:off x="4718303" y="2880360"/>
            <a:ext cx="2752344" cy="365760"/>
          </a:xfrm>
          <a:prstGeom prst="rect">
            <a:avLst/>
          </a:prstGeom>
          <a:noFill/>
        </p:spPr>
        <p:txBody>
          <a:bodyPr wrap="square" lIns="0" rIns="0" tIns="0" bIns="0" anchor="ctr">
            <a:spAutoFit/>
          </a:bodyPr>
          <a:lstStyle/>
          <a:p>
            <a:pPr algn="l"/>
            <a:r>
              <a:rPr sz="1700" b="0" i="0">
                <a:solidFill>
                  <a:srgbClr val="55657D"/>
                </a:solidFill>
                <a:latin typeface="Calibri"/>
              </a:rPr>
              <a:t>Options → decision</a:t>
            </a:r>
          </a:p>
        </p:txBody>
      </p:sp>
      <p:sp>
        <p:nvSpPr>
          <p:cNvPr id="16" name="Rounded Rectangle 15"/>
          <p:cNvSpPr/>
          <p:nvPr/>
        </p:nvSpPr>
        <p:spPr>
          <a:xfrm>
            <a:off x="8156447" y="1783080"/>
            <a:ext cx="3392423" cy="1691640"/>
          </a:xfrm>
          <a:prstGeom prst="roundRect">
            <a:avLst>
              <a:gd name="adj" fmla="val 4324"/>
            </a:avLst>
          </a:prstGeom>
          <a:solidFill>
            <a:srgbClr val="FFFFFF"/>
          </a:solidFill>
          <a:ln w="9525">
            <a:solidFill>
              <a:srgbClr val="D5DDEA"/>
            </a:solidFill>
          </a:ln>
          <a:effectLst/>
          <a:effectLst>
            <a:outerShdw blurRad="177800" dist="38100" dir="5400000" algn="t" rotWithShape="0">
              <a:srgbClr val="0A1B34">
                <a:alpha val="1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Oval 16"/>
          <p:cNvSpPr/>
          <p:nvPr/>
        </p:nvSpPr>
        <p:spPr>
          <a:xfrm>
            <a:off x="8476487" y="2057400"/>
            <a:ext cx="594360" cy="594360"/>
          </a:xfrm>
          <a:prstGeom prst="ellipse">
            <a:avLst/>
          </a:prstGeom>
          <a:solidFill>
            <a:srgbClr val="0A1B3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476487" y="2057400"/>
            <a:ext cx="594360" cy="594360"/>
          </a:xfrm>
          <a:prstGeom prst="rect">
            <a:avLst/>
          </a:prstGeom>
          <a:noFill/>
        </p:spPr>
        <p:txBody>
          <a:bodyPr wrap="square" lIns="0" rIns="0" tIns="0" bIns="0" anchor="ctr">
            <a:spAutoFit/>
          </a:bodyPr>
          <a:lstStyle/>
          <a:p>
            <a:pPr algn="ctr"/>
            <a:r>
              <a:rPr sz="2000" b="1" i="0">
                <a:solidFill>
                  <a:srgbClr val="FFFFFF"/>
                </a:solidFill>
                <a:latin typeface="Arial"/>
              </a:rPr>
              <a:t>3</a:t>
            </a:r>
          </a:p>
        </p:txBody>
      </p:sp>
      <p:sp>
        <p:nvSpPr>
          <p:cNvPr id="19" name="TextBox 18"/>
          <p:cNvSpPr txBox="1"/>
          <p:nvPr/>
        </p:nvSpPr>
        <p:spPr>
          <a:xfrm>
            <a:off x="9253727" y="2057400"/>
            <a:ext cx="2020823" cy="594360"/>
          </a:xfrm>
          <a:prstGeom prst="rect">
            <a:avLst/>
          </a:prstGeom>
          <a:noFill/>
        </p:spPr>
        <p:txBody>
          <a:bodyPr wrap="square" lIns="0" rIns="0" tIns="0" bIns="0" anchor="ctr">
            <a:spAutoFit/>
          </a:bodyPr>
          <a:lstStyle/>
          <a:p>
            <a:pPr algn="l"/>
            <a:r>
              <a:rPr sz="2000" b="1" i="0">
                <a:solidFill>
                  <a:srgbClr val="0A1B34"/>
                </a:solidFill>
                <a:latin typeface="Arial"/>
              </a:rPr>
              <a:t>Development</a:t>
            </a:r>
          </a:p>
        </p:txBody>
      </p:sp>
      <p:sp>
        <p:nvSpPr>
          <p:cNvPr id="20" name="TextBox 19"/>
          <p:cNvSpPr txBox="1"/>
          <p:nvPr/>
        </p:nvSpPr>
        <p:spPr>
          <a:xfrm>
            <a:off x="8476487" y="2880360"/>
            <a:ext cx="2752344" cy="365760"/>
          </a:xfrm>
          <a:prstGeom prst="rect">
            <a:avLst/>
          </a:prstGeom>
          <a:noFill/>
        </p:spPr>
        <p:txBody>
          <a:bodyPr wrap="square" lIns="0" rIns="0" tIns="0" bIns="0" anchor="ctr">
            <a:spAutoFit/>
          </a:bodyPr>
          <a:lstStyle/>
          <a:p>
            <a:pPr algn="l"/>
            <a:r>
              <a:rPr sz="1700" b="0" i="0">
                <a:solidFill>
                  <a:srgbClr val="55657D"/>
                </a:solidFill>
                <a:latin typeface="Calibri"/>
              </a:rPr>
              <a:t>Contract → code</a:t>
            </a:r>
          </a:p>
        </p:txBody>
      </p:sp>
      <p:sp>
        <p:nvSpPr>
          <p:cNvPr id="21" name="Rounded Rectangle 20"/>
          <p:cNvSpPr/>
          <p:nvPr/>
        </p:nvSpPr>
        <p:spPr>
          <a:xfrm>
            <a:off x="640080" y="3749039"/>
            <a:ext cx="3392423" cy="1691640"/>
          </a:xfrm>
          <a:prstGeom prst="roundRect">
            <a:avLst>
              <a:gd name="adj" fmla="val 4324"/>
            </a:avLst>
          </a:prstGeom>
          <a:solidFill>
            <a:srgbClr val="FFFFFF"/>
          </a:solidFill>
          <a:ln w="9525">
            <a:solidFill>
              <a:srgbClr val="D5DDEA"/>
            </a:solidFill>
          </a:ln>
          <a:effectLst/>
          <a:effectLst>
            <a:outerShdw blurRad="177800" dist="38100" dir="5400000" algn="t" rotWithShape="0">
              <a:srgbClr val="0A1B34">
                <a:alpha val="1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Oval 21"/>
          <p:cNvSpPr/>
          <p:nvPr/>
        </p:nvSpPr>
        <p:spPr>
          <a:xfrm>
            <a:off x="960119" y="4023359"/>
            <a:ext cx="594360" cy="594360"/>
          </a:xfrm>
          <a:prstGeom prst="ellipse">
            <a:avLst/>
          </a:prstGeom>
          <a:solidFill>
            <a:srgbClr val="1F4E9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960119" y="4023359"/>
            <a:ext cx="594360" cy="594360"/>
          </a:xfrm>
          <a:prstGeom prst="rect">
            <a:avLst/>
          </a:prstGeom>
          <a:noFill/>
        </p:spPr>
        <p:txBody>
          <a:bodyPr wrap="square" lIns="0" rIns="0" tIns="0" bIns="0" anchor="ctr">
            <a:spAutoFit/>
          </a:bodyPr>
          <a:lstStyle/>
          <a:p>
            <a:pPr algn="ctr"/>
            <a:r>
              <a:rPr sz="2000" b="1" i="0">
                <a:solidFill>
                  <a:srgbClr val="FFFFFF"/>
                </a:solidFill>
                <a:latin typeface="Arial"/>
              </a:rPr>
              <a:t>4</a:t>
            </a:r>
          </a:p>
        </p:txBody>
      </p:sp>
      <p:sp>
        <p:nvSpPr>
          <p:cNvPr id="24" name="TextBox 23"/>
          <p:cNvSpPr txBox="1"/>
          <p:nvPr/>
        </p:nvSpPr>
        <p:spPr>
          <a:xfrm>
            <a:off x="1737360" y="4023359"/>
            <a:ext cx="2020823" cy="594360"/>
          </a:xfrm>
          <a:prstGeom prst="rect">
            <a:avLst/>
          </a:prstGeom>
          <a:noFill/>
        </p:spPr>
        <p:txBody>
          <a:bodyPr wrap="square" lIns="0" rIns="0" tIns="0" bIns="0" anchor="ctr">
            <a:spAutoFit/>
          </a:bodyPr>
          <a:lstStyle/>
          <a:p>
            <a:pPr algn="l"/>
            <a:r>
              <a:rPr sz="2000" b="1" i="0">
                <a:solidFill>
                  <a:srgbClr val="0A1B34"/>
                </a:solidFill>
                <a:latin typeface="Arial"/>
              </a:rPr>
              <a:t>Testing</a:t>
            </a:r>
          </a:p>
        </p:txBody>
      </p:sp>
      <p:sp>
        <p:nvSpPr>
          <p:cNvPr id="25" name="TextBox 24"/>
          <p:cNvSpPr txBox="1"/>
          <p:nvPr/>
        </p:nvSpPr>
        <p:spPr>
          <a:xfrm>
            <a:off x="960119" y="4846320"/>
            <a:ext cx="2752344" cy="365760"/>
          </a:xfrm>
          <a:prstGeom prst="rect">
            <a:avLst/>
          </a:prstGeom>
          <a:noFill/>
        </p:spPr>
        <p:txBody>
          <a:bodyPr wrap="square" lIns="0" rIns="0" tIns="0" bIns="0" anchor="ctr">
            <a:spAutoFit/>
          </a:bodyPr>
          <a:lstStyle/>
          <a:p>
            <a:pPr algn="l"/>
            <a:r>
              <a:rPr sz="1700" b="0" i="0">
                <a:solidFill>
                  <a:srgbClr val="55657D"/>
                </a:solidFill>
                <a:latin typeface="Calibri"/>
              </a:rPr>
              <a:t>Cases → metrics</a:t>
            </a:r>
          </a:p>
        </p:txBody>
      </p:sp>
      <p:sp>
        <p:nvSpPr>
          <p:cNvPr id="26" name="Rounded Rectangle 25"/>
          <p:cNvSpPr/>
          <p:nvPr/>
        </p:nvSpPr>
        <p:spPr>
          <a:xfrm>
            <a:off x="4398264" y="3749039"/>
            <a:ext cx="3392423" cy="1691640"/>
          </a:xfrm>
          <a:prstGeom prst="roundRect">
            <a:avLst>
              <a:gd name="adj" fmla="val 4324"/>
            </a:avLst>
          </a:prstGeom>
          <a:solidFill>
            <a:srgbClr val="FFFFFF"/>
          </a:solidFill>
          <a:ln w="9525">
            <a:solidFill>
              <a:srgbClr val="D5DDEA"/>
            </a:solidFill>
          </a:ln>
          <a:effectLst/>
          <a:effectLst>
            <a:outerShdw blurRad="177800" dist="38100" dir="5400000" algn="t" rotWithShape="0">
              <a:srgbClr val="0A1B34">
                <a:alpha val="1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Oval 26"/>
          <p:cNvSpPr/>
          <p:nvPr/>
        </p:nvSpPr>
        <p:spPr>
          <a:xfrm>
            <a:off x="4718303" y="4023359"/>
            <a:ext cx="594360" cy="594360"/>
          </a:xfrm>
          <a:prstGeom prst="ellipse">
            <a:avLst/>
          </a:prstGeom>
          <a:solidFill>
            <a:srgbClr val="0A1B3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4718303" y="4023359"/>
            <a:ext cx="594360" cy="594360"/>
          </a:xfrm>
          <a:prstGeom prst="rect">
            <a:avLst/>
          </a:prstGeom>
          <a:noFill/>
        </p:spPr>
        <p:txBody>
          <a:bodyPr wrap="square" lIns="0" rIns="0" tIns="0" bIns="0" anchor="ctr">
            <a:spAutoFit/>
          </a:bodyPr>
          <a:lstStyle/>
          <a:p>
            <a:pPr algn="ctr"/>
            <a:r>
              <a:rPr sz="2000" b="1" i="0">
                <a:solidFill>
                  <a:srgbClr val="FFFFFF"/>
                </a:solidFill>
                <a:latin typeface="Arial"/>
              </a:rPr>
              <a:t>5</a:t>
            </a:r>
          </a:p>
        </p:txBody>
      </p:sp>
      <p:sp>
        <p:nvSpPr>
          <p:cNvPr id="29" name="TextBox 28"/>
          <p:cNvSpPr txBox="1"/>
          <p:nvPr/>
        </p:nvSpPr>
        <p:spPr>
          <a:xfrm>
            <a:off x="5495544" y="4023359"/>
            <a:ext cx="2020823" cy="594360"/>
          </a:xfrm>
          <a:prstGeom prst="rect">
            <a:avLst/>
          </a:prstGeom>
          <a:noFill/>
        </p:spPr>
        <p:txBody>
          <a:bodyPr wrap="square" lIns="0" rIns="0" tIns="0" bIns="0" anchor="ctr">
            <a:spAutoFit/>
          </a:bodyPr>
          <a:lstStyle/>
          <a:p>
            <a:pPr algn="l"/>
            <a:r>
              <a:rPr sz="2000" b="1" i="0">
                <a:solidFill>
                  <a:srgbClr val="0A1B34"/>
                </a:solidFill>
                <a:latin typeface="Arial"/>
              </a:rPr>
              <a:t>Deployment</a:t>
            </a:r>
          </a:p>
        </p:txBody>
      </p:sp>
      <p:sp>
        <p:nvSpPr>
          <p:cNvPr id="30" name="TextBox 29"/>
          <p:cNvSpPr txBox="1"/>
          <p:nvPr/>
        </p:nvSpPr>
        <p:spPr>
          <a:xfrm>
            <a:off x="4718303" y="4846320"/>
            <a:ext cx="2752344" cy="365760"/>
          </a:xfrm>
          <a:prstGeom prst="rect">
            <a:avLst/>
          </a:prstGeom>
          <a:noFill/>
        </p:spPr>
        <p:txBody>
          <a:bodyPr wrap="square" lIns="0" rIns="0" tIns="0" bIns="0" anchor="ctr">
            <a:spAutoFit/>
          </a:bodyPr>
          <a:lstStyle/>
          <a:p>
            <a:pPr algn="l"/>
            <a:r>
              <a:rPr sz="1700" b="0" i="0">
                <a:solidFill>
                  <a:srgbClr val="55657D"/>
                </a:solidFill>
                <a:latin typeface="Calibri"/>
              </a:rPr>
              <a:t>Image → runbook</a:t>
            </a:r>
          </a:p>
        </p:txBody>
      </p:sp>
      <p:sp>
        <p:nvSpPr>
          <p:cNvPr id="31" name="Rounded Rectangle 30"/>
          <p:cNvSpPr/>
          <p:nvPr/>
        </p:nvSpPr>
        <p:spPr>
          <a:xfrm>
            <a:off x="8156447" y="3749039"/>
            <a:ext cx="3392423" cy="1691640"/>
          </a:xfrm>
          <a:prstGeom prst="roundRect">
            <a:avLst>
              <a:gd name="adj" fmla="val 4324"/>
            </a:avLst>
          </a:prstGeom>
          <a:solidFill>
            <a:srgbClr val="FFFFFF"/>
          </a:solidFill>
          <a:ln w="9525">
            <a:solidFill>
              <a:srgbClr val="D5DDEA"/>
            </a:solidFill>
          </a:ln>
          <a:effectLst/>
          <a:effectLst>
            <a:outerShdw blurRad="177800" dist="38100" dir="5400000" algn="t" rotWithShape="0">
              <a:srgbClr val="0A1B34">
                <a:alpha val="1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Oval 31"/>
          <p:cNvSpPr/>
          <p:nvPr/>
        </p:nvSpPr>
        <p:spPr>
          <a:xfrm>
            <a:off x="8476487" y="4023359"/>
            <a:ext cx="594360" cy="594360"/>
          </a:xfrm>
          <a:prstGeom prst="ellipse">
            <a:avLst/>
          </a:prstGeom>
          <a:solidFill>
            <a:srgbClr val="1F4E9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8476487" y="4023359"/>
            <a:ext cx="594360" cy="594360"/>
          </a:xfrm>
          <a:prstGeom prst="rect">
            <a:avLst/>
          </a:prstGeom>
          <a:noFill/>
        </p:spPr>
        <p:txBody>
          <a:bodyPr wrap="square" lIns="0" rIns="0" tIns="0" bIns="0" anchor="ctr">
            <a:spAutoFit/>
          </a:bodyPr>
          <a:lstStyle/>
          <a:p>
            <a:pPr algn="ctr"/>
            <a:r>
              <a:rPr sz="2000" b="1" i="0">
                <a:solidFill>
                  <a:srgbClr val="FFFFFF"/>
                </a:solidFill>
                <a:latin typeface="Arial"/>
              </a:rPr>
              <a:t>6</a:t>
            </a:r>
          </a:p>
        </p:txBody>
      </p:sp>
      <p:sp>
        <p:nvSpPr>
          <p:cNvPr id="34" name="TextBox 33"/>
          <p:cNvSpPr txBox="1"/>
          <p:nvPr/>
        </p:nvSpPr>
        <p:spPr>
          <a:xfrm>
            <a:off x="9253727" y="4023359"/>
            <a:ext cx="2020823" cy="594360"/>
          </a:xfrm>
          <a:prstGeom prst="rect">
            <a:avLst/>
          </a:prstGeom>
          <a:noFill/>
        </p:spPr>
        <p:txBody>
          <a:bodyPr wrap="square" lIns="0" rIns="0" tIns="0" bIns="0" anchor="ctr">
            <a:spAutoFit/>
          </a:bodyPr>
          <a:lstStyle/>
          <a:p>
            <a:pPr algn="l"/>
            <a:r>
              <a:rPr sz="2000" b="1" i="0">
                <a:solidFill>
                  <a:srgbClr val="0A1B34"/>
                </a:solidFill>
                <a:latin typeface="Arial"/>
              </a:rPr>
              <a:t>Operations</a:t>
            </a:r>
          </a:p>
        </p:txBody>
      </p:sp>
      <p:sp>
        <p:nvSpPr>
          <p:cNvPr id="35" name="TextBox 34"/>
          <p:cNvSpPr txBox="1"/>
          <p:nvPr/>
        </p:nvSpPr>
        <p:spPr>
          <a:xfrm>
            <a:off x="8476487" y="4846320"/>
            <a:ext cx="2752344" cy="365760"/>
          </a:xfrm>
          <a:prstGeom prst="rect">
            <a:avLst/>
          </a:prstGeom>
          <a:noFill/>
        </p:spPr>
        <p:txBody>
          <a:bodyPr wrap="square" lIns="0" rIns="0" tIns="0" bIns="0" anchor="ctr">
            <a:spAutoFit/>
          </a:bodyPr>
          <a:lstStyle/>
          <a:p>
            <a:pPr algn="l"/>
            <a:r>
              <a:rPr sz="1700" b="0" i="0">
                <a:solidFill>
                  <a:srgbClr val="55657D"/>
                </a:solidFill>
                <a:latin typeface="Calibri"/>
              </a:rPr>
              <a:t>Telemetry → feedback</a:t>
            </a:r>
          </a:p>
        </p:txBody>
      </p:sp>
      <p:sp>
        <p:nvSpPr>
          <p:cNvPr id="36" name="Rounded Rectangle 35"/>
          <p:cNvSpPr/>
          <p:nvPr/>
        </p:nvSpPr>
        <p:spPr>
          <a:xfrm>
            <a:off x="640080" y="5715000"/>
            <a:ext cx="10908792" cy="594360"/>
          </a:xfrm>
          <a:prstGeom prst="roundRect">
            <a:avLst>
              <a:gd name="adj" fmla="val 12307"/>
            </a:avLst>
          </a:prstGeom>
          <a:solidFill>
            <a:srgbClr val="0A1B3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960119" y="5715000"/>
            <a:ext cx="10268712" cy="594360"/>
          </a:xfrm>
          <a:prstGeom prst="rect">
            <a:avLst/>
          </a:prstGeom>
          <a:noFill/>
        </p:spPr>
        <p:txBody>
          <a:bodyPr wrap="square" lIns="0" rIns="0" tIns="0" bIns="0" anchor="ctr">
            <a:spAutoFit/>
          </a:bodyPr>
          <a:lstStyle/>
          <a:p>
            <a:pPr algn="l"/>
            <a:r>
              <a:rPr sz="1800" b="1" i="0">
                <a:solidFill>
                  <a:srgbClr val="FFFFFF"/>
                </a:solidFill>
                <a:latin typeface="Calibri"/>
              </a:rPr>
              <a:t>Each stage has an AI instruction, a human gate, and a repository artifact.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08792" cy="274320"/>
          </a:xfrm>
          <a:prstGeom prst="rect">
            <a:avLst/>
          </a:prstGeom>
          <a:noFill/>
        </p:spPr>
        <p:txBody>
          <a:bodyPr wrap="square" lIns="0" rIns="0" tIns="0" bIns="0" anchor="ctr">
            <a:spAutoFit/>
          </a:bodyPr>
          <a:lstStyle/>
          <a:p>
            <a:pPr algn="l"/>
            <a:r>
              <a:rPr sz="1200" b="1" i="0" spc="300">
                <a:solidFill>
                  <a:srgbClr val="8A6A1F"/>
                </a:solidFill>
                <a:latin typeface="Calibri"/>
              </a:rPr>
              <a:t>HUMAN-IN-THE-LOOP</a:t>
            </a:r>
          </a:p>
        </p:txBody>
      </p:sp>
      <p:sp>
        <p:nvSpPr>
          <p:cNvPr id="3" name="TextBox 2"/>
          <p:cNvSpPr txBox="1"/>
          <p:nvPr/>
        </p:nvSpPr>
        <p:spPr>
          <a:xfrm>
            <a:off x="640080" y="777240"/>
            <a:ext cx="10908792" cy="731520"/>
          </a:xfrm>
          <a:prstGeom prst="rect">
            <a:avLst/>
          </a:prstGeom>
          <a:noFill/>
        </p:spPr>
        <p:txBody>
          <a:bodyPr wrap="square" lIns="0" rIns="0" tIns="0" bIns="0" anchor="t">
            <a:spAutoFit/>
          </a:bodyPr>
          <a:lstStyle/>
          <a:p>
            <a:pPr algn="l"/>
            <a:r>
              <a:rPr sz="3000" b="1" i="0">
                <a:solidFill>
                  <a:srgbClr val="0A1B34"/>
                </a:solidFill>
                <a:latin typeface="Arial"/>
              </a:rPr>
              <a:t>The system prepares; people decide</a:t>
            </a:r>
          </a:p>
        </p:txBody>
      </p:sp>
      <p:sp>
        <p:nvSpPr>
          <p:cNvPr id="4" name="TextBox 3"/>
          <p:cNvSpPr txBox="1"/>
          <p:nvPr/>
        </p:nvSpPr>
        <p:spPr>
          <a:xfrm>
            <a:off x="640080" y="6355080"/>
            <a:ext cx="7315200" cy="274320"/>
          </a:xfrm>
          <a:prstGeom prst="rect">
            <a:avLst/>
          </a:prstGeom>
          <a:noFill/>
        </p:spPr>
        <p:txBody>
          <a:bodyPr wrap="square" lIns="0" rIns="0" tIns="0" bIns="0" anchor="ctr">
            <a:spAutoFit/>
          </a:bodyPr>
          <a:lstStyle/>
          <a:p>
            <a:pPr algn="l"/>
            <a:r>
              <a:rPr sz="1000" b="0" i="0">
                <a:solidFill>
                  <a:srgbClr val="55657D"/>
                </a:solidFill>
                <a:latin typeface="Calibri"/>
              </a:rPr>
              <a:t>Risk Assessment Workbench  |  Genius Hacks 2026</a:t>
            </a:r>
          </a:p>
        </p:txBody>
      </p:sp>
      <p:sp>
        <p:nvSpPr>
          <p:cNvPr id="5" name="TextBox 4"/>
          <p:cNvSpPr txBox="1"/>
          <p:nvPr/>
        </p:nvSpPr>
        <p:spPr>
          <a:xfrm>
            <a:off x="10881360" y="6355080"/>
            <a:ext cx="667512" cy="274320"/>
          </a:xfrm>
          <a:prstGeom prst="rect">
            <a:avLst/>
          </a:prstGeom>
          <a:noFill/>
        </p:spPr>
        <p:txBody>
          <a:bodyPr wrap="square" lIns="0" rIns="0" tIns="0" bIns="0" anchor="ctr">
            <a:spAutoFit/>
          </a:bodyPr>
          <a:lstStyle/>
          <a:p>
            <a:pPr algn="r"/>
            <a:r>
              <a:rPr sz="1000" b="0" i="0">
                <a:solidFill>
                  <a:srgbClr val="55657D"/>
                </a:solidFill>
                <a:latin typeface="Calibri"/>
              </a:rPr>
              <a:t>8</a:t>
            </a:r>
          </a:p>
        </p:txBody>
      </p:sp>
      <p:sp>
        <p:nvSpPr>
          <p:cNvPr id="6" name="Rounded Rectangle 5"/>
          <p:cNvSpPr/>
          <p:nvPr/>
        </p:nvSpPr>
        <p:spPr>
          <a:xfrm>
            <a:off x="640080" y="1783080"/>
            <a:ext cx="1828800" cy="685800"/>
          </a:xfrm>
          <a:prstGeom prst="roundRect">
            <a:avLst>
              <a:gd name="adj" fmla="val 10666"/>
            </a:avLst>
          </a:prstGeom>
          <a:solidFill>
            <a:srgbClr val="9CC3F2"/>
          </a:solidFill>
          <a:ln>
            <a:noFill/>
          </a:ln>
          <a:effectLst/>
          <a:effectLst>
            <a:outerShdw blurRad="177800" dist="38100" dir="5400000" algn="t" rotWithShape="0">
              <a:srgbClr val="0A1B34">
                <a:alpha val="1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40080" y="1783080"/>
            <a:ext cx="1828800" cy="685800"/>
          </a:xfrm>
          <a:prstGeom prst="rect">
            <a:avLst/>
          </a:prstGeom>
          <a:noFill/>
        </p:spPr>
        <p:txBody>
          <a:bodyPr wrap="square" lIns="0" rIns="0" tIns="0" bIns="0" anchor="ctr">
            <a:spAutoFit/>
          </a:bodyPr>
          <a:lstStyle/>
          <a:p>
            <a:pPr algn="ctr"/>
            <a:r>
              <a:rPr sz="1700" b="1" i="0">
                <a:solidFill>
                  <a:srgbClr val="0A1B34"/>
                </a:solidFill>
                <a:latin typeface="Calibri"/>
              </a:rPr>
              <a:t>Owner draft</a:t>
            </a:r>
          </a:p>
        </p:txBody>
      </p:sp>
      <p:sp>
        <p:nvSpPr>
          <p:cNvPr id="8" name="TextBox 7"/>
          <p:cNvSpPr txBox="1"/>
          <p:nvPr/>
        </p:nvSpPr>
        <p:spPr>
          <a:xfrm>
            <a:off x="2468880" y="1783080"/>
            <a:ext cx="441197" cy="685800"/>
          </a:xfrm>
          <a:prstGeom prst="rect">
            <a:avLst/>
          </a:prstGeom>
          <a:noFill/>
        </p:spPr>
        <p:txBody>
          <a:bodyPr wrap="square" lIns="0" rIns="0" tIns="0" bIns="0" anchor="ctr">
            <a:spAutoFit/>
          </a:bodyPr>
          <a:lstStyle/>
          <a:p>
            <a:pPr algn="ctr"/>
            <a:r>
              <a:rPr sz="2200" b="0" i="0">
                <a:solidFill>
                  <a:srgbClr val="8A6A1F"/>
                </a:solidFill>
                <a:latin typeface="Calibri"/>
              </a:rPr>
              <a:t>→</a:t>
            </a:r>
          </a:p>
        </p:txBody>
      </p:sp>
      <p:sp>
        <p:nvSpPr>
          <p:cNvPr id="9" name="Rounded Rectangle 8"/>
          <p:cNvSpPr/>
          <p:nvPr/>
        </p:nvSpPr>
        <p:spPr>
          <a:xfrm>
            <a:off x="2910078" y="1783080"/>
            <a:ext cx="1828800" cy="685800"/>
          </a:xfrm>
          <a:prstGeom prst="roundRect">
            <a:avLst>
              <a:gd name="adj" fmla="val 10666"/>
            </a:avLst>
          </a:prstGeom>
          <a:solidFill>
            <a:srgbClr val="4A86D8"/>
          </a:solidFill>
          <a:ln>
            <a:noFill/>
          </a:ln>
          <a:effectLst/>
          <a:effectLst>
            <a:outerShdw blurRad="177800" dist="38100" dir="5400000" algn="t" rotWithShape="0">
              <a:srgbClr val="0A1B34">
                <a:alpha val="1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2910078" y="1783080"/>
            <a:ext cx="1828800" cy="685800"/>
          </a:xfrm>
          <a:prstGeom prst="rect">
            <a:avLst/>
          </a:prstGeom>
          <a:noFill/>
        </p:spPr>
        <p:txBody>
          <a:bodyPr wrap="square" lIns="0" rIns="0" tIns="0" bIns="0" anchor="ctr">
            <a:spAutoFit/>
          </a:bodyPr>
          <a:lstStyle/>
          <a:p>
            <a:pPr algn="ctr"/>
            <a:r>
              <a:rPr sz="1700" b="1" i="0">
                <a:solidFill>
                  <a:srgbClr val="FFFFFF"/>
                </a:solidFill>
                <a:latin typeface="Calibri"/>
              </a:rPr>
              <a:t>Analyst review</a:t>
            </a:r>
          </a:p>
        </p:txBody>
      </p:sp>
      <p:sp>
        <p:nvSpPr>
          <p:cNvPr id="11" name="TextBox 10"/>
          <p:cNvSpPr txBox="1"/>
          <p:nvPr/>
        </p:nvSpPr>
        <p:spPr>
          <a:xfrm>
            <a:off x="4738878" y="1783080"/>
            <a:ext cx="441197" cy="685800"/>
          </a:xfrm>
          <a:prstGeom prst="rect">
            <a:avLst/>
          </a:prstGeom>
          <a:noFill/>
        </p:spPr>
        <p:txBody>
          <a:bodyPr wrap="square" lIns="0" rIns="0" tIns="0" bIns="0" anchor="ctr">
            <a:spAutoFit/>
          </a:bodyPr>
          <a:lstStyle/>
          <a:p>
            <a:pPr algn="ctr"/>
            <a:r>
              <a:rPr sz="2200" b="0" i="0">
                <a:solidFill>
                  <a:srgbClr val="8A6A1F"/>
                </a:solidFill>
                <a:latin typeface="Calibri"/>
              </a:rPr>
              <a:t>→</a:t>
            </a:r>
          </a:p>
        </p:txBody>
      </p:sp>
      <p:sp>
        <p:nvSpPr>
          <p:cNvPr id="12" name="Rounded Rectangle 11"/>
          <p:cNvSpPr/>
          <p:nvPr/>
        </p:nvSpPr>
        <p:spPr>
          <a:xfrm>
            <a:off x="5180076" y="1783080"/>
            <a:ext cx="1828800" cy="685800"/>
          </a:xfrm>
          <a:prstGeom prst="roundRect">
            <a:avLst>
              <a:gd name="adj" fmla="val 10666"/>
            </a:avLst>
          </a:prstGeom>
          <a:solidFill>
            <a:srgbClr val="1F4E9C"/>
          </a:solidFill>
          <a:ln>
            <a:noFill/>
          </a:ln>
          <a:effectLst/>
          <a:effectLst>
            <a:outerShdw blurRad="177800" dist="38100" dir="5400000" algn="t" rotWithShape="0">
              <a:srgbClr val="0A1B34">
                <a:alpha val="1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5180076" y="1783080"/>
            <a:ext cx="1828800" cy="685800"/>
          </a:xfrm>
          <a:prstGeom prst="rect">
            <a:avLst/>
          </a:prstGeom>
          <a:noFill/>
        </p:spPr>
        <p:txBody>
          <a:bodyPr wrap="square" lIns="0" rIns="0" tIns="0" bIns="0" anchor="ctr">
            <a:spAutoFit/>
          </a:bodyPr>
          <a:lstStyle/>
          <a:p>
            <a:pPr algn="ctr"/>
            <a:r>
              <a:rPr sz="1700" b="1" i="0">
                <a:solidFill>
                  <a:srgbClr val="FFFFFF"/>
                </a:solidFill>
                <a:latin typeface="Calibri"/>
              </a:rPr>
              <a:t>Committee</a:t>
            </a:r>
          </a:p>
        </p:txBody>
      </p:sp>
      <p:sp>
        <p:nvSpPr>
          <p:cNvPr id="14" name="TextBox 13"/>
          <p:cNvSpPr txBox="1"/>
          <p:nvPr/>
        </p:nvSpPr>
        <p:spPr>
          <a:xfrm>
            <a:off x="7008876" y="1783080"/>
            <a:ext cx="441197" cy="685800"/>
          </a:xfrm>
          <a:prstGeom prst="rect">
            <a:avLst/>
          </a:prstGeom>
          <a:noFill/>
        </p:spPr>
        <p:txBody>
          <a:bodyPr wrap="square" lIns="0" rIns="0" tIns="0" bIns="0" anchor="ctr">
            <a:spAutoFit/>
          </a:bodyPr>
          <a:lstStyle/>
          <a:p>
            <a:pPr algn="ctr"/>
            <a:r>
              <a:rPr sz="2200" b="0" i="0">
                <a:solidFill>
                  <a:srgbClr val="8A6A1F"/>
                </a:solidFill>
                <a:latin typeface="Calibri"/>
              </a:rPr>
              <a:t>→</a:t>
            </a:r>
          </a:p>
        </p:txBody>
      </p:sp>
      <p:sp>
        <p:nvSpPr>
          <p:cNvPr id="15" name="Rounded Rectangle 14"/>
          <p:cNvSpPr/>
          <p:nvPr/>
        </p:nvSpPr>
        <p:spPr>
          <a:xfrm>
            <a:off x="7450073" y="1783080"/>
            <a:ext cx="1828800" cy="685800"/>
          </a:xfrm>
          <a:prstGeom prst="roundRect">
            <a:avLst>
              <a:gd name="adj" fmla="val 10666"/>
            </a:avLst>
          </a:prstGeom>
          <a:solidFill>
            <a:srgbClr val="163A7A"/>
          </a:solidFill>
          <a:ln>
            <a:noFill/>
          </a:ln>
          <a:effectLst/>
          <a:effectLst>
            <a:outerShdw blurRad="177800" dist="38100" dir="5400000" algn="t" rotWithShape="0">
              <a:srgbClr val="0A1B34">
                <a:alpha val="1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450073" y="1783080"/>
            <a:ext cx="1828800" cy="685800"/>
          </a:xfrm>
          <a:prstGeom prst="rect">
            <a:avLst/>
          </a:prstGeom>
          <a:noFill/>
        </p:spPr>
        <p:txBody>
          <a:bodyPr wrap="square" lIns="0" rIns="0" tIns="0" bIns="0" anchor="ctr">
            <a:spAutoFit/>
          </a:bodyPr>
          <a:lstStyle/>
          <a:p>
            <a:pPr algn="ctr"/>
            <a:r>
              <a:rPr sz="1700" b="1" i="0">
                <a:solidFill>
                  <a:srgbClr val="FFFFFF"/>
                </a:solidFill>
                <a:latin typeface="Calibri"/>
              </a:rPr>
              <a:t>Decision</a:t>
            </a:r>
          </a:p>
        </p:txBody>
      </p:sp>
      <p:sp>
        <p:nvSpPr>
          <p:cNvPr id="17" name="TextBox 16"/>
          <p:cNvSpPr txBox="1"/>
          <p:nvPr/>
        </p:nvSpPr>
        <p:spPr>
          <a:xfrm>
            <a:off x="9278874" y="1783080"/>
            <a:ext cx="441197" cy="685800"/>
          </a:xfrm>
          <a:prstGeom prst="rect">
            <a:avLst/>
          </a:prstGeom>
          <a:noFill/>
        </p:spPr>
        <p:txBody>
          <a:bodyPr wrap="square" lIns="0" rIns="0" tIns="0" bIns="0" anchor="ctr">
            <a:spAutoFit/>
          </a:bodyPr>
          <a:lstStyle/>
          <a:p>
            <a:pPr algn="ctr"/>
            <a:r>
              <a:rPr sz="2200" b="0" i="0">
                <a:solidFill>
                  <a:srgbClr val="8A6A1F"/>
                </a:solidFill>
                <a:latin typeface="Calibri"/>
              </a:rPr>
              <a:t>→</a:t>
            </a:r>
          </a:p>
        </p:txBody>
      </p:sp>
      <p:sp>
        <p:nvSpPr>
          <p:cNvPr id="18" name="Rounded Rectangle 17"/>
          <p:cNvSpPr/>
          <p:nvPr/>
        </p:nvSpPr>
        <p:spPr>
          <a:xfrm>
            <a:off x="9720072" y="1783080"/>
            <a:ext cx="1828800" cy="685800"/>
          </a:xfrm>
          <a:prstGeom prst="roundRect">
            <a:avLst>
              <a:gd name="adj" fmla="val 10666"/>
            </a:avLst>
          </a:prstGeom>
          <a:solidFill>
            <a:srgbClr val="0A1B34"/>
          </a:solidFill>
          <a:ln>
            <a:noFill/>
          </a:ln>
          <a:effectLst/>
          <a:effectLst>
            <a:outerShdw blurRad="177800" dist="38100" dir="5400000" algn="t" rotWithShape="0">
              <a:srgbClr val="0A1B34">
                <a:alpha val="1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9720072" y="1783080"/>
            <a:ext cx="1828800" cy="685800"/>
          </a:xfrm>
          <a:prstGeom prst="rect">
            <a:avLst/>
          </a:prstGeom>
          <a:noFill/>
        </p:spPr>
        <p:txBody>
          <a:bodyPr wrap="square" lIns="0" rIns="0" tIns="0" bIns="0" anchor="ctr">
            <a:spAutoFit/>
          </a:bodyPr>
          <a:lstStyle/>
          <a:p>
            <a:pPr algn="ctr"/>
            <a:r>
              <a:rPr sz="1700" b="1" i="0">
                <a:solidFill>
                  <a:srgbClr val="FFFFFF"/>
                </a:solidFill>
                <a:latin typeface="Calibri"/>
              </a:rPr>
              <a:t>Close</a:t>
            </a:r>
          </a:p>
        </p:txBody>
      </p:sp>
      <p:sp>
        <p:nvSpPr>
          <p:cNvPr id="20" name="Rounded Rectangle 19"/>
          <p:cNvSpPr/>
          <p:nvPr/>
        </p:nvSpPr>
        <p:spPr>
          <a:xfrm>
            <a:off x="640080" y="2788920"/>
            <a:ext cx="3392423" cy="2926080"/>
          </a:xfrm>
          <a:prstGeom prst="roundRect">
            <a:avLst>
              <a:gd name="adj" fmla="val 2500"/>
            </a:avLst>
          </a:prstGeom>
          <a:solidFill>
            <a:srgbClr val="FFFFFF"/>
          </a:solidFill>
          <a:ln w="9525">
            <a:solidFill>
              <a:srgbClr val="D5DDEA"/>
            </a:solidFill>
          </a:ln>
          <a:effectLst/>
          <a:effectLst>
            <a:outerShdw blurRad="177800" dist="38100" dir="5400000" algn="t" rotWithShape="0">
              <a:srgbClr val="0A1B34">
                <a:alpha val="1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914400" y="3044952"/>
            <a:ext cx="502920" cy="502920"/>
          </a:xfrm>
          <a:prstGeom prst="ellipse">
            <a:avLst/>
          </a:prstGeom>
          <a:solidFill>
            <a:srgbClr val="0A1B3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914400" y="3044952"/>
            <a:ext cx="502920" cy="502920"/>
          </a:xfrm>
          <a:prstGeom prst="rect">
            <a:avLst/>
          </a:prstGeom>
          <a:noFill/>
        </p:spPr>
        <p:txBody>
          <a:bodyPr wrap="square" lIns="0" rIns="0" tIns="0" bIns="0" anchor="ctr">
            <a:spAutoFit/>
          </a:bodyPr>
          <a:lstStyle/>
          <a:p>
            <a:pPr algn="ctr"/>
            <a:r>
              <a:rPr sz="1600" b="1" i="0">
                <a:solidFill>
                  <a:srgbClr val="FFFFFF"/>
                </a:solidFill>
                <a:latin typeface="Arial"/>
              </a:rPr>
              <a:t>1</a:t>
            </a:r>
          </a:p>
        </p:txBody>
      </p:sp>
      <p:sp>
        <p:nvSpPr>
          <p:cNvPr id="23" name="TextBox 22"/>
          <p:cNvSpPr txBox="1"/>
          <p:nvPr/>
        </p:nvSpPr>
        <p:spPr>
          <a:xfrm>
            <a:off x="1600200" y="3044952"/>
            <a:ext cx="2203703" cy="502920"/>
          </a:xfrm>
          <a:prstGeom prst="rect">
            <a:avLst/>
          </a:prstGeom>
          <a:noFill/>
        </p:spPr>
        <p:txBody>
          <a:bodyPr wrap="square" lIns="0" rIns="0" tIns="0" bIns="0" anchor="ctr">
            <a:spAutoFit/>
          </a:bodyPr>
          <a:lstStyle/>
          <a:p>
            <a:pPr algn="l"/>
            <a:r>
              <a:rPr sz="1800" b="1" i="0">
                <a:solidFill>
                  <a:srgbClr val="0A1B34"/>
                </a:solidFill>
                <a:latin typeface="Arial"/>
              </a:rPr>
              <a:t>Analyst gate</a:t>
            </a:r>
          </a:p>
        </p:txBody>
      </p:sp>
      <p:sp>
        <p:nvSpPr>
          <p:cNvPr id="24" name="TextBox 23"/>
          <p:cNvSpPr txBox="1"/>
          <p:nvPr/>
        </p:nvSpPr>
        <p:spPr>
          <a:xfrm>
            <a:off x="914400" y="3794760"/>
            <a:ext cx="2843783" cy="1737360"/>
          </a:xfrm>
          <a:prstGeom prst="rect">
            <a:avLst/>
          </a:prstGeom>
          <a:noFill/>
        </p:spPr>
        <p:txBody>
          <a:bodyPr wrap="square" lIns="0" rIns="0" tIns="0" bIns="0" anchor="t">
            <a:spAutoFit/>
          </a:bodyPr>
          <a:lstStyle/>
          <a:p>
            <a:pPr marL="201168" indent="-201168">
              <a:spcAft>
                <a:spcPts val="1000"/>
              </a:spcAft>
              <a:buChar char="•"/>
            </a:pPr>
            <a:r>
              <a:rPr sz="1500">
                <a:solidFill>
                  <a:srgbClr val="17253D"/>
                </a:solidFill>
                <a:latin typeface="Calibri"/>
              </a:rPr>
              <a:t>Every risk level reviewed</a:t>
            </a:r>
          </a:p>
          <a:p>
            <a:pPr marL="201168" indent="-201168">
              <a:spcAft>
                <a:spcPts val="1000"/>
              </a:spcAft>
              <a:buChar char="•"/>
            </a:pPr>
            <a:r>
              <a:rPr sz="1500">
                <a:solidFill>
                  <a:srgbClr val="17253D"/>
                </a:solidFill>
                <a:latin typeface="Calibri"/>
              </a:rPr>
              <a:t>Edit/rescore with source citations</a:t>
            </a:r>
          </a:p>
          <a:p>
            <a:pPr marL="201168" indent="-201168">
              <a:spcAft>
                <a:spcPts val="1000"/>
              </a:spcAft>
              <a:buChar char="•"/>
            </a:pPr>
            <a:r>
              <a:rPr sz="1500">
                <a:solidFill>
                  <a:srgbClr val="17253D"/>
                </a:solidFill>
                <a:latin typeface="Calibri"/>
              </a:rPr>
              <a:t>Finalize with rationale</a:t>
            </a:r>
          </a:p>
        </p:txBody>
      </p:sp>
      <p:sp>
        <p:nvSpPr>
          <p:cNvPr id="25" name="Rounded Rectangle 24"/>
          <p:cNvSpPr/>
          <p:nvPr/>
        </p:nvSpPr>
        <p:spPr>
          <a:xfrm>
            <a:off x="4398264" y="2788920"/>
            <a:ext cx="3392423" cy="2926080"/>
          </a:xfrm>
          <a:prstGeom prst="roundRect">
            <a:avLst>
              <a:gd name="adj" fmla="val 2500"/>
            </a:avLst>
          </a:prstGeom>
          <a:solidFill>
            <a:srgbClr val="FFFFFF"/>
          </a:solidFill>
          <a:ln w="9525">
            <a:solidFill>
              <a:srgbClr val="D5DDEA"/>
            </a:solidFill>
          </a:ln>
          <a:effectLst/>
          <a:effectLst>
            <a:outerShdw blurRad="177800" dist="38100" dir="5400000" algn="t" rotWithShape="0">
              <a:srgbClr val="0A1B34">
                <a:alpha val="1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Oval 25"/>
          <p:cNvSpPr/>
          <p:nvPr/>
        </p:nvSpPr>
        <p:spPr>
          <a:xfrm>
            <a:off x="4672583" y="3044952"/>
            <a:ext cx="502920" cy="502920"/>
          </a:xfrm>
          <a:prstGeom prst="ellipse">
            <a:avLst/>
          </a:prstGeom>
          <a:solidFill>
            <a:srgbClr val="0A1B3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4672583" y="3044952"/>
            <a:ext cx="502920" cy="502920"/>
          </a:xfrm>
          <a:prstGeom prst="rect">
            <a:avLst/>
          </a:prstGeom>
          <a:noFill/>
        </p:spPr>
        <p:txBody>
          <a:bodyPr wrap="square" lIns="0" rIns="0" tIns="0" bIns="0" anchor="ctr">
            <a:spAutoFit/>
          </a:bodyPr>
          <a:lstStyle/>
          <a:p>
            <a:pPr algn="ctr"/>
            <a:r>
              <a:rPr sz="1600" b="1" i="0">
                <a:solidFill>
                  <a:srgbClr val="FFFFFF"/>
                </a:solidFill>
                <a:latin typeface="Arial"/>
              </a:rPr>
              <a:t>2</a:t>
            </a:r>
          </a:p>
        </p:txBody>
      </p:sp>
      <p:sp>
        <p:nvSpPr>
          <p:cNvPr id="28" name="TextBox 27"/>
          <p:cNvSpPr txBox="1"/>
          <p:nvPr/>
        </p:nvSpPr>
        <p:spPr>
          <a:xfrm>
            <a:off x="5358383" y="3044952"/>
            <a:ext cx="2203703" cy="502920"/>
          </a:xfrm>
          <a:prstGeom prst="rect">
            <a:avLst/>
          </a:prstGeom>
          <a:noFill/>
        </p:spPr>
        <p:txBody>
          <a:bodyPr wrap="square" lIns="0" rIns="0" tIns="0" bIns="0" anchor="ctr">
            <a:spAutoFit/>
          </a:bodyPr>
          <a:lstStyle/>
          <a:p>
            <a:pPr algn="l"/>
            <a:r>
              <a:rPr sz="1800" b="1" i="0">
                <a:solidFill>
                  <a:srgbClr val="0A1B34"/>
                </a:solidFill>
                <a:latin typeface="Arial"/>
              </a:rPr>
              <a:t>Committee + lifecycle</a:t>
            </a:r>
          </a:p>
        </p:txBody>
      </p:sp>
      <p:sp>
        <p:nvSpPr>
          <p:cNvPr id="29" name="TextBox 28"/>
          <p:cNvSpPr txBox="1"/>
          <p:nvPr/>
        </p:nvSpPr>
        <p:spPr>
          <a:xfrm>
            <a:off x="4672583" y="3794760"/>
            <a:ext cx="2843783" cy="1737360"/>
          </a:xfrm>
          <a:prstGeom prst="rect">
            <a:avLst/>
          </a:prstGeom>
          <a:noFill/>
        </p:spPr>
        <p:txBody>
          <a:bodyPr wrap="square" lIns="0" rIns="0" tIns="0" bIns="0" anchor="t">
            <a:spAutoFit/>
          </a:bodyPr>
          <a:lstStyle/>
          <a:p>
            <a:pPr marL="201168" indent="-201168">
              <a:spcAft>
                <a:spcPts val="1000"/>
              </a:spcAft>
              <a:buChar char="•"/>
            </a:pPr>
            <a:r>
              <a:rPr sz="1500">
                <a:solidFill>
                  <a:srgbClr val="17253D"/>
                </a:solidFill>
                <a:latin typeface="Calibri"/>
              </a:rPr>
              <a:t>Three distinct votes; 2-vote majority</a:t>
            </a:r>
          </a:p>
          <a:p>
            <a:pPr marL="201168" indent="-201168">
              <a:spcAft>
                <a:spcPts val="1000"/>
              </a:spcAft>
              <a:buChar char="•"/>
            </a:pPr>
            <a:r>
              <a:rPr sz="1500">
                <a:solidFill>
                  <a:srgbClr val="17253D"/>
                </a:solidFill>
                <a:latin typeface="Calibri"/>
              </a:rPr>
              <a:t>Information requests resume prior stage</a:t>
            </a:r>
          </a:p>
          <a:p>
            <a:pPr marL="201168" indent="-201168">
              <a:spcAft>
                <a:spcPts val="1000"/>
              </a:spcAft>
              <a:buChar char="•"/>
            </a:pPr>
            <a:r>
              <a:rPr sz="1500">
                <a:solidFill>
                  <a:srgbClr val="17253D"/>
                </a:solidFill>
                <a:latin typeface="Calibri"/>
              </a:rPr>
              <a:t>Conditions block closure; reassessments link</a:t>
            </a:r>
          </a:p>
        </p:txBody>
      </p:sp>
      <p:sp>
        <p:nvSpPr>
          <p:cNvPr id="30" name="Rounded Rectangle 29"/>
          <p:cNvSpPr/>
          <p:nvPr/>
        </p:nvSpPr>
        <p:spPr>
          <a:xfrm>
            <a:off x="8156447" y="2788920"/>
            <a:ext cx="3392423" cy="2926080"/>
          </a:xfrm>
          <a:prstGeom prst="roundRect">
            <a:avLst>
              <a:gd name="adj" fmla="val 2500"/>
            </a:avLst>
          </a:prstGeom>
          <a:solidFill>
            <a:srgbClr val="FFFFFF"/>
          </a:solidFill>
          <a:ln w="9525">
            <a:solidFill>
              <a:srgbClr val="D5DDEA"/>
            </a:solidFill>
          </a:ln>
          <a:effectLst/>
          <a:effectLst>
            <a:outerShdw blurRad="177800" dist="38100" dir="5400000" algn="t" rotWithShape="0">
              <a:srgbClr val="0A1B34">
                <a:alpha val="1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Oval 30"/>
          <p:cNvSpPr/>
          <p:nvPr/>
        </p:nvSpPr>
        <p:spPr>
          <a:xfrm>
            <a:off x="8430767" y="3044952"/>
            <a:ext cx="502920" cy="502920"/>
          </a:xfrm>
          <a:prstGeom prst="ellipse">
            <a:avLst/>
          </a:prstGeom>
          <a:solidFill>
            <a:srgbClr val="0A1B3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8430767" y="3044952"/>
            <a:ext cx="502920" cy="502920"/>
          </a:xfrm>
          <a:prstGeom prst="rect">
            <a:avLst/>
          </a:prstGeom>
          <a:noFill/>
        </p:spPr>
        <p:txBody>
          <a:bodyPr wrap="square" lIns="0" rIns="0" tIns="0" bIns="0" anchor="ctr">
            <a:spAutoFit/>
          </a:bodyPr>
          <a:lstStyle/>
          <a:p>
            <a:pPr algn="ctr"/>
            <a:r>
              <a:rPr sz="1600" b="1" i="0">
                <a:solidFill>
                  <a:srgbClr val="FFFFFF"/>
                </a:solidFill>
                <a:latin typeface="Arial"/>
              </a:rPr>
              <a:t>3</a:t>
            </a:r>
          </a:p>
        </p:txBody>
      </p:sp>
      <p:sp>
        <p:nvSpPr>
          <p:cNvPr id="33" name="TextBox 32"/>
          <p:cNvSpPr txBox="1"/>
          <p:nvPr/>
        </p:nvSpPr>
        <p:spPr>
          <a:xfrm>
            <a:off x="9116567" y="3044952"/>
            <a:ext cx="2203703" cy="502920"/>
          </a:xfrm>
          <a:prstGeom prst="rect">
            <a:avLst/>
          </a:prstGeom>
          <a:noFill/>
        </p:spPr>
        <p:txBody>
          <a:bodyPr wrap="square" lIns="0" rIns="0" tIns="0" bIns="0" anchor="ctr">
            <a:spAutoFit/>
          </a:bodyPr>
          <a:lstStyle/>
          <a:p>
            <a:pPr algn="l"/>
            <a:r>
              <a:rPr sz="1800" b="1" i="0">
                <a:solidFill>
                  <a:srgbClr val="0A1B34"/>
                </a:solidFill>
                <a:latin typeface="Arial"/>
              </a:rPr>
              <a:t>Audit evidence</a:t>
            </a:r>
          </a:p>
        </p:txBody>
      </p:sp>
      <p:sp>
        <p:nvSpPr>
          <p:cNvPr id="34" name="TextBox 33"/>
          <p:cNvSpPr txBox="1"/>
          <p:nvPr/>
        </p:nvSpPr>
        <p:spPr>
          <a:xfrm>
            <a:off x="8430767" y="3794760"/>
            <a:ext cx="2843783" cy="1737360"/>
          </a:xfrm>
          <a:prstGeom prst="rect">
            <a:avLst/>
          </a:prstGeom>
          <a:noFill/>
        </p:spPr>
        <p:txBody>
          <a:bodyPr wrap="square" lIns="0" rIns="0" tIns="0" bIns="0" anchor="t">
            <a:spAutoFit/>
          </a:bodyPr>
          <a:lstStyle/>
          <a:p>
            <a:pPr marL="201168" indent="-201168">
              <a:spcAft>
                <a:spcPts val="1000"/>
              </a:spcAft>
              <a:buChar char="•"/>
            </a:pPr>
            <a:r>
              <a:rPr sz="1500">
                <a:solidFill>
                  <a:srgbClr val="17253D"/>
                </a:solidFill>
                <a:latin typeface="Calibri"/>
              </a:rPr>
              <a:t>Versioned extractions and UTC events</a:t>
            </a:r>
          </a:p>
          <a:p>
            <a:pPr marL="201168" indent="-201168">
              <a:spcAft>
                <a:spcPts val="1000"/>
              </a:spcAft>
              <a:buChar char="•"/>
            </a:pPr>
            <a:r>
              <a:rPr sz="1500">
                <a:solidFill>
                  <a:srgbClr val="17253D"/>
                </a:solidFill>
                <a:latin typeface="Calibri"/>
              </a:rPr>
              <a:t>Verifiable event hash chain + source hashes</a:t>
            </a:r>
          </a:p>
          <a:p>
            <a:pPr marL="201168" indent="-201168">
              <a:spcAft>
                <a:spcPts val="1000"/>
              </a:spcAft>
              <a:buChar char="•"/>
            </a:pPr>
            <a:r>
              <a:rPr sz="1500">
                <a:solidFill>
                  <a:srgbClr val="17253D"/>
                </a:solidFill>
                <a:latin typeface="Calibri"/>
              </a:rPr>
              <a:t>Examiner ZIP with verification manifest</a:t>
            </a:r>
          </a:p>
        </p:txBody>
      </p:sp>
      <p:sp>
        <p:nvSpPr>
          <p:cNvPr id="35" name="TextBox 34"/>
          <p:cNvSpPr txBox="1"/>
          <p:nvPr/>
        </p:nvSpPr>
        <p:spPr>
          <a:xfrm>
            <a:off x="640080" y="5852160"/>
            <a:ext cx="10908792" cy="320040"/>
          </a:xfrm>
          <a:prstGeom prst="rect">
            <a:avLst/>
          </a:prstGeom>
          <a:noFill/>
        </p:spPr>
        <p:txBody>
          <a:bodyPr wrap="square" lIns="0" rIns="0" tIns="0" bIns="0" anchor="ctr">
            <a:spAutoFit/>
          </a:bodyPr>
          <a:lstStyle/>
          <a:p>
            <a:pPr algn="l"/>
            <a:r>
              <a:rPr sz="1300" b="0" i="1">
                <a:solidFill>
                  <a:srgbClr val="55657D"/>
                </a:solidFill>
                <a:latin typeface="Calibri"/>
              </a:rPr>
              <a:t>Demo identities only; vote/scoring rules are unapproved. Hash-chain verification is not immutable storage.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08792" cy="274320"/>
          </a:xfrm>
          <a:prstGeom prst="rect">
            <a:avLst/>
          </a:prstGeom>
          <a:noFill/>
        </p:spPr>
        <p:txBody>
          <a:bodyPr wrap="square" lIns="0" rIns="0" tIns="0" bIns="0" anchor="ctr">
            <a:spAutoFit/>
          </a:bodyPr>
          <a:lstStyle/>
          <a:p>
            <a:pPr algn="l"/>
            <a:r>
              <a:rPr sz="1200" b="1" i="0" spc="300">
                <a:solidFill>
                  <a:srgbClr val="8A6A1F"/>
                </a:solidFill>
                <a:latin typeface="Calibri"/>
              </a:rPr>
              <a:t>WORKING DEMONSTRATION</a:t>
            </a:r>
          </a:p>
        </p:txBody>
      </p:sp>
      <p:sp>
        <p:nvSpPr>
          <p:cNvPr id="3" name="TextBox 2"/>
          <p:cNvSpPr txBox="1"/>
          <p:nvPr/>
        </p:nvSpPr>
        <p:spPr>
          <a:xfrm>
            <a:off x="640080" y="777240"/>
            <a:ext cx="10908792" cy="731520"/>
          </a:xfrm>
          <a:prstGeom prst="rect">
            <a:avLst/>
          </a:prstGeom>
          <a:noFill/>
        </p:spPr>
        <p:txBody>
          <a:bodyPr wrap="square" lIns="0" rIns="0" tIns="0" bIns="0" anchor="t">
            <a:spAutoFit/>
          </a:bodyPr>
          <a:lstStyle/>
          <a:p>
            <a:pPr algn="l"/>
            <a:r>
              <a:rPr sz="3000" b="1" i="0">
                <a:solidFill>
                  <a:srgbClr val="0A1B34"/>
                </a:solidFill>
                <a:latin typeface="Arial"/>
              </a:rPr>
              <a:t>One synthetic case, end to end</a:t>
            </a:r>
          </a:p>
        </p:txBody>
      </p:sp>
      <p:sp>
        <p:nvSpPr>
          <p:cNvPr id="4" name="TextBox 3"/>
          <p:cNvSpPr txBox="1"/>
          <p:nvPr/>
        </p:nvSpPr>
        <p:spPr>
          <a:xfrm>
            <a:off x="640080" y="6355080"/>
            <a:ext cx="7315200" cy="274320"/>
          </a:xfrm>
          <a:prstGeom prst="rect">
            <a:avLst/>
          </a:prstGeom>
          <a:noFill/>
        </p:spPr>
        <p:txBody>
          <a:bodyPr wrap="square" lIns="0" rIns="0" tIns="0" bIns="0" anchor="ctr">
            <a:spAutoFit/>
          </a:bodyPr>
          <a:lstStyle/>
          <a:p>
            <a:pPr algn="l"/>
            <a:r>
              <a:rPr sz="1000" b="0" i="0">
                <a:solidFill>
                  <a:srgbClr val="55657D"/>
                </a:solidFill>
                <a:latin typeface="Calibri"/>
              </a:rPr>
              <a:t>Risk Assessment Workbench  |  Genius Hacks 2026</a:t>
            </a:r>
          </a:p>
        </p:txBody>
      </p:sp>
      <p:sp>
        <p:nvSpPr>
          <p:cNvPr id="5" name="TextBox 4"/>
          <p:cNvSpPr txBox="1"/>
          <p:nvPr/>
        </p:nvSpPr>
        <p:spPr>
          <a:xfrm>
            <a:off x="10881360" y="6355080"/>
            <a:ext cx="667512" cy="274320"/>
          </a:xfrm>
          <a:prstGeom prst="rect">
            <a:avLst/>
          </a:prstGeom>
          <a:noFill/>
        </p:spPr>
        <p:txBody>
          <a:bodyPr wrap="square" lIns="0" rIns="0" tIns="0" bIns="0" anchor="ctr">
            <a:spAutoFit/>
          </a:bodyPr>
          <a:lstStyle/>
          <a:p>
            <a:pPr algn="r"/>
            <a:r>
              <a:rPr sz="1000" b="0" i="0">
                <a:solidFill>
                  <a:srgbClr val="55657D"/>
                </a:solidFill>
                <a:latin typeface="Calibri"/>
              </a:rPr>
              <a:t>9</a:t>
            </a:r>
          </a:p>
        </p:txBody>
      </p:sp>
      <p:cxnSp>
        <p:nvCxnSpPr>
          <p:cNvPr id="6" name="Connector 5"/>
          <p:cNvCxnSpPr/>
          <p:nvPr/>
        </p:nvCxnSpPr>
        <p:spPr>
          <a:xfrm>
            <a:off x="1549146" y="2286000"/>
            <a:ext cx="9090660" cy="0"/>
          </a:xfrm>
          <a:prstGeom prst="line">
            <a:avLst/>
          </a:prstGeom>
          <a:ln w="38100">
            <a:solidFill>
              <a:srgbClr val="9CC3F2"/>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1183385" y="1920240"/>
            <a:ext cx="731520" cy="731520"/>
          </a:xfrm>
          <a:prstGeom prst="ellipse">
            <a:avLst/>
          </a:prstGeom>
          <a:solidFill>
            <a:srgbClr val="0A1B3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1183385" y="1920240"/>
            <a:ext cx="731520" cy="731520"/>
          </a:xfrm>
          <a:prstGeom prst="rect">
            <a:avLst/>
          </a:prstGeom>
          <a:noFill/>
        </p:spPr>
        <p:txBody>
          <a:bodyPr wrap="square" lIns="0" rIns="0" tIns="0" bIns="0" anchor="ctr">
            <a:spAutoFit/>
          </a:bodyPr>
          <a:lstStyle/>
          <a:p>
            <a:pPr algn="ctr"/>
            <a:r>
              <a:rPr sz="2400" b="1" i="0">
                <a:solidFill>
                  <a:srgbClr val="FFFFFF"/>
                </a:solidFill>
                <a:latin typeface="Arial"/>
              </a:rPr>
              <a:t>1</a:t>
            </a:r>
          </a:p>
        </p:txBody>
      </p:sp>
      <p:sp>
        <p:nvSpPr>
          <p:cNvPr id="9" name="TextBox 8"/>
          <p:cNvSpPr txBox="1"/>
          <p:nvPr/>
        </p:nvSpPr>
        <p:spPr>
          <a:xfrm>
            <a:off x="731519" y="2834640"/>
            <a:ext cx="1635252" cy="822960"/>
          </a:xfrm>
          <a:prstGeom prst="rect">
            <a:avLst/>
          </a:prstGeom>
          <a:noFill/>
        </p:spPr>
        <p:txBody>
          <a:bodyPr wrap="square" lIns="0" rIns="0" tIns="0" bIns="0" anchor="t">
            <a:spAutoFit/>
          </a:bodyPr>
          <a:lstStyle/>
          <a:p>
            <a:pPr algn="ctr"/>
            <a:r>
              <a:rPr sz="1500" b="1" i="0">
                <a:solidFill>
                  <a:srgbClr val="17253D"/>
                </a:solidFill>
                <a:latin typeface="Calibri"/>
              </a:rPr>
              <a:t>Owner uploads PDF</a:t>
            </a:r>
          </a:p>
        </p:txBody>
      </p:sp>
      <p:sp>
        <p:nvSpPr>
          <p:cNvPr id="10" name="Oval 9"/>
          <p:cNvSpPr/>
          <p:nvPr/>
        </p:nvSpPr>
        <p:spPr>
          <a:xfrm>
            <a:off x="3001518" y="1920240"/>
            <a:ext cx="731520" cy="731520"/>
          </a:xfrm>
          <a:prstGeom prst="ellipse">
            <a:avLst/>
          </a:prstGeom>
          <a:solidFill>
            <a:srgbClr val="0A1B3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3001518" y="1920240"/>
            <a:ext cx="731520" cy="731520"/>
          </a:xfrm>
          <a:prstGeom prst="rect">
            <a:avLst/>
          </a:prstGeom>
          <a:noFill/>
        </p:spPr>
        <p:txBody>
          <a:bodyPr wrap="square" lIns="0" rIns="0" tIns="0" bIns="0" anchor="ctr">
            <a:spAutoFit/>
          </a:bodyPr>
          <a:lstStyle/>
          <a:p>
            <a:pPr algn="ctr"/>
            <a:r>
              <a:rPr sz="2400" b="1" i="0">
                <a:solidFill>
                  <a:srgbClr val="FFFFFF"/>
                </a:solidFill>
                <a:latin typeface="Arial"/>
              </a:rPr>
              <a:t>2</a:t>
            </a:r>
          </a:p>
        </p:txBody>
      </p:sp>
      <p:sp>
        <p:nvSpPr>
          <p:cNvPr id="12" name="TextBox 11"/>
          <p:cNvSpPr txBox="1"/>
          <p:nvPr/>
        </p:nvSpPr>
        <p:spPr>
          <a:xfrm>
            <a:off x="2549652" y="2834640"/>
            <a:ext cx="1635252" cy="822960"/>
          </a:xfrm>
          <a:prstGeom prst="rect">
            <a:avLst/>
          </a:prstGeom>
          <a:noFill/>
        </p:spPr>
        <p:txBody>
          <a:bodyPr wrap="square" lIns="0" rIns="0" tIns="0" bIns="0" anchor="t">
            <a:spAutoFit/>
          </a:bodyPr>
          <a:lstStyle/>
          <a:p>
            <a:pPr algn="ctr"/>
            <a:r>
              <a:rPr sz="1500" b="1" i="0">
                <a:solidFill>
                  <a:srgbClr val="17253D"/>
                </a:solidFill>
                <a:latin typeface="Calibri"/>
              </a:rPr>
              <a:t>Inspect draft + score</a:t>
            </a:r>
          </a:p>
        </p:txBody>
      </p:sp>
      <p:sp>
        <p:nvSpPr>
          <p:cNvPr id="13" name="Oval 12"/>
          <p:cNvSpPr/>
          <p:nvPr/>
        </p:nvSpPr>
        <p:spPr>
          <a:xfrm>
            <a:off x="4819650" y="1920240"/>
            <a:ext cx="731520" cy="731520"/>
          </a:xfrm>
          <a:prstGeom prst="ellipse">
            <a:avLst/>
          </a:prstGeom>
          <a:solidFill>
            <a:srgbClr val="0A1B3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819650" y="1920240"/>
            <a:ext cx="731520" cy="731520"/>
          </a:xfrm>
          <a:prstGeom prst="rect">
            <a:avLst/>
          </a:prstGeom>
          <a:noFill/>
        </p:spPr>
        <p:txBody>
          <a:bodyPr wrap="square" lIns="0" rIns="0" tIns="0" bIns="0" anchor="ctr">
            <a:spAutoFit/>
          </a:bodyPr>
          <a:lstStyle/>
          <a:p>
            <a:pPr algn="ctr"/>
            <a:r>
              <a:rPr sz="2400" b="1" i="0">
                <a:solidFill>
                  <a:srgbClr val="FFFFFF"/>
                </a:solidFill>
                <a:latin typeface="Arial"/>
              </a:rPr>
              <a:t>3</a:t>
            </a:r>
          </a:p>
        </p:txBody>
      </p:sp>
      <p:sp>
        <p:nvSpPr>
          <p:cNvPr id="15" name="TextBox 14"/>
          <p:cNvSpPr txBox="1"/>
          <p:nvPr/>
        </p:nvSpPr>
        <p:spPr>
          <a:xfrm>
            <a:off x="4367784" y="2834640"/>
            <a:ext cx="1635252" cy="822960"/>
          </a:xfrm>
          <a:prstGeom prst="rect">
            <a:avLst/>
          </a:prstGeom>
          <a:noFill/>
        </p:spPr>
        <p:txBody>
          <a:bodyPr wrap="square" lIns="0" rIns="0" tIns="0" bIns="0" anchor="t">
            <a:spAutoFit/>
          </a:bodyPr>
          <a:lstStyle/>
          <a:p>
            <a:pPr algn="ctr"/>
            <a:r>
              <a:rPr sz="1500" b="1" i="0">
                <a:solidFill>
                  <a:srgbClr val="17253D"/>
                </a:solidFill>
                <a:latin typeface="Calibri"/>
              </a:rPr>
              <a:t>Owner submits case</a:t>
            </a:r>
          </a:p>
        </p:txBody>
      </p:sp>
      <p:sp>
        <p:nvSpPr>
          <p:cNvPr id="16" name="Oval 15"/>
          <p:cNvSpPr/>
          <p:nvPr/>
        </p:nvSpPr>
        <p:spPr>
          <a:xfrm>
            <a:off x="6637782" y="1920240"/>
            <a:ext cx="731520" cy="731520"/>
          </a:xfrm>
          <a:prstGeom prst="ellipse">
            <a:avLst/>
          </a:prstGeom>
          <a:solidFill>
            <a:srgbClr val="1F4E9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6637782" y="1920240"/>
            <a:ext cx="731520" cy="731520"/>
          </a:xfrm>
          <a:prstGeom prst="rect">
            <a:avLst/>
          </a:prstGeom>
          <a:noFill/>
        </p:spPr>
        <p:txBody>
          <a:bodyPr wrap="square" lIns="0" rIns="0" tIns="0" bIns="0" anchor="ctr">
            <a:spAutoFit/>
          </a:bodyPr>
          <a:lstStyle/>
          <a:p>
            <a:pPr algn="ctr"/>
            <a:r>
              <a:rPr sz="2400" b="1" i="0">
                <a:solidFill>
                  <a:srgbClr val="FFFFFF"/>
                </a:solidFill>
                <a:latin typeface="Arial"/>
              </a:rPr>
              <a:t>4</a:t>
            </a:r>
          </a:p>
        </p:txBody>
      </p:sp>
      <p:sp>
        <p:nvSpPr>
          <p:cNvPr id="18" name="TextBox 17"/>
          <p:cNvSpPr txBox="1"/>
          <p:nvPr/>
        </p:nvSpPr>
        <p:spPr>
          <a:xfrm>
            <a:off x="6185916" y="2834640"/>
            <a:ext cx="1635252" cy="822960"/>
          </a:xfrm>
          <a:prstGeom prst="rect">
            <a:avLst/>
          </a:prstGeom>
          <a:noFill/>
        </p:spPr>
        <p:txBody>
          <a:bodyPr wrap="square" lIns="0" rIns="0" tIns="0" bIns="0" anchor="t">
            <a:spAutoFit/>
          </a:bodyPr>
          <a:lstStyle/>
          <a:p>
            <a:pPr algn="ctr"/>
            <a:r>
              <a:rPr sz="1500" b="1" i="0">
                <a:solidFill>
                  <a:srgbClr val="17253D"/>
                </a:solidFill>
                <a:latin typeface="Calibri"/>
              </a:rPr>
              <a:t>Analyst finalizes</a:t>
            </a:r>
          </a:p>
        </p:txBody>
      </p:sp>
      <p:sp>
        <p:nvSpPr>
          <p:cNvPr id="19" name="Oval 18"/>
          <p:cNvSpPr/>
          <p:nvPr/>
        </p:nvSpPr>
        <p:spPr>
          <a:xfrm>
            <a:off x="8455913" y="1920240"/>
            <a:ext cx="731520" cy="731520"/>
          </a:xfrm>
          <a:prstGeom prst="ellipse">
            <a:avLst/>
          </a:prstGeom>
          <a:solidFill>
            <a:srgbClr val="1F4E9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455913" y="1920240"/>
            <a:ext cx="731520" cy="731520"/>
          </a:xfrm>
          <a:prstGeom prst="rect">
            <a:avLst/>
          </a:prstGeom>
          <a:noFill/>
        </p:spPr>
        <p:txBody>
          <a:bodyPr wrap="square" lIns="0" rIns="0" tIns="0" bIns="0" anchor="ctr">
            <a:spAutoFit/>
          </a:bodyPr>
          <a:lstStyle/>
          <a:p>
            <a:pPr algn="ctr"/>
            <a:r>
              <a:rPr sz="2400" b="1" i="0">
                <a:solidFill>
                  <a:srgbClr val="FFFFFF"/>
                </a:solidFill>
                <a:latin typeface="Arial"/>
              </a:rPr>
              <a:t>5</a:t>
            </a:r>
          </a:p>
        </p:txBody>
      </p:sp>
      <p:sp>
        <p:nvSpPr>
          <p:cNvPr id="21" name="TextBox 20"/>
          <p:cNvSpPr txBox="1"/>
          <p:nvPr/>
        </p:nvSpPr>
        <p:spPr>
          <a:xfrm>
            <a:off x="8004047" y="2834640"/>
            <a:ext cx="1635252" cy="822960"/>
          </a:xfrm>
          <a:prstGeom prst="rect">
            <a:avLst/>
          </a:prstGeom>
          <a:noFill/>
        </p:spPr>
        <p:txBody>
          <a:bodyPr wrap="square" lIns="0" rIns="0" tIns="0" bIns="0" anchor="t">
            <a:spAutoFit/>
          </a:bodyPr>
          <a:lstStyle/>
          <a:p>
            <a:pPr algn="ctr"/>
            <a:r>
              <a:rPr sz="1500" b="1" i="0">
                <a:solidFill>
                  <a:srgbClr val="17253D"/>
                </a:solidFill>
                <a:latin typeface="Calibri"/>
              </a:rPr>
              <a:t>Three committee votes</a:t>
            </a:r>
          </a:p>
        </p:txBody>
      </p:sp>
      <p:sp>
        <p:nvSpPr>
          <p:cNvPr id="22" name="Oval 21"/>
          <p:cNvSpPr/>
          <p:nvPr/>
        </p:nvSpPr>
        <p:spPr>
          <a:xfrm>
            <a:off x="10274045" y="1920240"/>
            <a:ext cx="731520" cy="731520"/>
          </a:xfrm>
          <a:prstGeom prst="ellipse">
            <a:avLst/>
          </a:prstGeom>
          <a:solidFill>
            <a:srgbClr val="1F4E9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10274045" y="1920240"/>
            <a:ext cx="731520" cy="731520"/>
          </a:xfrm>
          <a:prstGeom prst="rect">
            <a:avLst/>
          </a:prstGeom>
          <a:noFill/>
        </p:spPr>
        <p:txBody>
          <a:bodyPr wrap="square" lIns="0" rIns="0" tIns="0" bIns="0" anchor="ctr">
            <a:spAutoFit/>
          </a:bodyPr>
          <a:lstStyle/>
          <a:p>
            <a:pPr algn="ctr"/>
            <a:r>
              <a:rPr sz="2400" b="1" i="0">
                <a:solidFill>
                  <a:srgbClr val="FFFFFF"/>
                </a:solidFill>
                <a:latin typeface="Arial"/>
              </a:rPr>
              <a:t>6</a:t>
            </a:r>
          </a:p>
        </p:txBody>
      </p:sp>
      <p:sp>
        <p:nvSpPr>
          <p:cNvPr id="24" name="TextBox 23"/>
          <p:cNvSpPr txBox="1"/>
          <p:nvPr/>
        </p:nvSpPr>
        <p:spPr>
          <a:xfrm>
            <a:off x="9822179" y="2834640"/>
            <a:ext cx="1635252" cy="822960"/>
          </a:xfrm>
          <a:prstGeom prst="rect">
            <a:avLst/>
          </a:prstGeom>
          <a:noFill/>
        </p:spPr>
        <p:txBody>
          <a:bodyPr wrap="square" lIns="0" rIns="0" tIns="0" bIns="0" anchor="t">
            <a:spAutoFit/>
          </a:bodyPr>
          <a:lstStyle/>
          <a:p>
            <a:pPr algn="ctr"/>
            <a:r>
              <a:rPr sz="1500" b="1" i="0">
                <a:solidFill>
                  <a:srgbClr val="17253D"/>
                </a:solidFill>
                <a:latin typeface="Calibri"/>
              </a:rPr>
              <a:t>Owner evidence; analyst closes</a:t>
            </a:r>
          </a:p>
        </p:txBody>
      </p:sp>
      <p:sp>
        <p:nvSpPr>
          <p:cNvPr id="25" name="Rounded Rectangle 24"/>
          <p:cNvSpPr/>
          <p:nvPr/>
        </p:nvSpPr>
        <p:spPr>
          <a:xfrm>
            <a:off x="640080" y="4160520"/>
            <a:ext cx="10908792" cy="1920240"/>
          </a:xfrm>
          <a:prstGeom prst="roundRect">
            <a:avLst>
              <a:gd name="adj" fmla="val 3809"/>
            </a:avLst>
          </a:prstGeom>
          <a:solidFill>
            <a:srgbClr val="0A1B34"/>
          </a:solidFill>
          <a:ln>
            <a:noFill/>
          </a:ln>
          <a:effectLst/>
          <a:effectLst>
            <a:outerShdw blurRad="177800" dist="38100" dir="5400000" algn="t" rotWithShape="0">
              <a:srgbClr val="0A1B34">
                <a:alpha val="1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1097280" y="4434840"/>
            <a:ext cx="9994392" cy="457200"/>
          </a:xfrm>
          <a:prstGeom prst="rect">
            <a:avLst/>
          </a:prstGeom>
          <a:noFill/>
        </p:spPr>
        <p:txBody>
          <a:bodyPr wrap="square" lIns="0" rIns="0" tIns="0" bIns="0" anchor="t">
            <a:spAutoFit/>
          </a:bodyPr>
          <a:lstStyle/>
          <a:p>
            <a:pPr algn="l"/>
            <a:r>
              <a:rPr sz="2000" b="1" i="0">
                <a:solidFill>
                  <a:srgbClr val="C8A24A"/>
                </a:solidFill>
                <a:latin typeface="Arial"/>
              </a:rPr>
              <a:t>Security boundary</a:t>
            </a:r>
          </a:p>
        </p:txBody>
      </p:sp>
      <p:sp>
        <p:nvSpPr>
          <p:cNvPr id="27" name="TextBox 26"/>
          <p:cNvSpPr txBox="1"/>
          <p:nvPr/>
        </p:nvSpPr>
        <p:spPr>
          <a:xfrm>
            <a:off x="1097280" y="4983480"/>
            <a:ext cx="9994392" cy="914400"/>
          </a:xfrm>
          <a:prstGeom prst="rect">
            <a:avLst/>
          </a:prstGeom>
          <a:noFill/>
        </p:spPr>
        <p:txBody>
          <a:bodyPr wrap="square" lIns="0" rIns="0" tIns="0" bIns="0" anchor="t">
            <a:spAutoFit/>
          </a:bodyPr>
          <a:lstStyle/>
          <a:p>
            <a:pPr algn="l"/>
            <a:r>
              <a:rPr sz="1700" b="0" i="0">
                <a:solidFill>
                  <a:srgbClr val="FFFFFF"/>
                </a:solidFill>
                <a:latin typeface="Calibri"/>
              </a:rPr>
              <a:t>Workflow routes check fixed demo roles, not production identities. Extraction needs the configured model provider; no offline extraction fallback. Source and audit hashes are verifiable, not immutable.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08792" cy="274320"/>
          </a:xfrm>
          <a:prstGeom prst="rect">
            <a:avLst/>
          </a:prstGeom>
          <a:noFill/>
        </p:spPr>
        <p:txBody>
          <a:bodyPr wrap="square" lIns="0" rIns="0" tIns="0" bIns="0" anchor="ctr">
            <a:spAutoFit/>
          </a:bodyPr>
          <a:lstStyle/>
          <a:p>
            <a:pPr algn="l"/>
            <a:r>
              <a:rPr sz="1200" b="1" i="0" spc="300">
                <a:solidFill>
                  <a:srgbClr val="8A6A1F"/>
                </a:solidFill>
                <a:latin typeface="Calibri"/>
              </a:rPr>
              <a:t>TESTING AND EVIDENCE</a:t>
            </a:r>
          </a:p>
        </p:txBody>
      </p:sp>
      <p:sp>
        <p:nvSpPr>
          <p:cNvPr id="3" name="TextBox 2"/>
          <p:cNvSpPr txBox="1"/>
          <p:nvPr/>
        </p:nvSpPr>
        <p:spPr>
          <a:xfrm>
            <a:off x="640080" y="777240"/>
            <a:ext cx="10908792" cy="731520"/>
          </a:xfrm>
          <a:prstGeom prst="rect">
            <a:avLst/>
          </a:prstGeom>
          <a:noFill/>
        </p:spPr>
        <p:txBody>
          <a:bodyPr wrap="square" lIns="0" rIns="0" tIns="0" bIns="0" anchor="t">
            <a:spAutoFit/>
          </a:bodyPr>
          <a:lstStyle/>
          <a:p>
            <a:pPr algn="l"/>
            <a:r>
              <a:rPr sz="3000" b="1" i="0">
                <a:solidFill>
                  <a:srgbClr val="0A1B34"/>
                </a:solidFill>
                <a:latin typeface="Arial"/>
              </a:rPr>
              <a:t>We measure the model, not just the demo</a:t>
            </a:r>
          </a:p>
        </p:txBody>
      </p:sp>
      <p:sp>
        <p:nvSpPr>
          <p:cNvPr id="4" name="TextBox 3"/>
          <p:cNvSpPr txBox="1"/>
          <p:nvPr/>
        </p:nvSpPr>
        <p:spPr>
          <a:xfrm>
            <a:off x="640080" y="6355080"/>
            <a:ext cx="7315200" cy="274320"/>
          </a:xfrm>
          <a:prstGeom prst="rect">
            <a:avLst/>
          </a:prstGeom>
          <a:noFill/>
        </p:spPr>
        <p:txBody>
          <a:bodyPr wrap="square" lIns="0" rIns="0" tIns="0" bIns="0" anchor="ctr">
            <a:spAutoFit/>
          </a:bodyPr>
          <a:lstStyle/>
          <a:p>
            <a:pPr algn="l"/>
            <a:r>
              <a:rPr sz="1000" b="0" i="0">
                <a:solidFill>
                  <a:srgbClr val="55657D"/>
                </a:solidFill>
                <a:latin typeface="Calibri"/>
              </a:rPr>
              <a:t>Risk Assessment Workbench  |  Genius Hacks 2026</a:t>
            </a:r>
          </a:p>
        </p:txBody>
      </p:sp>
      <p:sp>
        <p:nvSpPr>
          <p:cNvPr id="5" name="TextBox 4"/>
          <p:cNvSpPr txBox="1"/>
          <p:nvPr/>
        </p:nvSpPr>
        <p:spPr>
          <a:xfrm>
            <a:off x="10881360" y="6355080"/>
            <a:ext cx="667512" cy="274320"/>
          </a:xfrm>
          <a:prstGeom prst="rect">
            <a:avLst/>
          </a:prstGeom>
          <a:noFill/>
        </p:spPr>
        <p:txBody>
          <a:bodyPr wrap="square" lIns="0" rIns="0" tIns="0" bIns="0" anchor="ctr">
            <a:spAutoFit/>
          </a:bodyPr>
          <a:lstStyle/>
          <a:p>
            <a:pPr algn="r"/>
            <a:r>
              <a:rPr sz="1000" b="0" i="0">
                <a:solidFill>
                  <a:srgbClr val="55657D"/>
                </a:solidFill>
                <a:latin typeface="Calibri"/>
              </a:rPr>
              <a:t>10</a:t>
            </a:r>
          </a:p>
        </p:txBody>
      </p:sp>
      <p:sp>
        <p:nvSpPr>
          <p:cNvPr id="6" name="Rounded Rectangle 5"/>
          <p:cNvSpPr/>
          <p:nvPr/>
        </p:nvSpPr>
        <p:spPr>
          <a:xfrm>
            <a:off x="640080" y="1691640"/>
            <a:ext cx="2521458" cy="1188720"/>
          </a:xfrm>
          <a:prstGeom prst="roundRect">
            <a:avLst>
              <a:gd name="adj" fmla="val 6153"/>
            </a:avLst>
          </a:prstGeom>
          <a:solidFill>
            <a:srgbClr val="0A1B34"/>
          </a:solidFill>
          <a:ln>
            <a:noFill/>
          </a:ln>
          <a:effectLst/>
          <a:effectLst>
            <a:outerShdw blurRad="177800" dist="38100" dir="5400000" algn="t" rotWithShape="0">
              <a:srgbClr val="0A1B34">
                <a:alpha val="1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40080" y="1783080"/>
            <a:ext cx="2521458" cy="685800"/>
          </a:xfrm>
          <a:prstGeom prst="rect">
            <a:avLst/>
          </a:prstGeom>
          <a:noFill/>
        </p:spPr>
        <p:txBody>
          <a:bodyPr wrap="square" lIns="0" rIns="0" tIns="0" bIns="0" anchor="ctr">
            <a:spAutoFit/>
          </a:bodyPr>
          <a:lstStyle/>
          <a:p>
            <a:pPr algn="ctr"/>
            <a:r>
              <a:rPr sz="3800" b="1" i="0">
                <a:solidFill>
                  <a:srgbClr val="FFFFFF"/>
                </a:solidFill>
                <a:latin typeface="Arial"/>
              </a:rPr>
              <a:t>8/8</a:t>
            </a:r>
          </a:p>
        </p:txBody>
      </p:sp>
      <p:sp>
        <p:nvSpPr>
          <p:cNvPr id="8" name="TextBox 7"/>
          <p:cNvSpPr txBox="1"/>
          <p:nvPr/>
        </p:nvSpPr>
        <p:spPr>
          <a:xfrm>
            <a:off x="640080" y="2468880"/>
            <a:ext cx="2521458" cy="320040"/>
          </a:xfrm>
          <a:prstGeom prst="rect">
            <a:avLst/>
          </a:prstGeom>
          <a:noFill/>
        </p:spPr>
        <p:txBody>
          <a:bodyPr wrap="square" lIns="0" rIns="0" tIns="0" bIns="0" anchor="ctr">
            <a:spAutoFit/>
          </a:bodyPr>
          <a:lstStyle/>
          <a:p>
            <a:pPr algn="ctr"/>
            <a:r>
              <a:rPr sz="1400" b="0" i="0">
                <a:solidFill>
                  <a:srgbClr val="D6E4F7"/>
                </a:solidFill>
                <a:latin typeface="Calibri"/>
              </a:rPr>
              <a:t>live calls succeeded</a:t>
            </a:r>
          </a:p>
        </p:txBody>
      </p:sp>
      <p:sp>
        <p:nvSpPr>
          <p:cNvPr id="9" name="Rounded Rectangle 8"/>
          <p:cNvSpPr/>
          <p:nvPr/>
        </p:nvSpPr>
        <p:spPr>
          <a:xfrm>
            <a:off x="3435857" y="1691640"/>
            <a:ext cx="2521458" cy="1188720"/>
          </a:xfrm>
          <a:prstGeom prst="roundRect">
            <a:avLst>
              <a:gd name="adj" fmla="val 6153"/>
            </a:avLst>
          </a:prstGeom>
          <a:solidFill>
            <a:srgbClr val="1F4E9C"/>
          </a:solidFill>
          <a:ln>
            <a:noFill/>
          </a:ln>
          <a:effectLst/>
          <a:effectLst>
            <a:outerShdw blurRad="177800" dist="38100" dir="5400000" algn="t" rotWithShape="0">
              <a:srgbClr val="0A1B34">
                <a:alpha val="1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3435857" y="1783080"/>
            <a:ext cx="2521458" cy="685800"/>
          </a:xfrm>
          <a:prstGeom prst="rect">
            <a:avLst/>
          </a:prstGeom>
          <a:noFill/>
        </p:spPr>
        <p:txBody>
          <a:bodyPr wrap="square" lIns="0" rIns="0" tIns="0" bIns="0" anchor="ctr">
            <a:spAutoFit/>
          </a:bodyPr>
          <a:lstStyle/>
          <a:p>
            <a:pPr algn="ctr"/>
            <a:r>
              <a:rPr sz="3800" b="1" i="0">
                <a:solidFill>
                  <a:srgbClr val="FFFFFF"/>
                </a:solidFill>
                <a:latin typeface="Arial"/>
              </a:rPr>
              <a:t>100.0%</a:t>
            </a:r>
          </a:p>
        </p:txBody>
      </p:sp>
      <p:sp>
        <p:nvSpPr>
          <p:cNvPr id="11" name="TextBox 10"/>
          <p:cNvSpPr txBox="1"/>
          <p:nvPr/>
        </p:nvSpPr>
        <p:spPr>
          <a:xfrm>
            <a:off x="3435857" y="2468880"/>
            <a:ext cx="2521458" cy="320040"/>
          </a:xfrm>
          <a:prstGeom prst="rect">
            <a:avLst/>
          </a:prstGeom>
          <a:noFill/>
        </p:spPr>
        <p:txBody>
          <a:bodyPr wrap="square" lIns="0" rIns="0" tIns="0" bIns="0" anchor="ctr">
            <a:spAutoFit/>
          </a:bodyPr>
          <a:lstStyle/>
          <a:p>
            <a:pPr algn="ctr"/>
            <a:r>
              <a:rPr sz="1400" b="0" i="0">
                <a:solidFill>
                  <a:srgbClr val="D6E4F7"/>
                </a:solidFill>
                <a:latin typeface="Calibri"/>
              </a:rPr>
              <a:t>field accuracy (80/80)</a:t>
            </a:r>
          </a:p>
        </p:txBody>
      </p:sp>
      <p:sp>
        <p:nvSpPr>
          <p:cNvPr id="12" name="Rounded Rectangle 11"/>
          <p:cNvSpPr/>
          <p:nvPr/>
        </p:nvSpPr>
        <p:spPr>
          <a:xfrm>
            <a:off x="6231636" y="1691640"/>
            <a:ext cx="2521458" cy="1188720"/>
          </a:xfrm>
          <a:prstGeom prst="roundRect">
            <a:avLst>
              <a:gd name="adj" fmla="val 6153"/>
            </a:avLst>
          </a:prstGeom>
          <a:solidFill>
            <a:srgbClr val="0A1B34"/>
          </a:solidFill>
          <a:ln>
            <a:noFill/>
          </a:ln>
          <a:effectLst/>
          <a:effectLst>
            <a:outerShdw blurRad="177800" dist="38100" dir="5400000" algn="t" rotWithShape="0">
              <a:srgbClr val="0A1B34">
                <a:alpha val="1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6231636" y="1783080"/>
            <a:ext cx="2521458" cy="685800"/>
          </a:xfrm>
          <a:prstGeom prst="rect">
            <a:avLst/>
          </a:prstGeom>
          <a:noFill/>
        </p:spPr>
        <p:txBody>
          <a:bodyPr wrap="square" lIns="0" rIns="0" tIns="0" bIns="0" anchor="ctr">
            <a:spAutoFit/>
          </a:bodyPr>
          <a:lstStyle/>
          <a:p>
            <a:pPr algn="ctr"/>
            <a:r>
              <a:rPr sz="3800" b="1" i="0">
                <a:solidFill>
                  <a:srgbClr val="FFFFFF"/>
                </a:solidFill>
                <a:latin typeface="Arial"/>
              </a:rPr>
              <a:t>100%</a:t>
            </a:r>
          </a:p>
        </p:txBody>
      </p:sp>
      <p:sp>
        <p:nvSpPr>
          <p:cNvPr id="14" name="TextBox 13"/>
          <p:cNvSpPr txBox="1"/>
          <p:nvPr/>
        </p:nvSpPr>
        <p:spPr>
          <a:xfrm>
            <a:off x="6231636" y="2468880"/>
            <a:ext cx="2521458" cy="320040"/>
          </a:xfrm>
          <a:prstGeom prst="rect">
            <a:avLst/>
          </a:prstGeom>
          <a:noFill/>
        </p:spPr>
        <p:txBody>
          <a:bodyPr wrap="square" lIns="0" rIns="0" tIns="0" bIns="0" anchor="ctr">
            <a:spAutoFit/>
          </a:bodyPr>
          <a:lstStyle/>
          <a:p>
            <a:pPr algn="ctr"/>
            <a:r>
              <a:rPr sz="1400" b="0" i="0">
                <a:solidFill>
                  <a:srgbClr val="D6E4F7"/>
                </a:solidFill>
                <a:latin typeface="Calibri"/>
              </a:rPr>
              <a:t>risk-level agreement</a:t>
            </a:r>
          </a:p>
        </p:txBody>
      </p:sp>
      <p:sp>
        <p:nvSpPr>
          <p:cNvPr id="15" name="Rounded Rectangle 14"/>
          <p:cNvSpPr/>
          <p:nvPr/>
        </p:nvSpPr>
        <p:spPr>
          <a:xfrm>
            <a:off x="9027413" y="1691640"/>
            <a:ext cx="2521458" cy="1188720"/>
          </a:xfrm>
          <a:prstGeom prst="roundRect">
            <a:avLst>
              <a:gd name="adj" fmla="val 6153"/>
            </a:avLst>
          </a:prstGeom>
          <a:solidFill>
            <a:srgbClr val="1F4E9C"/>
          </a:solidFill>
          <a:ln>
            <a:noFill/>
          </a:ln>
          <a:effectLst/>
          <a:effectLst>
            <a:outerShdw blurRad="177800" dist="38100" dir="5400000" algn="t" rotWithShape="0">
              <a:srgbClr val="0A1B34">
                <a:alpha val="1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9027413" y="1783080"/>
            <a:ext cx="2521458" cy="685800"/>
          </a:xfrm>
          <a:prstGeom prst="rect">
            <a:avLst/>
          </a:prstGeom>
          <a:noFill/>
        </p:spPr>
        <p:txBody>
          <a:bodyPr wrap="square" lIns="0" rIns="0" tIns="0" bIns="0" anchor="ctr">
            <a:spAutoFit/>
          </a:bodyPr>
          <a:lstStyle/>
          <a:p>
            <a:pPr algn="ctr"/>
            <a:r>
              <a:rPr sz="3800" b="1" i="0">
                <a:solidFill>
                  <a:srgbClr val="FFFFFF"/>
                </a:solidFill>
                <a:latin typeface="Arial"/>
              </a:rPr>
              <a:t>3.6 s</a:t>
            </a:r>
          </a:p>
        </p:txBody>
      </p:sp>
      <p:sp>
        <p:nvSpPr>
          <p:cNvPr id="17" name="TextBox 16"/>
          <p:cNvSpPr txBox="1"/>
          <p:nvPr/>
        </p:nvSpPr>
        <p:spPr>
          <a:xfrm>
            <a:off x="9027413" y="2468880"/>
            <a:ext cx="2521458" cy="320040"/>
          </a:xfrm>
          <a:prstGeom prst="rect">
            <a:avLst/>
          </a:prstGeom>
          <a:noFill/>
        </p:spPr>
        <p:txBody>
          <a:bodyPr wrap="square" lIns="0" rIns="0" tIns="0" bIns="0" anchor="ctr">
            <a:spAutoFit/>
          </a:bodyPr>
          <a:lstStyle/>
          <a:p>
            <a:pPr algn="ctr"/>
            <a:r>
              <a:rPr sz="1400" b="0" i="0">
                <a:solidFill>
                  <a:srgbClr val="D6E4F7"/>
                </a:solidFill>
                <a:latin typeface="Calibri"/>
              </a:rPr>
              <a:t>mean latency per case</a:t>
            </a:r>
          </a:p>
        </p:txBody>
      </p:sp>
      <p:sp>
        <p:nvSpPr>
          <p:cNvPr id="18" name="Rounded Rectangle 17"/>
          <p:cNvSpPr/>
          <p:nvPr/>
        </p:nvSpPr>
        <p:spPr>
          <a:xfrm>
            <a:off x="640080" y="3108960"/>
            <a:ext cx="5486400" cy="3063240"/>
          </a:xfrm>
          <a:prstGeom prst="roundRect">
            <a:avLst>
              <a:gd name="adj" fmla="val 2388"/>
            </a:avLst>
          </a:prstGeom>
          <a:solidFill>
            <a:srgbClr val="FFFFFF"/>
          </a:solidFill>
          <a:ln w="9525">
            <a:solidFill>
              <a:srgbClr val="D5DDEA"/>
            </a:solidFill>
          </a:ln>
          <a:effectLst/>
          <a:effectLst>
            <a:outerShdw blurRad="177800" dist="38100" dir="5400000" algn="t" rotWithShape="0">
              <a:srgbClr val="0A1B34">
                <a:alpha val="1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aphicFrame>
        <p:nvGraphicFramePr>
          <p:cNvPr id="19" name="Chart 18"/>
          <p:cNvGraphicFramePr>
            <a:graphicFrameLocks noGrp="1"/>
          </p:cNvGraphicFramePr>
          <p:nvPr/>
        </p:nvGraphicFramePr>
        <p:xfrm>
          <a:off x="777240" y="3200400"/>
          <a:ext cx="5212080" cy="2880360"/>
        </p:xfrm>
        <a:graphic>
          <a:graphicData uri="http://schemas.openxmlformats.org/drawingml/2006/chart">
            <c:chart xmlns:c="http://schemas.openxmlformats.org/drawingml/2006/chart" r:id="rId3"/>
          </a:graphicData>
        </a:graphic>
      </p:graphicFrame>
      <p:sp>
        <p:nvSpPr>
          <p:cNvPr id="20" name="Rounded Rectangle 19"/>
          <p:cNvSpPr/>
          <p:nvPr/>
        </p:nvSpPr>
        <p:spPr>
          <a:xfrm>
            <a:off x="6492240" y="3108960"/>
            <a:ext cx="5056631" cy="3063240"/>
          </a:xfrm>
          <a:prstGeom prst="roundRect">
            <a:avLst>
              <a:gd name="adj" fmla="val 2388"/>
            </a:avLst>
          </a:prstGeom>
          <a:solidFill>
            <a:srgbClr val="EEF3FA"/>
          </a:solidFill>
          <a:ln w="9525">
            <a:solidFill>
              <a:srgbClr val="D5DDE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6812280" y="3310128"/>
            <a:ext cx="4416551" cy="411480"/>
          </a:xfrm>
          <a:prstGeom prst="rect">
            <a:avLst/>
          </a:prstGeom>
          <a:noFill/>
        </p:spPr>
        <p:txBody>
          <a:bodyPr wrap="square" lIns="0" rIns="0" tIns="0" bIns="0" anchor="t">
            <a:spAutoFit/>
          </a:bodyPr>
          <a:lstStyle/>
          <a:p>
            <a:pPr algn="l"/>
            <a:r>
              <a:rPr sz="1700" b="1" i="0">
                <a:solidFill>
                  <a:srgbClr val="0A1B34"/>
                </a:solidFill>
                <a:latin typeface="Arial"/>
              </a:rPr>
              <a:t>What the result does and does not show</a:t>
            </a:r>
          </a:p>
        </p:txBody>
      </p:sp>
      <p:sp>
        <p:nvSpPr>
          <p:cNvPr id="22" name="TextBox 21"/>
          <p:cNvSpPr txBox="1"/>
          <p:nvPr/>
        </p:nvSpPr>
        <p:spPr>
          <a:xfrm>
            <a:off x="6812280" y="3840480"/>
            <a:ext cx="4416551" cy="2194560"/>
          </a:xfrm>
          <a:prstGeom prst="rect">
            <a:avLst/>
          </a:prstGeom>
          <a:noFill/>
        </p:spPr>
        <p:txBody>
          <a:bodyPr wrap="square" lIns="0" rIns="0" tIns="0" bIns="0" anchor="t">
            <a:spAutoFit/>
          </a:bodyPr>
          <a:lstStyle/>
          <a:p>
            <a:pPr marL="201168" indent="-201168">
              <a:spcAft>
                <a:spcPts val="800"/>
              </a:spcAft>
              <a:buChar char="•"/>
            </a:pPr>
            <a:r>
              <a:rPr sz="1400">
                <a:solidFill>
                  <a:srgbClr val="17253D"/>
                </a:solidFill>
                <a:latin typeface="Calibri"/>
              </a:rPr>
              <a:t>Risk agreement comes from the deterministic scorer; it does not prove every field is right</a:t>
            </a:r>
          </a:p>
          <a:p>
            <a:pPr marL="201168" indent="-201168">
              <a:spcAft>
                <a:spcPts val="800"/>
              </a:spcAft>
              <a:buChar char="•"/>
            </a:pPr>
            <a:r>
              <a:rPr sz="1400">
                <a:solidFill>
                  <a:srgbClr val="17253D"/>
                </a:solidFill>
                <a:latin typeface="Calibri"/>
              </a:rPr>
              <a:t>Eight synthetic cases; not a production accuracy estimate</a:t>
            </a:r>
          </a:p>
          <a:p>
            <a:pPr marL="201168" indent="-201168">
              <a:spcAft>
                <a:spcPts val="800"/>
              </a:spcAft>
              <a:buChar char="•"/>
            </a:pPr>
            <a:r>
              <a:rPr sz="1400">
                <a:solidFill>
                  <a:srgbClr val="17253D"/>
                </a:solidFill>
                <a:latin typeface="Calibri"/>
              </a:rPr>
              <a:t>Local test suite: 89 passed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08792" cy="274320"/>
          </a:xfrm>
          <a:prstGeom prst="rect">
            <a:avLst/>
          </a:prstGeom>
          <a:noFill/>
        </p:spPr>
        <p:txBody>
          <a:bodyPr wrap="square" lIns="0" rIns="0" tIns="0" bIns="0" anchor="ctr">
            <a:spAutoFit/>
          </a:bodyPr>
          <a:lstStyle/>
          <a:p>
            <a:pPr algn="l"/>
            <a:r>
              <a:rPr sz="1200" b="1" i="0" spc="300">
                <a:solidFill>
                  <a:srgbClr val="8A6A1F"/>
                </a:solidFill>
                <a:latin typeface="Calibri"/>
              </a:rPr>
              <a:t>FAILURE HANDLING AND ITERATION</a:t>
            </a:r>
          </a:p>
        </p:txBody>
      </p:sp>
      <p:sp>
        <p:nvSpPr>
          <p:cNvPr id="3" name="TextBox 2"/>
          <p:cNvSpPr txBox="1"/>
          <p:nvPr/>
        </p:nvSpPr>
        <p:spPr>
          <a:xfrm>
            <a:off x="640080" y="777240"/>
            <a:ext cx="10908792" cy="731520"/>
          </a:xfrm>
          <a:prstGeom prst="rect">
            <a:avLst/>
          </a:prstGeom>
          <a:noFill/>
        </p:spPr>
        <p:txBody>
          <a:bodyPr wrap="square" lIns="0" rIns="0" tIns="0" bIns="0" anchor="t">
            <a:spAutoFit/>
          </a:bodyPr>
          <a:lstStyle/>
          <a:p>
            <a:pPr algn="l"/>
            <a:r>
              <a:rPr sz="3000" b="1" i="0">
                <a:solidFill>
                  <a:srgbClr val="0A1B34"/>
                </a:solidFill>
                <a:latin typeface="Arial"/>
              </a:rPr>
              <a:t>Failures stop safely; the repo shows how the work evolved</a:t>
            </a:r>
          </a:p>
        </p:txBody>
      </p:sp>
      <p:sp>
        <p:nvSpPr>
          <p:cNvPr id="4" name="TextBox 3"/>
          <p:cNvSpPr txBox="1"/>
          <p:nvPr/>
        </p:nvSpPr>
        <p:spPr>
          <a:xfrm>
            <a:off x="640080" y="6355080"/>
            <a:ext cx="7315200" cy="274320"/>
          </a:xfrm>
          <a:prstGeom prst="rect">
            <a:avLst/>
          </a:prstGeom>
          <a:noFill/>
        </p:spPr>
        <p:txBody>
          <a:bodyPr wrap="square" lIns="0" rIns="0" tIns="0" bIns="0" anchor="ctr">
            <a:spAutoFit/>
          </a:bodyPr>
          <a:lstStyle/>
          <a:p>
            <a:pPr algn="l"/>
            <a:r>
              <a:rPr sz="1000" b="0" i="0">
                <a:solidFill>
                  <a:srgbClr val="55657D"/>
                </a:solidFill>
                <a:latin typeface="Calibri"/>
              </a:rPr>
              <a:t>Risk Assessment Workbench  |  Genius Hacks 2026</a:t>
            </a:r>
          </a:p>
        </p:txBody>
      </p:sp>
      <p:sp>
        <p:nvSpPr>
          <p:cNvPr id="5" name="TextBox 4"/>
          <p:cNvSpPr txBox="1"/>
          <p:nvPr/>
        </p:nvSpPr>
        <p:spPr>
          <a:xfrm>
            <a:off x="10881360" y="6355080"/>
            <a:ext cx="667512" cy="274320"/>
          </a:xfrm>
          <a:prstGeom prst="rect">
            <a:avLst/>
          </a:prstGeom>
          <a:noFill/>
        </p:spPr>
        <p:txBody>
          <a:bodyPr wrap="square" lIns="0" rIns="0" tIns="0" bIns="0" anchor="ctr">
            <a:spAutoFit/>
          </a:bodyPr>
          <a:lstStyle/>
          <a:p>
            <a:pPr algn="r"/>
            <a:r>
              <a:rPr sz="1000" b="0" i="0">
                <a:solidFill>
                  <a:srgbClr val="55657D"/>
                </a:solidFill>
                <a:latin typeface="Calibri"/>
              </a:rPr>
              <a:t>11</a:t>
            </a:r>
          </a:p>
        </p:txBody>
      </p:sp>
      <p:sp>
        <p:nvSpPr>
          <p:cNvPr id="6" name="Rounded Rectangle 5"/>
          <p:cNvSpPr/>
          <p:nvPr/>
        </p:nvSpPr>
        <p:spPr>
          <a:xfrm>
            <a:off x="640080" y="1783080"/>
            <a:ext cx="5074920" cy="4343400"/>
          </a:xfrm>
          <a:prstGeom prst="roundRect">
            <a:avLst>
              <a:gd name="adj" fmla="val 1684"/>
            </a:avLst>
          </a:prstGeom>
          <a:solidFill>
            <a:srgbClr val="EEF3FA"/>
          </a:solidFill>
          <a:ln w="9525">
            <a:solidFill>
              <a:srgbClr val="D5DDE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960119" y="2057400"/>
            <a:ext cx="4434840" cy="438912"/>
          </a:xfrm>
          <a:prstGeom prst="rect">
            <a:avLst/>
          </a:prstGeom>
          <a:noFill/>
        </p:spPr>
        <p:txBody>
          <a:bodyPr wrap="square" lIns="0" rIns="0" tIns="0" bIns="0" anchor="t">
            <a:spAutoFit/>
          </a:bodyPr>
          <a:lstStyle/>
          <a:p>
            <a:pPr algn="l"/>
            <a:r>
              <a:rPr sz="2000" b="1" i="0">
                <a:solidFill>
                  <a:srgbClr val="0A1B34"/>
                </a:solidFill>
                <a:latin typeface="Arial"/>
              </a:rPr>
              <a:t>Failure behavior</a:t>
            </a:r>
          </a:p>
        </p:txBody>
      </p:sp>
      <p:sp>
        <p:nvSpPr>
          <p:cNvPr id="8" name="TextBox 7"/>
          <p:cNvSpPr txBox="1"/>
          <p:nvPr/>
        </p:nvSpPr>
        <p:spPr>
          <a:xfrm>
            <a:off x="960119" y="2697480"/>
            <a:ext cx="4434840" cy="3200400"/>
          </a:xfrm>
          <a:prstGeom prst="rect">
            <a:avLst/>
          </a:prstGeom>
          <a:noFill/>
        </p:spPr>
        <p:txBody>
          <a:bodyPr wrap="square" lIns="0" rIns="0" tIns="0" bIns="0" anchor="t">
            <a:spAutoFit/>
          </a:bodyPr>
          <a:lstStyle/>
          <a:p>
            <a:pPr marL="201168" indent="-201168">
              <a:spcAft>
                <a:spcPts val="1200"/>
              </a:spcAft>
              <a:buChar char="•"/>
            </a:pPr>
            <a:r>
              <a:rPr sz="1500">
                <a:solidFill>
                  <a:srgbClr val="17253D"/>
                </a:solidFill>
                <a:latin typeface="Calibri"/>
              </a:rPr>
              <a:t>Reject non-PDF, oversized, malformed, and textless uploads</a:t>
            </a:r>
          </a:p>
          <a:p>
            <a:pPr marL="201168" indent="-201168">
              <a:spcAft>
                <a:spcPts val="1200"/>
              </a:spcAft>
              <a:buChar char="•"/>
            </a:pPr>
            <a:r>
              <a:rPr sz="1500">
                <a:solidFill>
                  <a:srgbClr val="17253D"/>
                </a:solidFill>
                <a:latin typeface="Calibri"/>
              </a:rPr>
              <a:t>Provider error is explicit; no draft case is created and extraction has no offline fallback</a:t>
            </a:r>
          </a:p>
          <a:p>
            <a:pPr marL="201168" indent="-201168">
              <a:spcAft>
                <a:spcPts val="1200"/>
              </a:spcAft>
              <a:buChar char="•"/>
            </a:pPr>
            <a:r>
              <a:rPr sz="1500">
                <a:solidFill>
                  <a:srgbClr val="17253D"/>
                </a:solidFill>
                <a:latin typeface="Calibri"/>
              </a:rPr>
              <a:t>Retry transient connection, timeout, and rate-limit errors up to three times</a:t>
            </a:r>
          </a:p>
          <a:p>
            <a:pPr marL="201168" indent="-201168">
              <a:spcAft>
                <a:spcPts val="1200"/>
              </a:spcAft>
              <a:buChar char="•"/>
            </a:pPr>
            <a:r>
              <a:rPr sz="1500">
                <a:solidFill>
                  <a:srgbClr val="17253D"/>
                </a:solidFill>
                <a:latin typeface="Calibri"/>
              </a:rPr>
              <a:t>Source-integrity failures block downloads and examiner exports</a:t>
            </a:r>
          </a:p>
        </p:txBody>
      </p:sp>
      <p:sp>
        <p:nvSpPr>
          <p:cNvPr id="9" name="Rounded Rectangle 8"/>
          <p:cNvSpPr/>
          <p:nvPr/>
        </p:nvSpPr>
        <p:spPr>
          <a:xfrm>
            <a:off x="6126480" y="1783080"/>
            <a:ext cx="5422392" cy="4343400"/>
          </a:xfrm>
          <a:prstGeom prst="roundRect">
            <a:avLst>
              <a:gd name="adj" fmla="val 1684"/>
            </a:avLst>
          </a:prstGeom>
          <a:solidFill>
            <a:srgbClr val="FFFFFF"/>
          </a:solidFill>
          <a:ln w="9525">
            <a:solidFill>
              <a:srgbClr val="D5DDEA"/>
            </a:solidFill>
          </a:ln>
          <a:effectLst/>
          <a:effectLst>
            <a:outerShdw blurRad="177800" dist="38100" dir="5400000" algn="t" rotWithShape="0">
              <a:srgbClr val="0A1B34">
                <a:alpha val="1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446520" y="2057400"/>
            <a:ext cx="4782312" cy="438912"/>
          </a:xfrm>
          <a:prstGeom prst="rect">
            <a:avLst/>
          </a:prstGeom>
          <a:noFill/>
        </p:spPr>
        <p:txBody>
          <a:bodyPr wrap="square" lIns="0" rIns="0" tIns="0" bIns="0" anchor="t">
            <a:spAutoFit/>
          </a:bodyPr>
          <a:lstStyle/>
          <a:p>
            <a:pPr algn="l"/>
            <a:r>
              <a:rPr sz="2000" b="1" i="0">
                <a:solidFill>
                  <a:srgbClr val="0A1B34"/>
                </a:solidFill>
                <a:latin typeface="Arial"/>
              </a:rPr>
              <a:t>Selected repository milestones</a:t>
            </a:r>
          </a:p>
        </p:txBody>
      </p:sp>
      <p:sp>
        <p:nvSpPr>
          <p:cNvPr id="11" name="Oval 10"/>
          <p:cNvSpPr/>
          <p:nvPr/>
        </p:nvSpPr>
        <p:spPr>
          <a:xfrm>
            <a:off x="6473952" y="2770632"/>
            <a:ext cx="146304" cy="146304"/>
          </a:xfrm>
          <a:prstGeom prst="ellipse">
            <a:avLst/>
          </a:prstGeom>
          <a:solidFill>
            <a:srgbClr val="C8A24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6547104" y="2926080"/>
            <a:ext cx="0" cy="640080"/>
          </a:xfrm>
          <a:prstGeom prst="line">
            <a:avLst/>
          </a:prstGeom>
          <a:ln w="12700">
            <a:solidFill>
              <a:srgbClr val="D5DDE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766560" y="2697480"/>
            <a:ext cx="731520" cy="274320"/>
          </a:xfrm>
          <a:prstGeom prst="rect">
            <a:avLst/>
          </a:prstGeom>
          <a:noFill/>
        </p:spPr>
        <p:txBody>
          <a:bodyPr wrap="square" lIns="0" rIns="0" tIns="0" bIns="0" anchor="ctr">
            <a:spAutoFit/>
          </a:bodyPr>
          <a:lstStyle/>
          <a:p>
            <a:pPr algn="l"/>
            <a:r>
              <a:rPr sz="1300" b="1" i="0">
                <a:solidFill>
                  <a:srgbClr val="8A6A1F"/>
                </a:solidFill>
                <a:latin typeface="Calibri"/>
              </a:rPr>
              <a:t>Oct 12</a:t>
            </a:r>
          </a:p>
        </p:txBody>
      </p:sp>
      <p:sp>
        <p:nvSpPr>
          <p:cNvPr id="14" name="TextBox 13"/>
          <p:cNvSpPr txBox="1"/>
          <p:nvPr/>
        </p:nvSpPr>
        <p:spPr>
          <a:xfrm>
            <a:off x="7479792" y="2697480"/>
            <a:ext cx="3730752" cy="274320"/>
          </a:xfrm>
          <a:prstGeom prst="rect">
            <a:avLst/>
          </a:prstGeom>
          <a:noFill/>
        </p:spPr>
        <p:txBody>
          <a:bodyPr wrap="square" lIns="0" rIns="0" tIns="0" bIns="0" anchor="ctr">
            <a:spAutoFit/>
          </a:bodyPr>
          <a:lstStyle/>
          <a:p>
            <a:pPr algn="l"/>
            <a:r>
              <a:rPr sz="1200" b="1" i="0">
                <a:solidFill>
                  <a:srgbClr val="1F4E9C"/>
                </a:solidFill>
                <a:latin typeface="Calibri"/>
              </a:rPr>
              <a:t>a5fb733</a:t>
            </a:r>
          </a:p>
        </p:txBody>
      </p:sp>
      <p:sp>
        <p:nvSpPr>
          <p:cNvPr id="15" name="TextBox 14"/>
          <p:cNvSpPr txBox="1"/>
          <p:nvPr/>
        </p:nvSpPr>
        <p:spPr>
          <a:xfrm>
            <a:off x="6766560" y="2990088"/>
            <a:ext cx="4507992" cy="347472"/>
          </a:xfrm>
          <a:prstGeom prst="rect">
            <a:avLst/>
          </a:prstGeom>
          <a:noFill/>
        </p:spPr>
        <p:txBody>
          <a:bodyPr wrap="square" lIns="0" rIns="0" tIns="0" bIns="0" anchor="t">
            <a:spAutoFit/>
          </a:bodyPr>
          <a:lstStyle/>
          <a:p>
            <a:pPr algn="l"/>
            <a:r>
              <a:rPr sz="1400" b="0" i="0">
                <a:solidFill>
                  <a:srgbClr val="17253D"/>
                </a:solidFill>
                <a:latin typeface="Calibri"/>
              </a:rPr>
              <a:t>Prompt and flow re-aligned to the brief</a:t>
            </a:r>
          </a:p>
        </p:txBody>
      </p:sp>
      <p:sp>
        <p:nvSpPr>
          <p:cNvPr id="16" name="Oval 15"/>
          <p:cNvSpPr/>
          <p:nvPr/>
        </p:nvSpPr>
        <p:spPr>
          <a:xfrm>
            <a:off x="6473952" y="3557016"/>
            <a:ext cx="146304" cy="146304"/>
          </a:xfrm>
          <a:prstGeom prst="ellipse">
            <a:avLst/>
          </a:prstGeom>
          <a:solidFill>
            <a:srgbClr val="1F4E9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 name="Connector 16"/>
          <p:cNvCxnSpPr/>
          <p:nvPr/>
        </p:nvCxnSpPr>
        <p:spPr>
          <a:xfrm>
            <a:off x="6547104" y="3712464"/>
            <a:ext cx="0" cy="640080"/>
          </a:xfrm>
          <a:prstGeom prst="line">
            <a:avLst/>
          </a:prstGeom>
          <a:ln w="12700">
            <a:solidFill>
              <a:srgbClr val="D5DDE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766560" y="3483864"/>
            <a:ext cx="731520" cy="274320"/>
          </a:xfrm>
          <a:prstGeom prst="rect">
            <a:avLst/>
          </a:prstGeom>
          <a:noFill/>
        </p:spPr>
        <p:txBody>
          <a:bodyPr wrap="square" lIns="0" rIns="0" tIns="0" bIns="0" anchor="ctr">
            <a:spAutoFit/>
          </a:bodyPr>
          <a:lstStyle/>
          <a:p>
            <a:pPr algn="l"/>
            <a:r>
              <a:rPr sz="1300" b="1" i="0">
                <a:solidFill>
                  <a:srgbClr val="8A6A1F"/>
                </a:solidFill>
                <a:latin typeface="Calibri"/>
              </a:rPr>
              <a:t>Oct 13</a:t>
            </a:r>
          </a:p>
        </p:txBody>
      </p:sp>
      <p:sp>
        <p:nvSpPr>
          <p:cNvPr id="19" name="TextBox 18"/>
          <p:cNvSpPr txBox="1"/>
          <p:nvPr/>
        </p:nvSpPr>
        <p:spPr>
          <a:xfrm>
            <a:off x="7479792" y="3483864"/>
            <a:ext cx="3730752" cy="274320"/>
          </a:xfrm>
          <a:prstGeom prst="rect">
            <a:avLst/>
          </a:prstGeom>
          <a:noFill/>
        </p:spPr>
        <p:txBody>
          <a:bodyPr wrap="square" lIns="0" rIns="0" tIns="0" bIns="0" anchor="ctr">
            <a:spAutoFit/>
          </a:bodyPr>
          <a:lstStyle/>
          <a:p>
            <a:pPr algn="l"/>
            <a:r>
              <a:rPr sz="1200" b="1" i="0">
                <a:solidFill>
                  <a:srgbClr val="1F4E9C"/>
                </a:solidFill>
                <a:latin typeface="Calibri"/>
              </a:rPr>
              <a:t>a88b252</a:t>
            </a:r>
          </a:p>
        </p:txBody>
      </p:sp>
      <p:sp>
        <p:nvSpPr>
          <p:cNvPr id="20" name="TextBox 19"/>
          <p:cNvSpPr txBox="1"/>
          <p:nvPr/>
        </p:nvSpPr>
        <p:spPr>
          <a:xfrm>
            <a:off x="6766560" y="3776472"/>
            <a:ext cx="4507992" cy="347472"/>
          </a:xfrm>
          <a:prstGeom prst="rect">
            <a:avLst/>
          </a:prstGeom>
          <a:noFill/>
        </p:spPr>
        <p:txBody>
          <a:bodyPr wrap="square" lIns="0" rIns="0" tIns="0" bIns="0" anchor="t">
            <a:spAutoFit/>
          </a:bodyPr>
          <a:lstStyle/>
          <a:p>
            <a:pPr algn="l"/>
            <a:r>
              <a:rPr sz="1400" b="0" i="0">
                <a:solidFill>
                  <a:srgbClr val="17253D"/>
                </a:solidFill>
                <a:latin typeface="Calibri"/>
              </a:rPr>
              <a:t>Presentation aligned to implemented workflow</a:t>
            </a:r>
          </a:p>
        </p:txBody>
      </p:sp>
      <p:sp>
        <p:nvSpPr>
          <p:cNvPr id="21" name="Oval 20"/>
          <p:cNvSpPr/>
          <p:nvPr/>
        </p:nvSpPr>
        <p:spPr>
          <a:xfrm>
            <a:off x="6473952" y="4343400"/>
            <a:ext cx="146304" cy="146304"/>
          </a:xfrm>
          <a:prstGeom prst="ellipse">
            <a:avLst/>
          </a:prstGeom>
          <a:solidFill>
            <a:srgbClr val="C8A24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2" name="Connector 21"/>
          <p:cNvCxnSpPr/>
          <p:nvPr/>
        </p:nvCxnSpPr>
        <p:spPr>
          <a:xfrm>
            <a:off x="6547104" y="4498848"/>
            <a:ext cx="0" cy="640080"/>
          </a:xfrm>
          <a:prstGeom prst="line">
            <a:avLst/>
          </a:prstGeom>
          <a:ln w="12700">
            <a:solidFill>
              <a:srgbClr val="D5DDEA"/>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766560" y="4270248"/>
            <a:ext cx="731520" cy="274320"/>
          </a:xfrm>
          <a:prstGeom prst="rect">
            <a:avLst/>
          </a:prstGeom>
          <a:noFill/>
        </p:spPr>
        <p:txBody>
          <a:bodyPr wrap="square" lIns="0" rIns="0" tIns="0" bIns="0" anchor="ctr">
            <a:spAutoFit/>
          </a:bodyPr>
          <a:lstStyle/>
          <a:p>
            <a:pPr algn="l"/>
            <a:r>
              <a:rPr sz="1300" b="1" i="0">
                <a:solidFill>
                  <a:srgbClr val="8A6A1F"/>
                </a:solidFill>
                <a:latin typeface="Calibri"/>
              </a:rPr>
              <a:t>Oct 13</a:t>
            </a:r>
          </a:p>
        </p:txBody>
      </p:sp>
      <p:sp>
        <p:nvSpPr>
          <p:cNvPr id="24" name="TextBox 23"/>
          <p:cNvSpPr txBox="1"/>
          <p:nvPr/>
        </p:nvSpPr>
        <p:spPr>
          <a:xfrm>
            <a:off x="7479792" y="4270248"/>
            <a:ext cx="3730752" cy="274320"/>
          </a:xfrm>
          <a:prstGeom prst="rect">
            <a:avLst/>
          </a:prstGeom>
          <a:noFill/>
        </p:spPr>
        <p:txBody>
          <a:bodyPr wrap="square" lIns="0" rIns="0" tIns="0" bIns="0" anchor="ctr">
            <a:spAutoFit/>
          </a:bodyPr>
          <a:lstStyle/>
          <a:p>
            <a:pPr algn="l"/>
            <a:r>
              <a:rPr sz="1200" b="1" i="0">
                <a:solidFill>
                  <a:srgbClr val="1F4E9C"/>
                </a:solidFill>
                <a:latin typeface="Calibri"/>
              </a:rPr>
              <a:t>99834b9</a:t>
            </a:r>
          </a:p>
        </p:txBody>
      </p:sp>
      <p:sp>
        <p:nvSpPr>
          <p:cNvPr id="25" name="TextBox 24"/>
          <p:cNvSpPr txBox="1"/>
          <p:nvPr/>
        </p:nvSpPr>
        <p:spPr>
          <a:xfrm>
            <a:off x="6766560" y="4562856"/>
            <a:ext cx="4507992" cy="347472"/>
          </a:xfrm>
          <a:prstGeom prst="rect">
            <a:avLst/>
          </a:prstGeom>
          <a:noFill/>
        </p:spPr>
        <p:txBody>
          <a:bodyPr wrap="square" lIns="0" rIns="0" tIns="0" bIns="0" anchor="t">
            <a:spAutoFit/>
          </a:bodyPr>
          <a:lstStyle/>
          <a:p>
            <a:pPr algn="l"/>
            <a:r>
              <a:rPr sz="1400" b="0" i="0">
                <a:solidFill>
                  <a:srgbClr val="17253D"/>
                </a:solidFill>
                <a:latin typeface="Calibri"/>
              </a:rPr>
              <a:t>Prompt and evaluation evidence refreshed</a:t>
            </a:r>
          </a:p>
        </p:txBody>
      </p:sp>
      <p:sp>
        <p:nvSpPr>
          <p:cNvPr id="26" name="Oval 25"/>
          <p:cNvSpPr/>
          <p:nvPr/>
        </p:nvSpPr>
        <p:spPr>
          <a:xfrm>
            <a:off x="6473952" y="5129784"/>
            <a:ext cx="146304" cy="146304"/>
          </a:xfrm>
          <a:prstGeom prst="ellipse">
            <a:avLst/>
          </a:prstGeom>
          <a:solidFill>
            <a:srgbClr val="1F4E9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766560" y="5056632"/>
            <a:ext cx="731520" cy="274320"/>
          </a:xfrm>
          <a:prstGeom prst="rect">
            <a:avLst/>
          </a:prstGeom>
          <a:noFill/>
        </p:spPr>
        <p:txBody>
          <a:bodyPr wrap="square" lIns="0" rIns="0" tIns="0" bIns="0" anchor="ctr">
            <a:spAutoFit/>
          </a:bodyPr>
          <a:lstStyle/>
          <a:p>
            <a:pPr algn="l"/>
            <a:r>
              <a:rPr sz="1300" b="1" i="0">
                <a:solidFill>
                  <a:srgbClr val="8A6A1F"/>
                </a:solidFill>
                <a:latin typeface="Calibri"/>
              </a:rPr>
              <a:t>Oct 21</a:t>
            </a:r>
          </a:p>
        </p:txBody>
      </p:sp>
      <p:sp>
        <p:nvSpPr>
          <p:cNvPr id="28" name="TextBox 27"/>
          <p:cNvSpPr txBox="1"/>
          <p:nvPr/>
        </p:nvSpPr>
        <p:spPr>
          <a:xfrm>
            <a:off x="7479792" y="5056632"/>
            <a:ext cx="3730752" cy="274320"/>
          </a:xfrm>
          <a:prstGeom prst="rect">
            <a:avLst/>
          </a:prstGeom>
          <a:noFill/>
        </p:spPr>
        <p:txBody>
          <a:bodyPr wrap="square" lIns="0" rIns="0" tIns="0" bIns="0" anchor="ctr">
            <a:spAutoFit/>
          </a:bodyPr>
          <a:lstStyle/>
          <a:p>
            <a:pPr algn="l"/>
            <a:r>
              <a:rPr sz="1200" b="1" i="0">
                <a:solidFill>
                  <a:srgbClr val="1F4E9C"/>
                </a:solidFill>
                <a:latin typeface="Calibri"/>
              </a:rPr>
              <a:t>8f0d781 / 3250a6f</a:t>
            </a:r>
          </a:p>
        </p:txBody>
      </p:sp>
      <p:sp>
        <p:nvSpPr>
          <p:cNvPr id="29" name="TextBox 28"/>
          <p:cNvSpPr txBox="1"/>
          <p:nvPr/>
        </p:nvSpPr>
        <p:spPr>
          <a:xfrm>
            <a:off x="6766560" y="5349240"/>
            <a:ext cx="4507992" cy="347472"/>
          </a:xfrm>
          <a:prstGeom prst="rect">
            <a:avLst/>
          </a:prstGeom>
          <a:noFill/>
        </p:spPr>
        <p:txBody>
          <a:bodyPr wrap="square" lIns="0" rIns="0" tIns="0" bIns="0" anchor="t">
            <a:spAutoFit/>
          </a:bodyPr>
          <a:lstStyle/>
          <a:p>
            <a:pPr algn="l"/>
            <a:r>
              <a:rPr sz="1400" b="0" i="0">
                <a:solidFill>
                  <a:srgbClr val="17253D"/>
                </a:solidFill>
                <a:latin typeface="Calibri"/>
              </a:rPr>
              <a:t>UI and presentation generator iterated</a:t>
            </a:r>
          </a:p>
        </p:txBody>
      </p:sp>
      <p:sp>
        <p:nvSpPr>
          <p:cNvPr id="30" name="TextBox 29"/>
          <p:cNvSpPr txBox="1"/>
          <p:nvPr/>
        </p:nvSpPr>
        <p:spPr>
          <a:xfrm>
            <a:off x="640080" y="5852160"/>
            <a:ext cx="10908792" cy="292608"/>
          </a:xfrm>
          <a:prstGeom prst="rect">
            <a:avLst/>
          </a:prstGeom>
          <a:noFill/>
        </p:spPr>
        <p:txBody>
          <a:bodyPr wrap="square" lIns="0" rIns="0" tIns="0" bIns="0" anchor="ctr">
            <a:spAutoFit/>
          </a:bodyPr>
          <a:lstStyle/>
          <a:p>
            <a:pPr algn="l"/>
            <a:r>
              <a:rPr sz="1200" b="0" i="1">
                <a:solidFill>
                  <a:srgbClr val="55657D"/>
                </a:solidFill>
                <a:latin typeface="Calibri"/>
              </a:rPr>
              <a:t>History is supporting evidence; the commits are selected milestones, not a complete activity log.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08792" cy="274320"/>
          </a:xfrm>
          <a:prstGeom prst="rect">
            <a:avLst/>
          </a:prstGeom>
          <a:noFill/>
        </p:spPr>
        <p:txBody>
          <a:bodyPr wrap="square" lIns="0" rIns="0" tIns="0" bIns="0" anchor="ctr">
            <a:spAutoFit/>
          </a:bodyPr>
          <a:lstStyle/>
          <a:p>
            <a:pPr algn="l"/>
            <a:r>
              <a:rPr sz="1200" b="1" i="0" spc="300">
                <a:solidFill>
                  <a:srgbClr val="8A6A1F"/>
                </a:solidFill>
                <a:latin typeface="Calibri"/>
              </a:rPr>
              <a:t>TOKEN CONSUMPTION AND EFFICIENCY</a:t>
            </a:r>
          </a:p>
        </p:txBody>
      </p:sp>
      <p:sp>
        <p:nvSpPr>
          <p:cNvPr id="3" name="TextBox 2"/>
          <p:cNvSpPr txBox="1"/>
          <p:nvPr/>
        </p:nvSpPr>
        <p:spPr>
          <a:xfrm>
            <a:off x="640080" y="777240"/>
            <a:ext cx="10908792" cy="731520"/>
          </a:xfrm>
          <a:prstGeom prst="rect">
            <a:avLst/>
          </a:prstGeom>
          <a:noFill/>
        </p:spPr>
        <p:txBody>
          <a:bodyPr wrap="square" lIns="0" rIns="0" tIns="0" bIns="0" anchor="t">
            <a:spAutoFit/>
          </a:bodyPr>
          <a:lstStyle/>
          <a:p>
            <a:pPr algn="l"/>
            <a:r>
              <a:rPr sz="3000" b="1" i="0">
                <a:solidFill>
                  <a:srgbClr val="0A1B34"/>
                </a:solidFill>
                <a:latin typeface="Arial"/>
              </a:rPr>
              <a:t>Budget and telemetry exist; measured cost comparison does not</a:t>
            </a:r>
          </a:p>
        </p:txBody>
      </p:sp>
      <p:sp>
        <p:nvSpPr>
          <p:cNvPr id="4" name="TextBox 3"/>
          <p:cNvSpPr txBox="1"/>
          <p:nvPr/>
        </p:nvSpPr>
        <p:spPr>
          <a:xfrm>
            <a:off x="640080" y="6355080"/>
            <a:ext cx="7315200" cy="274320"/>
          </a:xfrm>
          <a:prstGeom prst="rect">
            <a:avLst/>
          </a:prstGeom>
          <a:noFill/>
        </p:spPr>
        <p:txBody>
          <a:bodyPr wrap="square" lIns="0" rIns="0" tIns="0" bIns="0" anchor="ctr">
            <a:spAutoFit/>
          </a:bodyPr>
          <a:lstStyle/>
          <a:p>
            <a:pPr algn="l"/>
            <a:r>
              <a:rPr sz="1000" b="0" i="0">
                <a:solidFill>
                  <a:srgbClr val="55657D"/>
                </a:solidFill>
                <a:latin typeface="Calibri"/>
              </a:rPr>
              <a:t>Risk Assessment Workbench  |  Genius Hacks 2026</a:t>
            </a:r>
          </a:p>
        </p:txBody>
      </p:sp>
      <p:sp>
        <p:nvSpPr>
          <p:cNvPr id="5" name="TextBox 4"/>
          <p:cNvSpPr txBox="1"/>
          <p:nvPr/>
        </p:nvSpPr>
        <p:spPr>
          <a:xfrm>
            <a:off x="10881360" y="6355080"/>
            <a:ext cx="667512" cy="274320"/>
          </a:xfrm>
          <a:prstGeom prst="rect">
            <a:avLst/>
          </a:prstGeom>
          <a:noFill/>
        </p:spPr>
        <p:txBody>
          <a:bodyPr wrap="square" lIns="0" rIns="0" tIns="0" bIns="0" anchor="ctr">
            <a:spAutoFit/>
          </a:bodyPr>
          <a:lstStyle/>
          <a:p>
            <a:pPr algn="r"/>
            <a:r>
              <a:rPr sz="1000" b="0" i="0">
                <a:solidFill>
                  <a:srgbClr val="55657D"/>
                </a:solidFill>
                <a:latin typeface="Calibri"/>
              </a:rPr>
              <a:t>12</a:t>
            </a:r>
          </a:p>
        </p:txBody>
      </p:sp>
      <p:sp>
        <p:nvSpPr>
          <p:cNvPr id="6" name="Rounded Rectangle 5"/>
          <p:cNvSpPr/>
          <p:nvPr/>
        </p:nvSpPr>
        <p:spPr>
          <a:xfrm>
            <a:off x="640080" y="1783080"/>
            <a:ext cx="3392423" cy="2011680"/>
          </a:xfrm>
          <a:prstGeom prst="roundRect">
            <a:avLst>
              <a:gd name="adj" fmla="val 3636"/>
            </a:avLst>
          </a:prstGeom>
          <a:solidFill>
            <a:srgbClr val="0A1B34"/>
          </a:solidFill>
          <a:ln>
            <a:noFill/>
          </a:ln>
          <a:effectLst/>
          <a:effectLst>
            <a:outerShdw blurRad="177800" dist="38100" dir="5400000" algn="t" rotWithShape="0">
              <a:srgbClr val="0A1B34">
                <a:alpha val="1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914400" y="2039112"/>
            <a:ext cx="2843783" cy="384048"/>
          </a:xfrm>
          <a:prstGeom prst="rect">
            <a:avLst/>
          </a:prstGeom>
          <a:noFill/>
        </p:spPr>
        <p:txBody>
          <a:bodyPr wrap="square" lIns="0" rIns="0" tIns="0" bIns="0" anchor="t">
            <a:spAutoFit/>
          </a:bodyPr>
          <a:lstStyle/>
          <a:p>
            <a:pPr algn="l"/>
            <a:r>
              <a:rPr sz="1800" b="1" i="0">
                <a:solidFill>
                  <a:srgbClr val="FFFFFF"/>
                </a:solidFill>
                <a:latin typeface="Arial"/>
              </a:rPr>
              <a:t>Current budget</a:t>
            </a:r>
          </a:p>
        </p:txBody>
      </p:sp>
      <p:sp>
        <p:nvSpPr>
          <p:cNvPr id="8" name="TextBox 7"/>
          <p:cNvSpPr txBox="1"/>
          <p:nvPr/>
        </p:nvSpPr>
        <p:spPr>
          <a:xfrm>
            <a:off x="914400" y="2624328"/>
            <a:ext cx="2843783" cy="960120"/>
          </a:xfrm>
          <a:prstGeom prst="rect">
            <a:avLst/>
          </a:prstGeom>
          <a:noFill/>
        </p:spPr>
        <p:txBody>
          <a:bodyPr wrap="square" lIns="0" rIns="0" tIns="0" bIns="0" anchor="t">
            <a:spAutoFit/>
          </a:bodyPr>
          <a:lstStyle/>
          <a:p>
            <a:pPr algn="l"/>
            <a:r>
              <a:rPr sz="1500" b="0" i="0">
                <a:solidFill>
                  <a:srgbClr val="FFFFFF"/>
                </a:solidFill>
                <a:latin typeface="Calibri"/>
              </a:rPr>
              <a:t>gpt-4o-mini
12,000-character input cap</a:t>
            </a:r>
          </a:p>
        </p:txBody>
      </p:sp>
      <p:sp>
        <p:nvSpPr>
          <p:cNvPr id="9" name="Rounded Rectangle 8"/>
          <p:cNvSpPr/>
          <p:nvPr/>
        </p:nvSpPr>
        <p:spPr>
          <a:xfrm>
            <a:off x="4398264" y="1783080"/>
            <a:ext cx="3392423" cy="2011680"/>
          </a:xfrm>
          <a:prstGeom prst="roundRect">
            <a:avLst>
              <a:gd name="adj" fmla="val 3636"/>
            </a:avLst>
          </a:prstGeom>
          <a:solidFill>
            <a:srgbClr val="1F4E9C"/>
          </a:solidFill>
          <a:ln>
            <a:noFill/>
          </a:ln>
          <a:effectLst/>
          <a:effectLst>
            <a:outerShdw blurRad="177800" dist="38100" dir="5400000" algn="t" rotWithShape="0">
              <a:srgbClr val="0A1B34">
                <a:alpha val="1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4672583" y="2039112"/>
            <a:ext cx="2843783" cy="384048"/>
          </a:xfrm>
          <a:prstGeom prst="rect">
            <a:avLst/>
          </a:prstGeom>
          <a:noFill/>
        </p:spPr>
        <p:txBody>
          <a:bodyPr wrap="square" lIns="0" rIns="0" tIns="0" bIns="0" anchor="t">
            <a:spAutoFit/>
          </a:bodyPr>
          <a:lstStyle/>
          <a:p>
            <a:pPr algn="l"/>
            <a:r>
              <a:rPr sz="1800" b="1" i="0">
                <a:solidFill>
                  <a:srgbClr val="FFFFFF"/>
                </a:solidFill>
                <a:latin typeface="Arial"/>
              </a:rPr>
              <a:t>What telemetry captures</a:t>
            </a:r>
          </a:p>
        </p:txBody>
      </p:sp>
      <p:sp>
        <p:nvSpPr>
          <p:cNvPr id="11" name="TextBox 10"/>
          <p:cNvSpPr txBox="1"/>
          <p:nvPr/>
        </p:nvSpPr>
        <p:spPr>
          <a:xfrm>
            <a:off x="4672583" y="2624328"/>
            <a:ext cx="2843783" cy="960120"/>
          </a:xfrm>
          <a:prstGeom prst="rect">
            <a:avLst/>
          </a:prstGeom>
          <a:noFill/>
        </p:spPr>
        <p:txBody>
          <a:bodyPr wrap="square" lIns="0" rIns="0" tIns="0" bIns="0" anchor="t">
            <a:spAutoFit/>
          </a:bodyPr>
          <a:lstStyle/>
          <a:p>
            <a:pPr algn="l"/>
            <a:r>
              <a:rPr sz="1500" b="0" i="0">
                <a:solidFill>
                  <a:srgbClr val="FFFFFF"/>
                </a:solidFill>
                <a:latin typeface="Calibri"/>
              </a:rPr>
              <a:t>Input/output token fields when returned
Model, prompt version, latency, outcome</a:t>
            </a:r>
          </a:p>
        </p:txBody>
      </p:sp>
      <p:sp>
        <p:nvSpPr>
          <p:cNvPr id="12" name="Rounded Rectangle 11"/>
          <p:cNvSpPr/>
          <p:nvPr/>
        </p:nvSpPr>
        <p:spPr>
          <a:xfrm>
            <a:off x="8156447" y="1783080"/>
            <a:ext cx="3392423" cy="2011680"/>
          </a:xfrm>
          <a:prstGeom prst="roundRect">
            <a:avLst>
              <a:gd name="adj" fmla="val 3636"/>
            </a:avLst>
          </a:prstGeom>
          <a:solidFill>
            <a:srgbClr val="EEF3FA"/>
          </a:solidFill>
          <a:ln w="9525">
            <a:solidFill>
              <a:srgbClr val="D5DDEA"/>
            </a:solidFill>
          </a:ln>
          <a:effectLst/>
          <a:effectLst>
            <a:outerShdw blurRad="177800" dist="38100" dir="5400000" algn="t" rotWithShape="0">
              <a:srgbClr val="0A1B34">
                <a:alpha val="1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8430767" y="2039112"/>
            <a:ext cx="2843783" cy="384048"/>
          </a:xfrm>
          <a:prstGeom prst="rect">
            <a:avLst/>
          </a:prstGeom>
          <a:noFill/>
        </p:spPr>
        <p:txBody>
          <a:bodyPr wrap="square" lIns="0" rIns="0" tIns="0" bIns="0" anchor="t">
            <a:spAutoFit/>
          </a:bodyPr>
          <a:lstStyle/>
          <a:p>
            <a:pPr algn="l"/>
            <a:r>
              <a:rPr sz="1800" b="1" i="0">
                <a:solidFill>
                  <a:srgbClr val="17253D"/>
                </a:solidFill>
                <a:latin typeface="Arial"/>
              </a:rPr>
              <a:t>What is not measured</a:t>
            </a:r>
          </a:p>
        </p:txBody>
      </p:sp>
      <p:sp>
        <p:nvSpPr>
          <p:cNvPr id="14" name="TextBox 13"/>
          <p:cNvSpPr txBox="1"/>
          <p:nvPr/>
        </p:nvSpPr>
        <p:spPr>
          <a:xfrm>
            <a:off x="8430767" y="2624328"/>
            <a:ext cx="2843783" cy="960120"/>
          </a:xfrm>
          <a:prstGeom prst="rect">
            <a:avLst/>
          </a:prstGeom>
          <a:noFill/>
        </p:spPr>
        <p:txBody>
          <a:bodyPr wrap="square" lIns="0" rIns="0" tIns="0" bIns="0" anchor="t">
            <a:spAutoFit/>
          </a:bodyPr>
          <a:lstStyle/>
          <a:p>
            <a:pPr algn="l"/>
            <a:r>
              <a:rPr sz="1500" b="0" i="0">
                <a:solidFill>
                  <a:srgbClr val="17253D"/>
                </a:solidFill>
                <a:latin typeface="Calibri"/>
              </a:rPr>
              <a:t>No token totals in the latest PDF report
No cost baseline or savings claim</a:t>
            </a:r>
          </a:p>
        </p:txBody>
      </p:sp>
      <p:sp>
        <p:nvSpPr>
          <p:cNvPr id="15" name="Rounded Rectangle 14"/>
          <p:cNvSpPr/>
          <p:nvPr/>
        </p:nvSpPr>
        <p:spPr>
          <a:xfrm>
            <a:off x="640080" y="4069080"/>
            <a:ext cx="10908792" cy="1600200"/>
          </a:xfrm>
          <a:prstGeom prst="roundRect">
            <a:avLst>
              <a:gd name="adj" fmla="val 4571"/>
            </a:avLst>
          </a:prstGeom>
          <a:solidFill>
            <a:srgbClr val="FFFFFF"/>
          </a:solidFill>
          <a:ln w="9525">
            <a:solidFill>
              <a:srgbClr val="C8A24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960119" y="4315968"/>
            <a:ext cx="2148840" cy="365760"/>
          </a:xfrm>
          <a:prstGeom prst="rect">
            <a:avLst/>
          </a:prstGeom>
          <a:noFill/>
        </p:spPr>
        <p:txBody>
          <a:bodyPr wrap="square" lIns="0" rIns="0" tIns="0" bIns="0" anchor="t">
            <a:spAutoFit/>
          </a:bodyPr>
          <a:lstStyle/>
          <a:p>
            <a:pPr algn="l"/>
            <a:r>
              <a:rPr sz="1900" b="1" i="0">
                <a:solidFill>
                  <a:srgbClr val="8A6A1F"/>
                </a:solidFill>
                <a:latin typeface="Arial"/>
              </a:rPr>
              <a:t>Efficiency experiment</a:t>
            </a:r>
          </a:p>
        </p:txBody>
      </p:sp>
      <p:sp>
        <p:nvSpPr>
          <p:cNvPr id="17" name="TextBox 16"/>
          <p:cNvSpPr txBox="1"/>
          <p:nvPr/>
        </p:nvSpPr>
        <p:spPr>
          <a:xfrm>
            <a:off x="3154680" y="4251960"/>
            <a:ext cx="8074152" cy="914400"/>
          </a:xfrm>
          <a:prstGeom prst="rect">
            <a:avLst/>
          </a:prstGeom>
          <a:noFill/>
        </p:spPr>
        <p:txBody>
          <a:bodyPr wrap="square" lIns="0" rIns="0" tIns="0" bIns="0" anchor="ctr">
            <a:spAutoFit/>
          </a:bodyPr>
          <a:lstStyle/>
          <a:p>
            <a:pPr algn="l"/>
            <a:r>
              <a:rPr sz="1600" b="0" i="0">
                <a:solidFill>
                  <a:srgbClr val="17253D"/>
                </a:solidFill>
                <a:latin typeface="Calibri"/>
              </a:rPr>
              <a:t>Compare shorter prompt/context variants against field-level accuracy and provider-reported input/output tokens. Include retry attempts in cost accounting before claiming an improvement.</a:t>
            </a:r>
          </a:p>
        </p:txBody>
      </p:sp>
      <p:sp>
        <p:nvSpPr>
          <p:cNvPr id="18" name="TextBox 17"/>
          <p:cNvSpPr txBox="1"/>
          <p:nvPr/>
        </p:nvSpPr>
        <p:spPr>
          <a:xfrm>
            <a:off x="640080" y="5852160"/>
            <a:ext cx="10908792" cy="292608"/>
          </a:xfrm>
          <a:prstGeom prst="rect">
            <a:avLst/>
          </a:prstGeom>
          <a:noFill/>
        </p:spPr>
        <p:txBody>
          <a:bodyPr wrap="square" lIns="0" rIns="0" tIns="0" bIns="0" anchor="ctr">
            <a:spAutoFit/>
          </a:bodyPr>
          <a:lstStyle/>
          <a:p>
            <a:pPr algn="l"/>
            <a:r>
              <a:rPr sz="1200" b="0" i="1">
                <a:solidFill>
                  <a:srgbClr val="55657D"/>
                </a:solidFill>
                <a:latin typeface="Calibri"/>
              </a:rPr>
              <a:t>Exact spend requires provider-side usage records; the current evaluation stores latency and extraction outcomes, not token totals.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B34"/>
        </a:solidFill>
        <a:effectLst/>
      </p:bgPr>
    </p:bg>
    <p:spTree>
      <p:nvGrpSpPr>
        <p:cNvPr id="1" name=""/>
        <p:cNvGrpSpPr/>
        <p:nvPr/>
      </p:nvGrpSpPr>
      <p:grpSpPr/>
      <p:sp>
        <p:nvSpPr>
          <p:cNvPr id="2" name="TextBox 1"/>
          <p:cNvSpPr txBox="1"/>
          <p:nvPr/>
        </p:nvSpPr>
        <p:spPr>
          <a:xfrm>
            <a:off x="640080" y="411480"/>
            <a:ext cx="10908792" cy="274320"/>
          </a:xfrm>
          <a:prstGeom prst="rect">
            <a:avLst/>
          </a:prstGeom>
          <a:noFill/>
        </p:spPr>
        <p:txBody>
          <a:bodyPr wrap="square" lIns="0" rIns="0" tIns="0" bIns="0" anchor="ctr">
            <a:spAutoFit/>
          </a:bodyPr>
          <a:lstStyle/>
          <a:p>
            <a:pPr algn="l"/>
            <a:r>
              <a:rPr sz="1200" b="1" i="0" spc="300">
                <a:solidFill>
                  <a:srgbClr val="C8A24A"/>
                </a:solidFill>
                <a:latin typeface="Calibri"/>
              </a:rPr>
              <a:t>DEPLOYMENT AND NEXT STEPS</a:t>
            </a:r>
          </a:p>
        </p:txBody>
      </p:sp>
      <p:sp>
        <p:nvSpPr>
          <p:cNvPr id="3" name="TextBox 2"/>
          <p:cNvSpPr txBox="1"/>
          <p:nvPr/>
        </p:nvSpPr>
        <p:spPr>
          <a:xfrm>
            <a:off x="640080" y="777240"/>
            <a:ext cx="10908792" cy="731520"/>
          </a:xfrm>
          <a:prstGeom prst="rect">
            <a:avLst/>
          </a:prstGeom>
          <a:noFill/>
        </p:spPr>
        <p:txBody>
          <a:bodyPr wrap="square" lIns="0" rIns="0" tIns="0" bIns="0" anchor="t">
            <a:spAutoFit/>
          </a:bodyPr>
          <a:lstStyle/>
          <a:p>
            <a:pPr algn="l"/>
            <a:r>
              <a:rPr sz="3000" b="1" i="0">
                <a:solidFill>
                  <a:srgbClr val="FFFFFF"/>
                </a:solidFill>
                <a:latin typeface="Arial"/>
              </a:rPr>
              <a:t>Prototype-ready, with an honest path to production</a:t>
            </a:r>
          </a:p>
        </p:txBody>
      </p:sp>
      <p:sp>
        <p:nvSpPr>
          <p:cNvPr id="4" name="TextBox 3"/>
          <p:cNvSpPr txBox="1"/>
          <p:nvPr/>
        </p:nvSpPr>
        <p:spPr>
          <a:xfrm>
            <a:off x="640080" y="6355080"/>
            <a:ext cx="7315200" cy="274320"/>
          </a:xfrm>
          <a:prstGeom prst="rect">
            <a:avLst/>
          </a:prstGeom>
          <a:noFill/>
        </p:spPr>
        <p:txBody>
          <a:bodyPr wrap="square" lIns="0" rIns="0" tIns="0" bIns="0" anchor="ctr">
            <a:spAutoFit/>
          </a:bodyPr>
          <a:lstStyle/>
          <a:p>
            <a:pPr algn="l"/>
            <a:r>
              <a:rPr sz="1000" b="0" i="0">
                <a:solidFill>
                  <a:srgbClr val="9CC3F2"/>
                </a:solidFill>
                <a:latin typeface="Calibri"/>
              </a:rPr>
              <a:t>Risk Assessment Workbench  |  Genius Hacks 2026</a:t>
            </a:r>
          </a:p>
        </p:txBody>
      </p:sp>
      <p:sp>
        <p:nvSpPr>
          <p:cNvPr id="5" name="TextBox 4"/>
          <p:cNvSpPr txBox="1"/>
          <p:nvPr/>
        </p:nvSpPr>
        <p:spPr>
          <a:xfrm>
            <a:off x="10881360" y="6355080"/>
            <a:ext cx="667512" cy="274320"/>
          </a:xfrm>
          <a:prstGeom prst="rect">
            <a:avLst/>
          </a:prstGeom>
          <a:noFill/>
        </p:spPr>
        <p:txBody>
          <a:bodyPr wrap="square" lIns="0" rIns="0" tIns="0" bIns="0" anchor="ctr">
            <a:spAutoFit/>
          </a:bodyPr>
          <a:lstStyle/>
          <a:p>
            <a:pPr algn="r"/>
            <a:r>
              <a:rPr sz="1000" b="0" i="0">
                <a:solidFill>
                  <a:srgbClr val="9CC3F2"/>
                </a:solidFill>
                <a:latin typeface="Calibri"/>
              </a:rPr>
              <a:t>13</a:t>
            </a:r>
          </a:p>
        </p:txBody>
      </p:sp>
      <p:sp>
        <p:nvSpPr>
          <p:cNvPr id="6" name="Rounded Rectangle 5"/>
          <p:cNvSpPr/>
          <p:nvPr/>
        </p:nvSpPr>
        <p:spPr>
          <a:xfrm>
            <a:off x="640080" y="1783080"/>
            <a:ext cx="3392423" cy="3611880"/>
          </a:xfrm>
          <a:prstGeom prst="roundRect">
            <a:avLst>
              <a:gd name="adj" fmla="val 2156"/>
            </a:avLst>
          </a:prstGeom>
          <a:solidFill>
            <a:srgbClr val="132E55"/>
          </a:solidFill>
          <a:ln w="9525">
            <a:solidFill>
              <a:srgbClr val="9CC3F2">
                <a:alpha val="300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960119" y="2039112"/>
            <a:ext cx="2752344" cy="457200"/>
          </a:xfrm>
          <a:prstGeom prst="rect">
            <a:avLst/>
          </a:prstGeom>
          <a:noFill/>
        </p:spPr>
        <p:txBody>
          <a:bodyPr wrap="square" lIns="0" rIns="0" tIns="0" bIns="0" anchor="t">
            <a:spAutoFit/>
          </a:bodyPr>
          <a:lstStyle/>
          <a:p>
            <a:pPr algn="l"/>
            <a:r>
              <a:rPr sz="2000" b="1" i="0">
                <a:solidFill>
                  <a:srgbClr val="FFFFFF"/>
                </a:solidFill>
                <a:latin typeface="Arial"/>
              </a:rPr>
              <a:t>Current demo</a:t>
            </a:r>
          </a:p>
        </p:txBody>
      </p:sp>
      <p:sp>
        <p:nvSpPr>
          <p:cNvPr id="8" name="TextBox 7"/>
          <p:cNvSpPr txBox="1"/>
          <p:nvPr/>
        </p:nvSpPr>
        <p:spPr>
          <a:xfrm>
            <a:off x="960119" y="2651760"/>
            <a:ext cx="2752344" cy="2560320"/>
          </a:xfrm>
          <a:prstGeom prst="rect">
            <a:avLst/>
          </a:prstGeom>
          <a:noFill/>
        </p:spPr>
        <p:txBody>
          <a:bodyPr wrap="square" lIns="0" rIns="0" tIns="0" bIns="0" anchor="t">
            <a:spAutoFit/>
          </a:bodyPr>
          <a:lstStyle/>
          <a:p>
            <a:pPr marL="201168" indent="-201168">
              <a:spcAft>
                <a:spcPts val="1100"/>
              </a:spcAft>
              <a:buChar char="•"/>
            </a:pPr>
            <a:r>
              <a:rPr sz="1600">
                <a:solidFill>
                  <a:srgbClr val="E6EEF9"/>
                </a:solidFill>
                <a:latin typeface="Calibri"/>
              </a:rPr>
              <a:t>Docker Compose</a:t>
            </a:r>
          </a:p>
          <a:p>
            <a:pPr marL="201168" indent="-201168">
              <a:spcAft>
                <a:spcPts val="1100"/>
              </a:spcAft>
              <a:buChar char="•"/>
            </a:pPr>
            <a:r>
              <a:rPr sz="1600">
                <a:solidFill>
                  <a:srgbClr val="E6EEF9"/>
                </a:solidFill>
                <a:latin typeface="Calibri"/>
              </a:rPr>
              <a:t>SQLite named volume</a:t>
            </a:r>
          </a:p>
          <a:p>
            <a:pPr marL="201168" indent="-201168">
              <a:spcAft>
                <a:spcPts val="1100"/>
              </a:spcAft>
              <a:buChar char="•"/>
            </a:pPr>
            <a:r>
              <a:rPr sz="1600">
                <a:solidFill>
                  <a:srgbClr val="E6EEF9"/>
                </a:solidFill>
                <a:latin typeface="Calibri"/>
              </a:rPr>
              <a:t>Synthetic data only</a:t>
            </a:r>
          </a:p>
          <a:p>
            <a:pPr marL="201168" indent="-201168">
              <a:spcAft>
                <a:spcPts val="1100"/>
              </a:spcAft>
              <a:buChar char="•"/>
            </a:pPr>
            <a:r>
              <a:rPr sz="1600">
                <a:solidFill>
                  <a:srgbClr val="E6EEF9"/>
                </a:solidFill>
                <a:latin typeface="Calibri"/>
              </a:rPr>
              <a:t>OpenAI key for extraction</a:t>
            </a:r>
          </a:p>
        </p:txBody>
      </p:sp>
      <p:sp>
        <p:nvSpPr>
          <p:cNvPr id="9" name="Rounded Rectangle 8"/>
          <p:cNvSpPr/>
          <p:nvPr/>
        </p:nvSpPr>
        <p:spPr>
          <a:xfrm>
            <a:off x="4398264" y="1783080"/>
            <a:ext cx="3392423" cy="3611880"/>
          </a:xfrm>
          <a:prstGeom prst="roundRect">
            <a:avLst>
              <a:gd name="adj" fmla="val 2156"/>
            </a:avLst>
          </a:prstGeom>
          <a:solidFill>
            <a:srgbClr val="132E55"/>
          </a:solidFill>
          <a:ln w="9525">
            <a:solidFill>
              <a:srgbClr val="9CC3F2">
                <a:alpha val="300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4718303" y="2039112"/>
            <a:ext cx="2752344" cy="457200"/>
          </a:xfrm>
          <a:prstGeom prst="rect">
            <a:avLst/>
          </a:prstGeom>
          <a:noFill/>
        </p:spPr>
        <p:txBody>
          <a:bodyPr wrap="square" lIns="0" rIns="0" tIns="0" bIns="0" anchor="t">
            <a:spAutoFit/>
          </a:bodyPr>
          <a:lstStyle/>
          <a:p>
            <a:pPr algn="l"/>
            <a:r>
              <a:rPr sz="2000" b="1" i="0">
                <a:solidFill>
                  <a:srgbClr val="FFFFFF"/>
                </a:solidFill>
                <a:latin typeface="Arial"/>
              </a:rPr>
              <a:t>Free-first target</a:t>
            </a:r>
          </a:p>
        </p:txBody>
      </p:sp>
      <p:sp>
        <p:nvSpPr>
          <p:cNvPr id="11" name="TextBox 10"/>
          <p:cNvSpPr txBox="1"/>
          <p:nvPr/>
        </p:nvSpPr>
        <p:spPr>
          <a:xfrm>
            <a:off x="4718303" y="2651760"/>
            <a:ext cx="2752344" cy="2560320"/>
          </a:xfrm>
          <a:prstGeom prst="rect">
            <a:avLst/>
          </a:prstGeom>
          <a:noFill/>
        </p:spPr>
        <p:txBody>
          <a:bodyPr wrap="square" lIns="0" rIns="0" tIns="0" bIns="0" anchor="t">
            <a:spAutoFit/>
          </a:bodyPr>
          <a:lstStyle/>
          <a:p>
            <a:pPr marL="201168" indent="-201168">
              <a:spcAft>
                <a:spcPts val="1100"/>
              </a:spcAft>
              <a:buChar char="•"/>
            </a:pPr>
            <a:r>
              <a:rPr sz="1600">
                <a:solidFill>
                  <a:srgbClr val="E6EEF9"/>
                </a:solidFill>
                <a:latin typeface="Calibri"/>
              </a:rPr>
              <a:t>Ollama adapter</a:t>
            </a:r>
          </a:p>
          <a:p>
            <a:pPr marL="201168" indent="-201168">
              <a:spcAft>
                <a:spcPts val="1100"/>
              </a:spcAft>
              <a:buChar char="•"/>
            </a:pPr>
            <a:r>
              <a:rPr sz="1600">
                <a:solidFill>
                  <a:srgbClr val="E6EEF9"/>
                </a:solidFill>
                <a:latin typeface="Calibri"/>
              </a:rPr>
              <a:t>PostgreSQL and MinIO</a:t>
            </a:r>
          </a:p>
          <a:p>
            <a:pPr marL="201168" indent="-201168">
              <a:spcAft>
                <a:spcPts val="1100"/>
              </a:spcAft>
              <a:buChar char="•"/>
            </a:pPr>
            <a:r>
              <a:rPr sz="1600">
                <a:solidFill>
                  <a:srgbClr val="E6EEF9"/>
                </a:solidFill>
                <a:latin typeface="Calibri"/>
              </a:rPr>
              <a:t>Redis worker</a:t>
            </a:r>
          </a:p>
          <a:p>
            <a:pPr marL="201168" indent="-201168">
              <a:spcAft>
                <a:spcPts val="1100"/>
              </a:spcAft>
              <a:buChar char="•"/>
            </a:pPr>
            <a:r>
              <a:rPr sz="1600">
                <a:solidFill>
                  <a:srgbClr val="E6EEF9"/>
                </a:solidFill>
                <a:latin typeface="Calibri"/>
              </a:rPr>
              <a:t>Prometheus and Grafana</a:t>
            </a:r>
          </a:p>
        </p:txBody>
      </p:sp>
      <p:sp>
        <p:nvSpPr>
          <p:cNvPr id="12" name="Rounded Rectangle 11"/>
          <p:cNvSpPr/>
          <p:nvPr/>
        </p:nvSpPr>
        <p:spPr>
          <a:xfrm>
            <a:off x="8156447" y="1783080"/>
            <a:ext cx="3392423" cy="3611880"/>
          </a:xfrm>
          <a:prstGeom prst="roundRect">
            <a:avLst>
              <a:gd name="adj" fmla="val 2156"/>
            </a:avLst>
          </a:prstGeom>
          <a:solidFill>
            <a:srgbClr val="132E55"/>
          </a:solidFill>
          <a:ln w="9525">
            <a:solidFill>
              <a:srgbClr val="C8A24A">
                <a:alpha val="70000"/>
              </a:srgbClr>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8476487" y="2039112"/>
            <a:ext cx="2752344" cy="457200"/>
          </a:xfrm>
          <a:prstGeom prst="rect">
            <a:avLst/>
          </a:prstGeom>
          <a:noFill/>
        </p:spPr>
        <p:txBody>
          <a:bodyPr wrap="square" lIns="0" rIns="0" tIns="0" bIns="0" anchor="t">
            <a:spAutoFit/>
          </a:bodyPr>
          <a:lstStyle/>
          <a:p>
            <a:pPr algn="l"/>
            <a:r>
              <a:rPr sz="2000" b="1" i="0">
                <a:solidFill>
                  <a:srgbClr val="C8A24A"/>
                </a:solidFill>
                <a:latin typeface="Arial"/>
              </a:rPr>
              <a:t>Production gate</a:t>
            </a:r>
          </a:p>
        </p:txBody>
      </p:sp>
      <p:sp>
        <p:nvSpPr>
          <p:cNvPr id="14" name="TextBox 13"/>
          <p:cNvSpPr txBox="1"/>
          <p:nvPr/>
        </p:nvSpPr>
        <p:spPr>
          <a:xfrm>
            <a:off x="8476487" y="2651760"/>
            <a:ext cx="2752344" cy="2560320"/>
          </a:xfrm>
          <a:prstGeom prst="rect">
            <a:avLst/>
          </a:prstGeom>
          <a:noFill/>
        </p:spPr>
        <p:txBody>
          <a:bodyPr wrap="square" lIns="0" rIns="0" tIns="0" bIns="0" anchor="t">
            <a:spAutoFit/>
          </a:bodyPr>
          <a:lstStyle/>
          <a:p>
            <a:pPr marL="201168" indent="-201168">
              <a:spcAft>
                <a:spcPts val="1100"/>
              </a:spcAft>
              <a:buChar char="•"/>
            </a:pPr>
            <a:r>
              <a:rPr sz="1600">
                <a:solidFill>
                  <a:srgbClr val="E6EEF9"/>
                </a:solidFill>
                <a:latin typeface="Calibri"/>
              </a:rPr>
              <a:t>Real identity + hardened access</a:t>
            </a:r>
          </a:p>
          <a:p>
            <a:pPr marL="201168" indent="-201168">
              <a:spcAft>
                <a:spcPts val="1100"/>
              </a:spcAft>
              <a:buChar char="•"/>
            </a:pPr>
            <a:r>
              <a:rPr sz="1600">
                <a:solidFill>
                  <a:srgbClr val="E6EEF9"/>
                </a:solidFill>
                <a:latin typeface="Calibri"/>
              </a:rPr>
              <a:t>Approved rules + residual-risk controls</a:t>
            </a:r>
          </a:p>
          <a:p>
            <a:pPr marL="201168" indent="-201168">
              <a:spcAft>
                <a:spcPts val="1100"/>
              </a:spcAft>
              <a:buChar char="•"/>
            </a:pPr>
            <a:r>
              <a:rPr sz="1600">
                <a:solidFill>
                  <a:srgbClr val="E6EEF9"/>
                </a:solidFill>
                <a:latin typeface="Calibri"/>
              </a:rPr>
              <a:t>Protected storage + external audit anchor</a:t>
            </a:r>
          </a:p>
          <a:p>
            <a:pPr marL="201168" indent="-201168">
              <a:spcAft>
                <a:spcPts val="1100"/>
              </a:spcAft>
              <a:buChar char="•"/>
            </a:pPr>
            <a:r>
              <a:rPr sz="1600">
                <a:solidFill>
                  <a:srgbClr val="E6EEF9"/>
                </a:solidFill>
                <a:latin typeface="Calibri"/>
              </a:rPr>
              <a:t>Migrations, backups, alerts, rollback</a:t>
            </a:r>
          </a:p>
        </p:txBody>
      </p:sp>
      <p:sp>
        <p:nvSpPr>
          <p:cNvPr id="15" name="TextBox 14"/>
          <p:cNvSpPr txBox="1"/>
          <p:nvPr/>
        </p:nvSpPr>
        <p:spPr>
          <a:xfrm>
            <a:off x="640080" y="5532120"/>
            <a:ext cx="10908792" cy="640080"/>
          </a:xfrm>
          <a:prstGeom prst="rect">
            <a:avLst/>
          </a:prstGeom>
          <a:noFill/>
        </p:spPr>
        <p:txBody>
          <a:bodyPr wrap="square" lIns="0" rIns="0" tIns="0" bIns="0" anchor="ctr">
            <a:spAutoFit/>
          </a:bodyPr>
          <a:lstStyle/>
          <a:p>
            <a:pPr algn="l"/>
            <a:r>
              <a:rPr sz="2200" b="1" i="0">
                <a:solidFill>
                  <a:srgbClr val="C8A24A"/>
                </a:solidFill>
                <a:latin typeface="Arial"/>
              </a:rPr>
              <a:t>Prepare evidence. Preserve disagreement. Keep humans accountable.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