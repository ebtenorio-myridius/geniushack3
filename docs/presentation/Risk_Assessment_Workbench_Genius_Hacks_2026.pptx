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92440" y="109728"/>
            <a:ext cx="4096512" cy="6748272"/>
          </a:xfrm>
          <a:prstGeom prst="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005840"/>
            <a:ext cx="5303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1">
                <a:solidFill>
                  <a:srgbClr val="F4974C"/>
                </a:solidFill>
                <a:latin typeface="Aptos"/>
              </a:rPr>
              <a:t>GENIUS HACKS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6766560" cy="1417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800" b="1">
                <a:solidFill>
                  <a:srgbClr val="F4F7F8"/>
                </a:solidFill>
                <a:latin typeface="Aptos"/>
              </a:rPr>
              <a:t>Risk Assessment
Workbench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46120"/>
            <a:ext cx="6217920" cy="7315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000" b="0">
                <a:solidFill>
                  <a:srgbClr val="AABCC6"/>
                </a:solidFill>
                <a:latin typeface="Aptos"/>
              </a:rPr>
              <a:t>From an unstructured change request to a governed, reviewable risk decision.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89320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300" b="1">
                <a:solidFill>
                  <a:srgbClr val="2FAEA4"/>
                </a:solidFill>
                <a:latin typeface="Aptos"/>
              </a:rPr>
              <a:t>A synthetic-data vertical slice for FCRM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1051560"/>
            <a:ext cx="2651760" cy="9144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417320"/>
            <a:ext cx="2651760" cy="20116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300" b="1">
                <a:solidFill>
                  <a:srgbClr val="F4F7F8"/>
                </a:solidFill>
                <a:latin typeface="Aptos"/>
              </a:rPr>
              <a:t>PREPARE
EVIDENCE
KEEP HUMANS
ACCOUNTABLE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5989320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0">
                <a:solidFill>
                  <a:srgbClr val="AABCC6"/>
                </a:solidFill>
                <a:latin typeface="Aptos"/>
              </a:rPr>
              <a:t>18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The process is slow, variable, and hard to reconstruct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57400"/>
            <a:ext cx="3474720" cy="301752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57400"/>
            <a:ext cx="73152" cy="3017520"/>
          </a:xfrm>
          <a:prstGeom prst="rect">
            <a:avLst/>
          </a:prstGeom>
          <a:solidFill>
            <a:srgbClr val="E0665C"/>
          </a:solidFill>
          <a:ln>
            <a:solidFill>
              <a:srgbClr val="E06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3063239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79192"/>
            <a:ext cx="3063239" cy="22677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Email, Word, Excel, SharePoint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15–20 business days per assessment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Different analysts can reach different conclusions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2057400"/>
            <a:ext cx="3474720" cy="301752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2057400"/>
            <a:ext cx="73152" cy="301752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2240280"/>
            <a:ext cx="3063239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Examiner question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679192"/>
            <a:ext cx="3063239" cy="22677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Why was this change rated this way?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Evidence is scattered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Reconstruction is slow and incomplete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3" y="2057400"/>
            <a:ext cx="3474720" cy="301752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1583" y="2057400"/>
            <a:ext cx="73152" cy="301752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0183" y="2240280"/>
            <a:ext cx="3063239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Our response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0183" y="2679192"/>
            <a:ext cx="3063239" cy="226771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One governed case record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AI structures evidence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Humans own the decision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EXPANDED PRODUCT 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One case, one traceable path to decision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Submitted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9424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42032" y="2240280"/>
            <a:ext cx="1572768" cy="749808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3472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0F1C2A"/>
                </a:solidFill>
                <a:latin typeface="Aptos"/>
              </a:rPr>
              <a:t>Extracted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43984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Analyst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45936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376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Finalized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2240280"/>
            <a:ext cx="1572768" cy="749808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0F1C2A"/>
                </a:solidFill>
                <a:latin typeface="Aptos"/>
              </a:rPr>
              <a:t>Committee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49840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0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Decisioned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886200"/>
            <a:ext cx="3429000" cy="13258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3886200"/>
            <a:ext cx="73152" cy="132588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406908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Product owner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507992"/>
            <a:ext cx="3017520" cy="576072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0">
                <a:solidFill>
                  <a:srgbClr val="AABCC6"/>
                </a:solidFill>
                <a:latin typeface="Aptos"/>
              </a:rPr>
              <a:t>Raises the change and supplies the source document.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89120" y="3886200"/>
            <a:ext cx="3429000" cy="13258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89120" y="3886200"/>
            <a:ext cx="73152" cy="132588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20" y="406908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FCRM analyst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507992"/>
            <a:ext cx="3017520" cy="576072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0">
                <a:solidFill>
                  <a:srgbClr val="AABCC6"/>
                </a:solidFill>
                <a:latin typeface="Aptos"/>
              </a:rPr>
              <a:t>Verifies facts, edits the draft, owns the assessment, and records rationale.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20" y="3886200"/>
            <a:ext cx="3429000" cy="13258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6720" y="3886200"/>
            <a:ext cx="73152" cy="1325880"/>
          </a:xfrm>
          <a:prstGeom prst="rect">
            <a:avLst/>
          </a:prstGeom>
          <a:solidFill>
            <a:srgbClr val="69C48B"/>
          </a:solidFill>
          <a:ln>
            <a:solidFill>
              <a:srgbClr val="69C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75320" y="406908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Risk committee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507992"/>
            <a:ext cx="3017520" cy="576072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0">
                <a:solidFill>
                  <a:srgbClr val="AABCC6"/>
                </a:solidFill>
                <a:latin typeface="Aptos"/>
              </a:rPr>
              <a:t>Reviews escalated cases and records the human decision and conditions.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WHAT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A deliberately narrow AI boundary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PDF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9424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42032" y="2240280"/>
            <a:ext cx="1572768" cy="749808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3472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0F1C2A"/>
                </a:solidFill>
                <a:latin typeface="Aptos"/>
              </a:rPr>
              <a:t>pypdf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43984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LLM 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45936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376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Rules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2240280"/>
            <a:ext cx="1572768" cy="749808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0F1C2A"/>
                </a:solidFill>
                <a:latin typeface="Aptos"/>
              </a:rPr>
              <a:t>SQLite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49840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0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401568"/>
            <a:ext cx="292608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974C"/>
                </a:solidFill>
                <a:latin typeface="Aptos"/>
              </a:rPr>
              <a:t>Probabilistic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3401568"/>
            <a:ext cx="292608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2FAEA4"/>
                </a:solidFill>
                <a:latin typeface="Aptos"/>
              </a:rPr>
              <a:t>Deterministic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3886200"/>
            <a:ext cx="4983480" cy="15544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3886200"/>
            <a:ext cx="73152" cy="155448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069080"/>
            <a:ext cx="457200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AI does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4507992"/>
            <a:ext cx="4572000" cy="8046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Extract structure from unstructured text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Surface ambiguity and risk factors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Retrieve targeted synthetic policy evidence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3886200"/>
            <a:ext cx="4983480" cy="15544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0" y="3886200"/>
            <a:ext cx="73152" cy="155448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4069080"/>
            <a:ext cx="457200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Code does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4507992"/>
            <a:ext cx="4572000" cy="8046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Validate schemas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Calculate scores and thresholds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Enforce transitions and audit writes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HARNESS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AI HARNESS AND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The document is data, not authority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3474720" cy="320040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920240"/>
            <a:ext cx="73152" cy="320040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03120"/>
            <a:ext cx="3063239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Context boundary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42032"/>
            <a:ext cx="3063239" cy="245059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Source text is explicitly untrusted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Embedded instructions cannot approve a case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The prompt requires faithful extraction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920240"/>
            <a:ext cx="3474720" cy="320040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920240"/>
            <a:ext cx="73152" cy="320040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2103120"/>
            <a:ext cx="3063239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Structured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542032"/>
            <a:ext cx="3063239" cy="245059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Pydantic schema at the model boundary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Malformed output fails loudly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Extraction versions remain reconstructable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920240"/>
            <a:ext cx="3474720" cy="320040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10144" y="1920240"/>
            <a:ext cx="73152" cy="3200400"/>
          </a:xfrm>
          <a:prstGeom prst="rect">
            <a:avLst/>
          </a:prstGeom>
          <a:solidFill>
            <a:srgbClr val="69C48B"/>
          </a:solidFill>
          <a:ln>
            <a:solidFill>
              <a:srgbClr val="69C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8744" y="2103120"/>
            <a:ext cx="3063239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Traceable 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42032"/>
            <a:ext cx="3063239" cy="245059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Targeted policy IDs and source paths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Prompt version telemetry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Analyst can disagree with rationale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HUMAN-IN-THE-LOOP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The system prepares; people decide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9424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42032" y="2240280"/>
            <a:ext cx="1572768" cy="749808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3472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0F1C2A"/>
                </a:solidFill>
                <a:latin typeface="Aptos"/>
              </a:rPr>
              <a:t>Edit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43984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Finalize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45936" y="2240280"/>
            <a:ext cx="1572768" cy="749808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376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F4F7F8"/>
                </a:solidFill>
                <a:latin typeface="Aptos"/>
              </a:rPr>
              <a:t>Committee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2441448"/>
            <a:ext cx="329184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2000" b="1">
                <a:solidFill>
                  <a:srgbClr val="F4974C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2240280"/>
            <a:ext cx="1572768" cy="749808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2423160"/>
            <a:ext cx="1389888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300" b="1">
                <a:solidFill>
                  <a:srgbClr val="0F1C2A"/>
                </a:solidFill>
                <a:latin typeface="Aptos"/>
              </a:rPr>
              <a:t>Decision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749039"/>
            <a:ext cx="3429000" cy="150876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3749039"/>
            <a:ext cx="73152" cy="150876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93192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Analyst gate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370831"/>
            <a:ext cx="3017520" cy="7589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Accept or reject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Edit and rescore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Actor + rationale required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749039"/>
            <a:ext cx="3429000" cy="150876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9120" y="3749039"/>
            <a:ext cx="73152" cy="150876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393192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Committee gate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4370831"/>
            <a:ext cx="3017520" cy="7589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High/critical cases escalate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Role-gated queue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Approve, reject, defer, or conditions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3749039"/>
            <a:ext cx="3429000" cy="150876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46720" y="3749039"/>
            <a:ext cx="73152" cy="1508760"/>
          </a:xfrm>
          <a:prstGeom prst="rect">
            <a:avLst/>
          </a:prstGeom>
          <a:solidFill>
            <a:srgbClr val="69C48B"/>
          </a:solidFill>
          <a:ln>
            <a:solidFill>
              <a:srgbClr val="69C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75320" y="393192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Audit 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4370831"/>
            <a:ext cx="3017520" cy="7589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UTC timestamps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Append-only event records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Original and edited extraction versions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715000"/>
            <a:ext cx="103327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200" b="0">
                <a:solidFill>
                  <a:srgbClr val="AABCC6"/>
                </a:solidFill>
                <a:latin typeface="Aptos"/>
              </a:rPr>
              <a:t>Prototype limitation: demo headers are not production identity; database immutability and decision policy remain.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ENGINEERING JUDGEMENT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Scoring is explainable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246888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1">
                <a:solidFill>
                  <a:srgbClr val="F4F7F8"/>
                </a:solidFill>
                <a:latin typeface="Aptos"/>
              </a:rPr>
              <a:t>Customer + geography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947672"/>
            <a:ext cx="3200400" cy="256032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0" y="1920240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1">
                <a:solidFill>
                  <a:srgbClr val="2FAEA4"/>
                </a:solidFill>
                <a:latin typeface="Aptos"/>
              </a:rPr>
              <a:t>35%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246888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1">
                <a:solidFill>
                  <a:srgbClr val="F4F7F8"/>
                </a:solidFill>
                <a:latin typeface="Aptos"/>
              </a:rPr>
              <a:t>Product + channel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2587751"/>
            <a:ext cx="2743200" cy="256032"/>
          </a:xfrm>
          <a:prstGeom prst="round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2560320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1">
                <a:solidFill>
                  <a:srgbClr val="F4974C"/>
                </a:solidFill>
                <a:latin typeface="Aptos"/>
              </a:rPr>
              <a:t>30%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00400"/>
            <a:ext cx="246888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1">
                <a:solidFill>
                  <a:srgbClr val="F4F7F8"/>
                </a:solidFill>
                <a:latin typeface="Aptos"/>
              </a:rPr>
              <a:t>Third party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3227832"/>
            <a:ext cx="1828800" cy="256032"/>
          </a:xfrm>
          <a:prstGeom prst="roundRect">
            <a:avLst/>
          </a:prstGeom>
          <a:solidFill>
            <a:srgbClr val="69C48B"/>
          </a:solidFill>
          <a:ln>
            <a:solidFill>
              <a:srgbClr val="69C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0" y="3200400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1">
                <a:solidFill>
                  <a:srgbClr val="69C48B"/>
                </a:solidFill>
                <a:latin typeface="Aptos"/>
              </a:rPr>
              <a:t>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840480"/>
            <a:ext cx="246888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1">
                <a:solidFill>
                  <a:srgbClr val="F4F7F8"/>
                </a:solidFill>
                <a:latin typeface="Aptos"/>
              </a:rPr>
              <a:t>Complexity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867912"/>
            <a:ext cx="1371600" cy="256032"/>
          </a:xfrm>
          <a:prstGeom prst="roundRect">
            <a:avLst/>
          </a:prstGeom>
          <a:solidFill>
            <a:srgbClr val="AABCC6"/>
          </a:solidFill>
          <a:ln>
            <a:solidFill>
              <a:srgbClr val="AAB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3840480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1">
                <a:solidFill>
                  <a:srgbClr val="AABCC6"/>
                </a:solidFill>
                <a:latin typeface="Aptos"/>
              </a:rPr>
              <a:t>15%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1874519"/>
            <a:ext cx="3383280" cy="228600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55279" y="1874519"/>
            <a:ext cx="73152" cy="228600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79" y="2057400"/>
            <a:ext cx="297180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Why not an LLM score?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2496312"/>
            <a:ext cx="2971800" cy="1536192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500" b="0">
                <a:solidFill>
                  <a:srgbClr val="AABCC6"/>
                </a:solidFill>
                <a:latin typeface="Aptos"/>
              </a:rPr>
              <a:t>A committee must reproduce, challenge, and test the number. The model structures evidence; deterministic Python combines category scores.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4434840"/>
            <a:ext cx="3383280" cy="13258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4434840"/>
            <a:ext cx="73152" cy="132588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83879" y="4617720"/>
            <a:ext cx="297180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Grounding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5056631"/>
            <a:ext cx="2971800" cy="576072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300" b="0">
                <a:solidFill>
                  <a:srgbClr val="AABCC6"/>
                </a:solidFill>
                <a:latin typeface="Aptos"/>
              </a:rPr>
              <a:t>Prototype categories are mapped to FFIEC, FATF, and OFAC research sources. FCRM approval and residual-risk controls remain production gates.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TESTING AND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We measure the model, not just the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97280" cy="7315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4200" b="1">
                <a:solidFill>
                  <a:srgbClr val="2FAEA4"/>
                </a:solidFill>
                <a:latin typeface="Aptos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97480"/>
            <a:ext cx="18288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400" b="1">
                <a:solidFill>
                  <a:srgbClr val="AABCC6"/>
                </a:solidFill>
                <a:latin typeface="Aptos"/>
              </a:rPr>
              <a:t>synthetic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1874519"/>
            <a:ext cx="1920240" cy="7315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3600" b="1">
                <a:solidFill>
                  <a:srgbClr val="F4974C"/>
                </a:solidFill>
                <a:latin typeface="Aptos"/>
              </a:rPr>
              <a:t>0/8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6974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400" b="1">
                <a:solidFill>
                  <a:srgbClr val="AABCC6"/>
                </a:solidFill>
                <a:latin typeface="Aptos"/>
              </a:rPr>
              <a:t>latest live calls succeeded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1874519"/>
            <a:ext cx="1920240" cy="7315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3600" b="1">
                <a:solidFill>
                  <a:srgbClr val="69C48B"/>
                </a:solidFill>
                <a:latin typeface="Aptos"/>
              </a:rPr>
              <a:t>N/A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26974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400" b="1">
                <a:solidFill>
                  <a:srgbClr val="AABCC6"/>
                </a:solidFill>
                <a:latin typeface="Aptos"/>
              </a:rPr>
              <a:t>quality metrics unavailable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1874519"/>
            <a:ext cx="1097280" cy="7315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4200" b="1">
                <a:solidFill>
                  <a:srgbClr val="2FAEA4"/>
                </a:solidFill>
                <a:latin typeface="Aptos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697480"/>
            <a:ext cx="18288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400" b="1">
                <a:solidFill>
                  <a:srgbClr val="AABCC6"/>
                </a:solidFill>
                <a:latin typeface="Aptos"/>
              </a:rPr>
              <a:t>automated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03120" y="3794760"/>
            <a:ext cx="7955279" cy="13258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03120" y="3794760"/>
            <a:ext cx="73152" cy="132588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31720" y="3977640"/>
            <a:ext cx="754380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Failure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4416552"/>
            <a:ext cx="7543800" cy="5760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Live evaluation finds missing products and weak risk-factor capture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Prompt rules and scoring signals are updated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Regression tests protect the improvement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SIX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SDLC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AI is part of delivery, not only runtime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1737360" cy="22402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029968"/>
            <a:ext cx="5029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200" b="1">
                <a:solidFill>
                  <a:srgbClr val="F4974C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26517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1">
                <a:solidFill>
                  <a:srgbClr val="F4F7F8"/>
                </a:solidFill>
                <a:latin typeface="Aptos"/>
              </a:rPr>
              <a:t>Requirements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33375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0">
                <a:solidFill>
                  <a:srgbClr val="AABCC6"/>
                </a:solidFill>
                <a:latin typeface="Aptos"/>
              </a:rPr>
              <a:t>Brief → spec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87752" y="1828800"/>
            <a:ext cx="1737360" cy="22402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34056" y="2029968"/>
            <a:ext cx="5029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200" b="1">
                <a:solidFill>
                  <a:srgbClr val="2FAEA4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34056" y="26517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1">
                <a:solidFill>
                  <a:srgbClr val="F4F7F8"/>
                </a:solidFill>
                <a:latin typeface="Aptos"/>
              </a:rPr>
              <a:t>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34056" y="33375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0">
                <a:solidFill>
                  <a:srgbClr val="AABCC6"/>
                </a:solidFill>
                <a:latin typeface="Aptos"/>
              </a:rPr>
              <a:t>Options → decision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9704" y="1828800"/>
            <a:ext cx="1737360" cy="22402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36008" y="2029968"/>
            <a:ext cx="5029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200" b="1">
                <a:solidFill>
                  <a:srgbClr val="69C48B"/>
                </a:solidFill>
                <a:latin typeface="Apto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26517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1">
                <a:solidFill>
                  <a:srgbClr val="F4F7F8"/>
                </a:solidFill>
                <a:latin typeface="Aptos"/>
              </a:rPr>
              <a:t>Development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3375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0">
                <a:solidFill>
                  <a:srgbClr val="AABCC6"/>
                </a:solidFill>
                <a:latin typeface="Aptos"/>
              </a:rPr>
              <a:t>Contract → code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91656" y="1828800"/>
            <a:ext cx="1737360" cy="22402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029968"/>
            <a:ext cx="5029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200" b="1">
                <a:solidFill>
                  <a:srgbClr val="F4974C"/>
                </a:solidFill>
                <a:latin typeface="Apto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6517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1">
                <a:solidFill>
                  <a:srgbClr val="F4F7F8"/>
                </a:solidFill>
                <a:latin typeface="Aptos"/>
              </a:rPr>
              <a:t>Testing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3375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0">
                <a:solidFill>
                  <a:srgbClr val="AABCC6"/>
                </a:solidFill>
                <a:latin typeface="Aptos"/>
              </a:rPr>
              <a:t>Cases → metrics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1828800"/>
            <a:ext cx="1737360" cy="22402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9912" y="2029968"/>
            <a:ext cx="5029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200" b="1">
                <a:solidFill>
                  <a:srgbClr val="2FAEA4"/>
                </a:solidFill>
                <a:latin typeface="Aptos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9912" y="26517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1">
                <a:solidFill>
                  <a:srgbClr val="F4F7F8"/>
                </a:solidFill>
                <a:latin typeface="Aptos"/>
              </a:rPr>
              <a:t>Deployment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9912" y="33375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0">
                <a:solidFill>
                  <a:srgbClr val="AABCC6"/>
                </a:solidFill>
                <a:latin typeface="Aptos"/>
              </a:rPr>
              <a:t>Image → runbook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95560" y="1828800"/>
            <a:ext cx="1737360" cy="22402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41864" y="2029968"/>
            <a:ext cx="5029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2200" b="1">
                <a:solidFill>
                  <a:srgbClr val="69C48B"/>
                </a:solidFill>
                <a:latin typeface="Aptos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41864" y="26517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1">
                <a:solidFill>
                  <a:srgbClr val="F4F7F8"/>
                </a:solidFill>
                <a:latin typeface="Aptos"/>
              </a:rPr>
              <a:t>Operations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41864" y="3337560"/>
            <a:ext cx="1417320" cy="4114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200" b="0">
                <a:solidFill>
                  <a:srgbClr val="AABCC6"/>
                </a:solidFill>
                <a:latin typeface="Aptos"/>
              </a:rPr>
              <a:t>Telemetry → 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892040"/>
            <a:ext cx="10332720" cy="36576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800" b="1">
                <a:solidFill>
                  <a:srgbClr val="F4F7F8"/>
                </a:solidFill>
                <a:latin typeface="Aptos"/>
              </a:rPr>
              <a:t>Each stage has an AI instruction, a human gate, and a repository artifact.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DEPLOYMENT AND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Free-first locally, credible path to production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3429000" cy="29260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828800"/>
            <a:ext cx="73152" cy="292608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Current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50592"/>
            <a:ext cx="3017520" cy="21762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Docker Compose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SQLite named volume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Synthetic data only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Optional OpenAI inference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828800"/>
            <a:ext cx="3429000" cy="29260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828800"/>
            <a:ext cx="73152" cy="2926080"/>
          </a:xfrm>
          <a:prstGeom prst="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01168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Free-first 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450592"/>
            <a:ext cx="3017520" cy="21762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Ollama adapter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PostgreSQL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MinIO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Redis worker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Prometheus/Grafana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828800"/>
            <a:ext cx="3429000" cy="29260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828800"/>
            <a:ext cx="73152" cy="2926080"/>
          </a:xfrm>
          <a:prstGeom prst="rect">
            <a:avLst/>
          </a:prstGeom>
          <a:solidFill>
            <a:srgbClr val="E0665C"/>
          </a:solidFill>
          <a:ln>
            <a:solidFill>
              <a:srgbClr val="E06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011680"/>
            <a:ext cx="30175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Production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450592"/>
            <a:ext cx="3017520" cy="21762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Real identity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TLS and secrets manager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Migrations and backups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Malware scanning</a:t>
            </a:r>
          </a:p>
          <a:p>
            <a:pPr>
              <a:spcAft>
                <a:spcPts val="900"/>
              </a:spcAft>
              <a:defRPr sz="1500">
                <a:solidFill>
                  <a:srgbClr val="AABCC6"/>
                </a:solidFill>
                <a:latin typeface="Aptos"/>
              </a:defRPr>
            </a:pPr>
            <a:r>
              <a:t>•  Alerts and rollback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86400"/>
            <a:ext cx="1033272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700" b="1">
                <a:solidFill>
                  <a:srgbClr val="AABCC6"/>
                </a:solidFill>
                <a:latin typeface="Aptos"/>
              </a:rPr>
              <a:t>The demo is intentionally honest: prototype-ready, not a bank production deployment.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WORKING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One synthetic case, end to 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1737360"/>
            <a:ext cx="502920" cy="502920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847088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500" b="1">
                <a:solidFill>
                  <a:srgbClr val="0F1C2A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10512"/>
            <a:ext cx="603504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800" b="1">
                <a:solidFill>
                  <a:srgbClr val="F4F7F8"/>
                </a:solidFill>
                <a:latin typeface="Aptos"/>
              </a:rPr>
              <a:t>Upload SYN-001 PDF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2395728"/>
            <a:ext cx="502920" cy="502920"/>
          </a:xfrm>
          <a:prstGeom prst="round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505456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500" b="1">
                <a:solidFill>
                  <a:srgbClr val="0F1C2A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68880"/>
            <a:ext cx="603504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800" b="1">
                <a:solidFill>
                  <a:srgbClr val="F4F7F8"/>
                </a:solidFill>
                <a:latin typeface="Aptos"/>
              </a:rPr>
              <a:t>Inspect JSON + score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3054096"/>
            <a:ext cx="502920" cy="502920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163824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500" b="1">
                <a:solidFill>
                  <a:srgbClr val="0F1C2A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127248"/>
            <a:ext cx="603504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800" b="1">
                <a:solidFill>
                  <a:srgbClr val="F4F7F8"/>
                </a:solidFill>
                <a:latin typeface="Aptos"/>
              </a:rPr>
              <a:t>Edit and rescore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712463"/>
            <a:ext cx="502920" cy="502920"/>
          </a:xfrm>
          <a:prstGeom prst="round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822191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500" b="1">
                <a:solidFill>
                  <a:srgbClr val="0F1C2A"/>
                </a:solidFill>
                <a:latin typeface="Apto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785615"/>
            <a:ext cx="603504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800" b="1">
                <a:solidFill>
                  <a:srgbClr val="F4F7F8"/>
                </a:solidFill>
                <a:latin typeface="Aptos"/>
              </a:rPr>
              <a:t>Finalize analyst review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4370831"/>
            <a:ext cx="502920" cy="502920"/>
          </a:xfrm>
          <a:prstGeom prst="round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480559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500" b="1">
                <a:solidFill>
                  <a:srgbClr val="0F1C2A"/>
                </a:solidFill>
                <a:latin typeface="Aptos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4443983"/>
            <a:ext cx="603504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800" b="1">
                <a:solidFill>
                  <a:srgbClr val="F4F7F8"/>
                </a:solidFill>
                <a:latin typeface="Aptos"/>
              </a:rPr>
              <a:t>Committee decision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5029199"/>
            <a:ext cx="502920" cy="502920"/>
          </a:xfrm>
          <a:prstGeom prst="roundRect">
            <a:avLst/>
          </a:prstGeom>
          <a:solidFill>
            <a:srgbClr val="F4974C"/>
          </a:solidFill>
          <a:ln>
            <a:solidFill>
              <a:srgbClr val="F497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138927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ctr"/>
            <a:r>
              <a:rPr sz="1500" b="1">
                <a:solidFill>
                  <a:srgbClr val="0F1C2A"/>
                </a:solidFill>
                <a:latin typeface="Aptos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5102351"/>
            <a:ext cx="603504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800" b="1">
                <a:solidFill>
                  <a:srgbClr val="F4F7F8"/>
                </a:solidFill>
                <a:latin typeface="Aptos"/>
              </a:rPr>
              <a:t>Verify audit events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1920240"/>
            <a:ext cx="2834640" cy="265176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0" y="1920240"/>
            <a:ext cx="73152" cy="2651760"/>
          </a:xfrm>
          <a:prstGeom prst="rect">
            <a:avLst/>
          </a:prstGeom>
          <a:solidFill>
            <a:srgbClr val="AABCC6"/>
          </a:solidFill>
          <a:ln>
            <a:solidFill>
              <a:srgbClr val="AAB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58200" y="2103120"/>
            <a:ext cx="2423160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Fallback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2542032"/>
            <a:ext cx="2423160" cy="1901952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400" b="0">
                <a:solidFill>
                  <a:srgbClr val="AABCC6"/>
                </a:solidFill>
                <a:latin typeface="Aptos"/>
              </a:rPr>
              <a:t>If the model provider is unavailable, show the synthetic contract tests and the recorded evaluation results. Scoring, persistence, and state transitions remain locally testable.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731520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900" b="1">
                <a:solidFill>
                  <a:srgbClr val="AABCC6"/>
                </a:solidFill>
                <a:latin typeface="Aptos"/>
              </a:rPr>
              <a:t>GENIUS HACKS 2026  / 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r"/>
            <a:r>
              <a:rPr sz="1000" b="1">
                <a:solidFill>
                  <a:srgbClr val="AABCC6"/>
                </a:solidFill>
                <a:latin typeface="Apto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100" b="1">
                <a:solidFill>
                  <a:srgbClr val="F4974C"/>
                </a:solidFill>
                <a:latin typeface="Aptos"/>
              </a:rPr>
              <a:t>WHAT THE PANEL SHOULD REMEMBER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0698480" cy="6400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The workbench makes reasoning visible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6126480" cy="18288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3000" b="1">
                <a:solidFill>
                  <a:srgbClr val="F4F7F8"/>
                </a:solidFill>
                <a:latin typeface="Aptos"/>
              </a:rPr>
              <a:t>Prepare evidence.
Preserve disagreement.
Keep humans accountable.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508760"/>
            <a:ext cx="3931920" cy="2926080"/>
          </a:xfrm>
          <a:prstGeom prst="roundRect">
            <a:avLst/>
          </a:prstGeom>
          <a:solidFill>
            <a:srgbClr val="182B3D"/>
          </a:solidFill>
          <a:ln>
            <a:solidFill>
              <a:srgbClr val="182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1508760"/>
            <a:ext cx="73152" cy="2926080"/>
          </a:xfrm>
          <a:prstGeom prst="rect">
            <a:avLst/>
          </a:prstGeom>
          <a:solidFill>
            <a:srgbClr val="2FAEA4"/>
          </a:solidFill>
          <a:ln>
            <a:solidFill>
              <a:srgbClr val="2FAE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3800" y="1691639"/>
            <a:ext cx="3520439" cy="3200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600" b="1">
                <a:solidFill>
                  <a:srgbClr val="F4F7F8"/>
                </a:solidFill>
                <a:latin typeface="Aptos"/>
              </a:rPr>
              <a:t>Demonstrated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2130552"/>
            <a:ext cx="3520439" cy="21762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AI-assisted extraction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Deterministic scoring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Policy evidence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Versioned review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Committee decisions</a:t>
            </a:r>
          </a:p>
          <a:p>
            <a:pPr>
              <a:spcAft>
                <a:spcPts val="900"/>
              </a:spcAft>
              <a:defRPr sz="1400">
                <a:solidFill>
                  <a:srgbClr val="AABCC6"/>
                </a:solidFill>
                <a:latin typeface="Aptos"/>
              </a:defRPr>
            </a:pPr>
            <a:r>
              <a:t>•  Synthetic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06440"/>
            <a:ext cx="6858000" cy="27432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 algn="l"/>
            <a:r>
              <a:rPr sz="1300" b="1">
                <a:solidFill>
                  <a:srgbClr val="AABCC6"/>
                </a:solidFill>
                <a:latin typeface="Aptos"/>
              </a:rPr>
              <a:t>Risk Assessment Workbench  /  Genius Hacks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