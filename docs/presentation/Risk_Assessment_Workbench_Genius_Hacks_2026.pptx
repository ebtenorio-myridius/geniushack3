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599" b="0">
                <a:solidFill>
                  <a:srgbClr val="0A2540"/>
                </a:solidFill>
                <a:latin typeface="Calibri"/>
              </a:rPr>
              <a:t>Category weight in the risk score (%)</a:t>
            </a:r>
          </a:p>
        </c:rich>
      </c:tx>
      <c:layout/>
      <c:overlay val="0"/>
    </c:title>
    <c:autoTitleDeleted val="0"/>
    <c:plotArea>
      <c:barChart>
        <c:barDir val="bar"/>
        <c:grouping val="clustered"/>
        <c:ser>
          <c:idx val="0"/>
          <c:order val="0"/>
          <c:tx>
            <c:strRef>
              <c:f>Sheet1!$B$1</c:f>
              <c:strCache>
                <c:ptCount val="1"/>
                <c:pt idx="0">
                  <c:v>Weight (%)</c:v>
                </c:pt>
              </c:strCache>
            </c:strRef>
          </c:tx>
          <c:dPt>
            <c:idx val="0"/>
            <c:spPr>
              <a:solidFill>
                <a:srgbClr val="0A2540"/>
              </a:solidFill>
            </c:spPr>
          </c:dPt>
          <c:dPt>
            <c:idx val="1"/>
            <c:spPr>
              <a:solidFill>
                <a:srgbClr val="1F5FBF"/>
              </a:solidFill>
            </c:spPr>
          </c:dPt>
          <c:dPt>
            <c:idx val="2"/>
            <c:spPr>
              <a:solidFill>
                <a:srgbClr val="3B82F6"/>
              </a:solidFill>
            </c:spPr>
          </c:dPt>
          <c:dPt>
            <c:idx val="3"/>
            <c:spPr>
              <a:solidFill>
                <a:srgbClr val="93C5FD"/>
              </a:solidFill>
            </c:spPr>
          </c:dPt>
          <c:cat>
            <c:strRef>
              <c:f>Sheet1!$A$2:$A$5</c:f>
              <c:strCache>
                <c:ptCount val="4"/>
                <c:pt idx="0">
                  <c:v>Customer + geography</c:v>
                </c:pt>
                <c:pt idx="1">
                  <c:v>Product + channel</c:v>
                </c:pt>
                <c:pt idx="2">
                  <c:v>Third party</c:v>
                </c:pt>
                <c:pt idx="3">
                  <c:v>Complexity</c:v>
                </c:pt>
              </c:strCache>
            </c:strRef>
          </c:cat>
          <c:val>
            <c:numRef>
              <c:f>Sheet1!$B$2:$B$5</c:f>
              <c:numCache>
                <c:formatCode>General</c:formatCode>
                <c:ptCount val="4"/>
                <c:pt idx="0">
                  <c:v>35</c:v>
                </c:pt>
                <c:pt idx="1">
                  <c:v>30</c:v>
                </c:pt>
                <c:pt idx="2">
                  <c:v>20</c:v>
                </c:pt>
                <c:pt idx="3">
                  <c:v>15</c:v>
                </c:pt>
              </c:numCache>
            </c:numRef>
          </c:val>
        </c:ser>
        <c:dLbls>
          <c:txPr>
            <a:bodyPr/>
            <a:lstStyle/>
            <a:p>
              <a:pPr>
                <a:defRPr sz="1466">
                  <a:solidFill>
                    <a:srgbClr val="0A2540"/>
                  </a:solidFill>
                  <a:latin typeface="Calibri"/>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axMin"/>
        </c:scaling>
        <c:delete val="0"/>
        <c:axPos val="l"/>
        <c:majorTickMark val="out"/>
        <c:minorTickMark val="none"/>
        <c:tickLblPos val="nextTo"/>
        <c:spPr>
          <a:ln>
            <a:solidFill>
              <a:srgbClr val="C7DBF5"/>
            </a:solidFill>
          </a:ln>
        </c:spPr>
        <c:txPr>
          <a:bodyPr/>
          <a:lstStyle/>
          <a:p>
            <a:pPr>
              <a:defRPr sz="1466">
                <a:solidFill>
                  <a:srgbClr val="0A2540"/>
                </a:solidFill>
                <a:latin typeface="Calibri"/>
              </a:defRPr>
            </a:pPr>
          </a:p>
        </c:txPr>
        <c:crossAx val="-2113994440"/>
        <c:crosses val="autoZero"/>
        <c:auto val="1"/>
        <c:lblAlgn val="ctr"/>
        <c:lblOffset val="100"/>
        <c:noMultiLvlLbl val="0"/>
      </c:catAx>
      <c:valAx>
        <c:axId val="-2113994440"/>
        <c:scaling>
          <c:max val="45.0"/>
          <c:min val="0.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599" b="0">
                <a:solidFill>
                  <a:srgbClr val="0A2540"/>
                </a:solidFill>
                <a:latin typeface="Calibri"/>
              </a:rPr>
              <a:t>Field accuracy by synthetic case (%)</a:t>
            </a:r>
          </a:p>
        </c:rich>
      </c:tx>
      <c:layout/>
      <c:overlay val="0"/>
    </c:title>
    <c:autoTitleDeleted val="0"/>
    <c:plotArea>
      <c:barChart>
        <c:barDir val="col"/>
        <c:grouping val="clustered"/>
        <c:ser>
          <c:idx val="0"/>
          <c:order val="0"/>
          <c:tx>
            <c:strRef>
              <c:f>Sheet1!$B$1</c:f>
              <c:strCache>
                <c:ptCount val="1"/>
                <c:pt idx="0">
                  <c:v>Field accuracy (%)</c:v>
                </c:pt>
              </c:strCache>
            </c:strRef>
          </c:tx>
          <c:spPr>
            <a:solidFill>
              <a:srgbClr val="1F5FBF"/>
            </a:solidFill>
          </c:spPr>
          <c:cat>
            <c:strRef>
              <c:f>Sheet1!$A$2:$A$9</c:f>
              <c:strCache>
                <c:ptCount val="8"/>
                <c:pt idx="0">
                  <c:v>001</c:v>
                </c:pt>
                <c:pt idx="1">
                  <c:v>002</c:v>
                </c:pt>
                <c:pt idx="2">
                  <c:v>003</c:v>
                </c:pt>
                <c:pt idx="3">
                  <c:v>004</c:v>
                </c:pt>
                <c:pt idx="4">
                  <c:v>005</c:v>
                </c:pt>
                <c:pt idx="5">
                  <c:v>006</c:v>
                </c:pt>
                <c:pt idx="6">
                  <c:v>007</c:v>
                </c:pt>
                <c:pt idx="7">
                  <c:v>008</c:v>
                </c:pt>
              </c:strCache>
            </c:strRef>
          </c:cat>
          <c:val>
            <c:numRef>
              <c:f>Sheet1!$B$2:$B$9</c:f>
              <c:numCache>
                <c:formatCode>General</c:formatCode>
                <c:ptCount val="8"/>
                <c:pt idx="0">
                  <c:v>100</c:v>
                </c:pt>
                <c:pt idx="1">
                  <c:v>100</c:v>
                </c:pt>
                <c:pt idx="2">
                  <c:v>100</c:v>
                </c:pt>
                <c:pt idx="3">
                  <c:v>100</c:v>
                </c:pt>
                <c:pt idx="4">
                  <c:v>100</c:v>
                </c:pt>
                <c:pt idx="5">
                  <c:v>100</c:v>
                </c:pt>
                <c:pt idx="6">
                  <c:v>100</c:v>
                </c:pt>
                <c:pt idx="7">
                  <c:v>100</c:v>
                </c:pt>
              </c:numCache>
            </c:numRef>
          </c:val>
        </c:ser>
        <c:dLbls>
          <c:txPr>
            <a:bodyPr/>
            <a:lstStyle/>
            <a:p>
              <a:pPr>
                <a:defRPr sz="1466">
                  <a:solidFill>
                    <a:srgbClr val="0A2540"/>
                  </a:solidFill>
                  <a:latin typeface="Calibri"/>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b"/>
        <c:majorTickMark val="out"/>
        <c:minorTickMark val="none"/>
        <c:tickLblPos val="nextTo"/>
        <c:spPr>
          <a:ln>
            <a:solidFill>
              <a:srgbClr val="C7DBF5"/>
            </a:solidFill>
          </a:ln>
        </c:spPr>
        <c:txPr>
          <a:bodyPr/>
          <a:lstStyle/>
          <a:p>
            <a:pPr>
              <a:defRPr sz="1466">
                <a:solidFill>
                  <a:srgbClr val="0A2540"/>
                </a:solidFill>
                <a:latin typeface="Calibri"/>
              </a:defRPr>
            </a:pPr>
          </a:p>
        </c:txPr>
        <c:crossAx val="-2113994440"/>
        <c:crosses val="autoZero"/>
        <c:auto val="1"/>
        <c:lblAlgn val="ctr"/>
        <c:lblOffset val="100"/>
        <c:noMultiLvlLbl val="0"/>
      </c:catAx>
      <c:valAx>
        <c:axId val="-2113994440"/>
        <c:scaling>
          <c:max val="100.0"/>
          <c:min val="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0:00-0:20. One-sentence pitch: the system prepares the evidence, humans make the decision. Introduce the team and roles.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0:20-0:50. Attribute the 15-20 business-day current-state figure to the brief and the two-day figure to the brief's target; neither is a measured app result. State the design stance: nothing is automatically approved or rejected.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0:50-1:50. Walk the pipeline left to right. Extraction is a probabilistic problem, scoring is not, so scoring is plain Python a committee can reproduce. This is the engineering-judgement answer.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1:50-2:50. Context management: untrusted-document boundary, schema-constrained output, versioned prompts. If asked why no multi-agent orchestration: one narrow extraction step does not need it, and every extra agent is another probabilistic step to govern and evaluate.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2:50-3:30. Deterministic versus probabilistic, justified. Be upfront that the weights are a prototype choice awaiting FCRM approval.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3:30-4:15. One line per stage, naming the artifact: docs/requirements, docs/architecture, src and ai, tests and evals, ops. Point to docs/sdlc/ai-delivery-evidence.md. Move fast; the repo carries the detail.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4:15-5:15. Every risk level goes through analyst review before committee decision. Explain the resume-after-information-request path and that conditions must be evidenced before analyst closure. The event hash chain and examiner export help reconstruct the record but are not immutable against a database owner.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5:15-7:45 (about 2.5 minutes). Owner uploads, checks required draft fields, and submits. The analyst verifies/corrects with source citations, finalizes, and submits to committee. Use three separate committee identities. For a conditional outcome, show owner evidence followed by analyst closure; end with audit verification/export. If the provider is unavailable, use the recorded evaluation and local tests without implying offline extraction.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7:45-9:45. Quote the values generated from the latest recorded PDF evaluation and state that this is only eight synthetic cases. Risk agreement comes from deterministic scoring and does not establish field accuracy. Mention controlled errors for invalid PDFs and provider failures; do not suggest extraction has an offline fallback.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9:45-10:00. Close on the tagline, then stop on time. Leave the five minutes of Q&amp;A for the decisions: why deterministic scoring, why no multi-agent orchestration, why field accuracy and risk agreement differ.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chart" Target="../charts/char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731501" y="1097252"/>
            <a:ext cx="6705432" cy="365750"/>
          </a:xfrm>
          <a:prstGeom prst="rect">
            <a:avLst/>
          </a:prstGeom>
          <a:noFill/>
        </p:spPr>
        <p:txBody>
          <a:bodyPr wrap="square" lIns="0" rIns="0" tIns="0" bIns="0" anchor="t">
            <a:spAutoFit/>
          </a:bodyPr>
          <a:lstStyle/>
          <a:p>
            <a:pPr algn="l"/>
            <a:r>
              <a:rPr sz="1599" b="1" i="0">
                <a:solidFill>
                  <a:srgbClr val="93C5FD"/>
                </a:solidFill>
                <a:latin typeface="Calibri"/>
              </a:rPr>
              <a:t>GENIUS HACKS 2026</a:t>
            </a:r>
          </a:p>
        </p:txBody>
      </p:sp>
      <p:sp>
        <p:nvSpPr>
          <p:cNvPr id="3" name="TextBox 2"/>
          <p:cNvSpPr txBox="1"/>
          <p:nvPr/>
        </p:nvSpPr>
        <p:spPr>
          <a:xfrm>
            <a:off x="731501" y="1645878"/>
            <a:ext cx="6827349" cy="1828754"/>
          </a:xfrm>
          <a:prstGeom prst="rect">
            <a:avLst/>
          </a:prstGeom>
          <a:noFill/>
        </p:spPr>
        <p:txBody>
          <a:bodyPr wrap="square" lIns="0" rIns="0" tIns="0" bIns="0" anchor="t">
            <a:spAutoFit/>
          </a:bodyPr>
          <a:lstStyle/>
          <a:p>
            <a:pPr algn="l"/>
            <a:r>
              <a:rPr sz="5333" b="1" i="0">
                <a:solidFill>
                  <a:srgbClr val="FFFFFF"/>
                </a:solidFill>
                <a:latin typeface="Cambria"/>
              </a:rPr>
              <a:t>Risk Assessment Workbench</a:t>
            </a:r>
          </a:p>
        </p:txBody>
      </p:sp>
      <p:sp>
        <p:nvSpPr>
          <p:cNvPr id="4" name="TextBox 3"/>
          <p:cNvSpPr txBox="1"/>
          <p:nvPr/>
        </p:nvSpPr>
        <p:spPr>
          <a:xfrm>
            <a:off x="731501" y="3718467"/>
            <a:ext cx="6583515" cy="975335"/>
          </a:xfrm>
          <a:prstGeom prst="rect">
            <a:avLst/>
          </a:prstGeom>
          <a:noFill/>
        </p:spPr>
        <p:txBody>
          <a:bodyPr wrap="square" lIns="0" rIns="0" tIns="0" bIns="0" anchor="t">
            <a:spAutoFit/>
          </a:bodyPr>
          <a:lstStyle/>
          <a:p>
            <a:pPr algn="l"/>
            <a:r>
              <a:rPr sz="2133" b="0" i="0">
                <a:solidFill>
                  <a:srgbClr val="DBEAFE"/>
                </a:solidFill>
                <a:latin typeface="Calibri"/>
              </a:rPr>
              <a:t>From an unstructured change request to a governed, reviewable risk decision.</a:t>
            </a:r>
          </a:p>
        </p:txBody>
      </p:sp>
      <p:sp>
        <p:nvSpPr>
          <p:cNvPr id="5" name="TextBox 4"/>
          <p:cNvSpPr txBox="1"/>
          <p:nvPr/>
        </p:nvSpPr>
        <p:spPr>
          <a:xfrm>
            <a:off x="731501" y="5730096"/>
            <a:ext cx="6827349" cy="365750"/>
          </a:xfrm>
          <a:prstGeom prst="rect">
            <a:avLst/>
          </a:prstGeom>
          <a:noFill/>
        </p:spPr>
        <p:txBody>
          <a:bodyPr wrap="square" lIns="0" rIns="0" tIns="0" bIns="0" anchor="t">
            <a:spAutoFit/>
          </a:bodyPr>
          <a:lstStyle/>
          <a:p>
            <a:pPr algn="l"/>
            <a:r>
              <a:rPr sz="1466" b="0" i="0">
                <a:solidFill>
                  <a:srgbClr val="93C5FD"/>
                </a:solidFill>
                <a:latin typeface="Calibri"/>
              </a:rPr>
              <a:t>A synthetic-data vertical slice for financial crimes risk management</a:t>
            </a:r>
          </a:p>
        </p:txBody>
      </p:sp>
      <p:sp>
        <p:nvSpPr>
          <p:cNvPr id="6" name="Rounded Rectangle 5"/>
          <p:cNvSpPr/>
          <p:nvPr/>
        </p:nvSpPr>
        <p:spPr>
          <a:xfrm>
            <a:off x="8168435" y="1097252"/>
            <a:ext cx="3413674" cy="4632844"/>
          </a:xfrm>
          <a:prstGeom prst="roundRect">
            <a:avLst>
              <a:gd name="adj" fmla="val 2857"/>
            </a:avLst>
          </a:prstGeom>
          <a:solidFill>
            <a:srgbClr val="12365F"/>
          </a:solidFill>
          <a:ln w="9525">
            <a:solidFill>
              <a:srgbClr val="24508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8473228" y="1584920"/>
            <a:ext cx="2804089" cy="3657508"/>
          </a:xfrm>
          <a:prstGeom prst="rect">
            <a:avLst/>
          </a:prstGeom>
          <a:noFill/>
        </p:spPr>
        <p:txBody>
          <a:bodyPr wrap="square" lIns="0" rIns="0" tIns="0" bIns="0" anchor="ctr">
            <a:spAutoFit/>
          </a:bodyPr>
          <a:lstStyle/>
          <a:p>
            <a:pPr algn="l">
              <a:spcAft>
                <a:spcPts val="1866"/>
              </a:spcAft>
            </a:pPr>
            <a:r>
              <a:rPr sz="2666" b="1" i="0">
                <a:solidFill>
                  <a:srgbClr val="FFFFFF"/>
                </a:solidFill>
                <a:latin typeface="Cambria"/>
              </a:rPr>
              <a:t>Prepare evidence.</a:t>
            </a:r>
          </a:p>
          <a:p>
            <a:pPr algn="l">
              <a:spcAft>
                <a:spcPts val="1866"/>
              </a:spcAft>
            </a:pPr>
            <a:r>
              <a:rPr sz="2666" b="1" i="0">
                <a:solidFill>
                  <a:srgbClr val="FFFFFF"/>
                </a:solidFill>
                <a:latin typeface="Cambria"/>
              </a:rPr>
              <a:t>Preserve disagreement.</a:t>
            </a:r>
          </a:p>
          <a:p>
            <a:pPr algn="l">
              <a:spcAft>
                <a:spcPts val="1866"/>
              </a:spcAft>
            </a:pPr>
            <a:r>
              <a:rPr sz="2666" b="1" i="0">
                <a:solidFill>
                  <a:srgbClr val="FFFFFF"/>
                </a:solidFill>
                <a:latin typeface="Cambria"/>
              </a:rPr>
              <a:t>Keep humans accountable.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584" y="365750"/>
            <a:ext cx="9753356" cy="365750"/>
          </a:xfrm>
          <a:prstGeom prst="rect">
            <a:avLst/>
          </a:prstGeom>
          <a:noFill/>
        </p:spPr>
        <p:txBody>
          <a:bodyPr wrap="square" lIns="0" rIns="0" tIns="0" bIns="0" anchor="t">
            <a:spAutoFit/>
          </a:bodyPr>
          <a:lstStyle/>
          <a:p>
            <a:pPr algn="l"/>
            <a:r>
              <a:rPr sz="1466" b="1" i="0">
                <a:solidFill>
                  <a:srgbClr val="1F5FBF"/>
                </a:solidFill>
                <a:latin typeface="Calibri"/>
              </a:rPr>
              <a:t>THE PROBLEM</a:t>
            </a:r>
          </a:p>
        </p:txBody>
      </p:sp>
      <p:sp>
        <p:nvSpPr>
          <p:cNvPr id="3" name="TextBox 2"/>
          <p:cNvSpPr txBox="1"/>
          <p:nvPr/>
        </p:nvSpPr>
        <p:spPr>
          <a:xfrm>
            <a:off x="609584" y="731501"/>
            <a:ext cx="10972525" cy="792460"/>
          </a:xfrm>
          <a:prstGeom prst="rect">
            <a:avLst/>
          </a:prstGeom>
          <a:noFill/>
        </p:spPr>
        <p:txBody>
          <a:bodyPr wrap="square" lIns="0" rIns="0" tIns="0" bIns="0" anchor="t">
            <a:spAutoFit/>
          </a:bodyPr>
          <a:lstStyle/>
          <a:p>
            <a:pPr algn="l"/>
            <a:r>
              <a:rPr sz="3733" b="1" i="0">
                <a:solidFill>
                  <a:srgbClr val="0A2540"/>
                </a:solidFill>
                <a:latin typeface="Cambria"/>
              </a:rPr>
              <a:t>Slow, variable, and hard to reconstruct</a:t>
            </a:r>
          </a:p>
        </p:txBody>
      </p:sp>
      <p:sp>
        <p:nvSpPr>
          <p:cNvPr id="4" name="TextBox 3"/>
          <p:cNvSpPr txBox="1"/>
          <p:nvPr/>
        </p:nvSpPr>
        <p:spPr>
          <a:xfrm>
            <a:off x="609584" y="6400639"/>
            <a:ext cx="7315017" cy="304792"/>
          </a:xfrm>
          <a:prstGeom prst="rect">
            <a:avLst/>
          </a:prstGeom>
          <a:noFill/>
        </p:spPr>
        <p:txBody>
          <a:bodyPr wrap="square" lIns="0" rIns="0" tIns="0" bIns="0" anchor="t">
            <a:spAutoFit/>
          </a:bodyPr>
          <a:lstStyle/>
          <a:p>
            <a:pPr algn="l"/>
            <a:r>
              <a:rPr sz="1199" b="0" i="0">
                <a:solidFill>
                  <a:srgbClr val="475569"/>
                </a:solidFill>
                <a:latin typeface="Calibri"/>
              </a:rPr>
              <a:t>Risk Assessment Workbench  |  Genius Hacks 2026</a:t>
            </a:r>
          </a:p>
        </p:txBody>
      </p:sp>
      <p:sp>
        <p:nvSpPr>
          <p:cNvPr id="5" name="TextBox 4"/>
          <p:cNvSpPr txBox="1"/>
          <p:nvPr/>
        </p:nvSpPr>
        <p:spPr>
          <a:xfrm>
            <a:off x="10972525" y="6400639"/>
            <a:ext cx="609584" cy="304792"/>
          </a:xfrm>
          <a:prstGeom prst="rect">
            <a:avLst/>
          </a:prstGeom>
          <a:noFill/>
        </p:spPr>
        <p:txBody>
          <a:bodyPr wrap="square" lIns="0" rIns="0" tIns="0" bIns="0" anchor="t">
            <a:spAutoFit/>
          </a:bodyPr>
          <a:lstStyle/>
          <a:p>
            <a:pPr algn="r"/>
            <a:r>
              <a:rPr sz="1199" b="0" i="0">
                <a:solidFill>
                  <a:srgbClr val="475569"/>
                </a:solidFill>
                <a:latin typeface="Calibri"/>
              </a:rPr>
              <a:t>2</a:t>
            </a:r>
          </a:p>
        </p:txBody>
      </p:sp>
      <p:sp>
        <p:nvSpPr>
          <p:cNvPr id="6" name="Rounded Rectangle 5"/>
          <p:cNvSpPr/>
          <p:nvPr/>
        </p:nvSpPr>
        <p:spPr>
          <a:xfrm>
            <a:off x="609584" y="1828754"/>
            <a:ext cx="3657508" cy="4267093"/>
          </a:xfrm>
          <a:prstGeom prst="roundRect">
            <a:avLst>
              <a:gd name="adj" fmla="val 2666"/>
            </a:avLst>
          </a:prstGeom>
          <a:solidFill>
            <a:srgbClr val="0A2540"/>
          </a:solidFill>
          <a:ln w="9525">
            <a:solidFill>
              <a:srgbClr val="0A254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914377" y="2011629"/>
            <a:ext cx="3047923" cy="975335"/>
          </a:xfrm>
          <a:prstGeom prst="rect">
            <a:avLst/>
          </a:prstGeom>
          <a:noFill/>
        </p:spPr>
        <p:txBody>
          <a:bodyPr wrap="square" lIns="0" rIns="0" tIns="0" bIns="0" anchor="t">
            <a:spAutoFit/>
          </a:bodyPr>
          <a:lstStyle/>
          <a:p>
            <a:pPr algn="l"/>
            <a:r>
              <a:rPr sz="5866" b="1" i="0">
                <a:solidFill>
                  <a:srgbClr val="FFFFFF"/>
                </a:solidFill>
                <a:latin typeface="Cambria"/>
              </a:rPr>
              <a:t>15-20</a:t>
            </a:r>
          </a:p>
        </p:txBody>
      </p:sp>
      <p:sp>
        <p:nvSpPr>
          <p:cNvPr id="8" name="TextBox 7"/>
          <p:cNvSpPr txBox="1"/>
          <p:nvPr/>
        </p:nvSpPr>
        <p:spPr>
          <a:xfrm>
            <a:off x="914377" y="2986965"/>
            <a:ext cx="3047923" cy="609584"/>
          </a:xfrm>
          <a:prstGeom prst="rect">
            <a:avLst/>
          </a:prstGeom>
          <a:noFill/>
        </p:spPr>
        <p:txBody>
          <a:bodyPr wrap="square" lIns="0" rIns="0" tIns="0" bIns="0" anchor="t">
            <a:spAutoFit/>
          </a:bodyPr>
          <a:lstStyle/>
          <a:p>
            <a:pPr algn="l"/>
            <a:r>
              <a:rPr sz="1733" b="0" i="0">
                <a:solidFill>
                  <a:srgbClr val="DBEAFE"/>
                </a:solidFill>
                <a:latin typeface="Calibri"/>
              </a:rPr>
              <a:t>business days: brief estimate</a:t>
            </a:r>
          </a:p>
        </p:txBody>
      </p:sp>
      <p:sp>
        <p:nvSpPr>
          <p:cNvPr id="9" name="TextBox 8"/>
          <p:cNvSpPr txBox="1"/>
          <p:nvPr/>
        </p:nvSpPr>
        <p:spPr>
          <a:xfrm>
            <a:off x="914377" y="4023259"/>
            <a:ext cx="3047923" cy="975335"/>
          </a:xfrm>
          <a:prstGeom prst="rect">
            <a:avLst/>
          </a:prstGeom>
          <a:noFill/>
        </p:spPr>
        <p:txBody>
          <a:bodyPr wrap="square" lIns="0" rIns="0" tIns="0" bIns="0" anchor="t">
            <a:spAutoFit/>
          </a:bodyPr>
          <a:lstStyle/>
          <a:p>
            <a:pPr algn="l"/>
            <a:r>
              <a:rPr sz="5866" b="1" i="0">
                <a:solidFill>
                  <a:srgbClr val="93C5FD"/>
                </a:solidFill>
                <a:latin typeface="Cambria"/>
              </a:rPr>
              <a:t>~2</a:t>
            </a:r>
          </a:p>
        </p:txBody>
      </p:sp>
      <p:sp>
        <p:nvSpPr>
          <p:cNvPr id="10" name="TextBox 9"/>
          <p:cNvSpPr txBox="1"/>
          <p:nvPr/>
        </p:nvSpPr>
        <p:spPr>
          <a:xfrm>
            <a:off x="914377" y="4998595"/>
            <a:ext cx="3047923" cy="731501"/>
          </a:xfrm>
          <a:prstGeom prst="rect">
            <a:avLst/>
          </a:prstGeom>
          <a:noFill/>
        </p:spPr>
        <p:txBody>
          <a:bodyPr wrap="square" lIns="0" rIns="0" tIns="0" bIns="0" anchor="t">
            <a:spAutoFit/>
          </a:bodyPr>
          <a:lstStyle/>
          <a:p>
            <a:pPr algn="l"/>
            <a:r>
              <a:rPr sz="1733" b="0" i="0">
                <a:solidFill>
                  <a:srgbClr val="DBEAFE"/>
                </a:solidFill>
                <a:latin typeface="Calibri"/>
              </a:rPr>
              <a:t>days: brief target, not measured</a:t>
            </a:r>
          </a:p>
        </p:txBody>
      </p:sp>
      <p:sp>
        <p:nvSpPr>
          <p:cNvPr id="11" name="Rounded Rectangle 10"/>
          <p:cNvSpPr/>
          <p:nvPr/>
        </p:nvSpPr>
        <p:spPr>
          <a:xfrm>
            <a:off x="4510927" y="1828754"/>
            <a:ext cx="3474633" cy="4267093"/>
          </a:xfrm>
          <a:prstGeom prst="roundRect">
            <a:avLst>
              <a:gd name="adj" fmla="val 2807"/>
            </a:avLst>
          </a:prstGeom>
          <a:solidFill>
            <a:srgbClr val="EFF6FF"/>
          </a:solidFill>
          <a:ln w="9525">
            <a:solidFill>
              <a:srgbClr val="C7DBF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4754761" y="2011629"/>
            <a:ext cx="3047923" cy="426709"/>
          </a:xfrm>
          <a:prstGeom prst="rect">
            <a:avLst/>
          </a:prstGeom>
          <a:noFill/>
        </p:spPr>
        <p:txBody>
          <a:bodyPr wrap="square" lIns="0" rIns="0" tIns="0" bIns="0" anchor="t">
            <a:spAutoFit/>
          </a:bodyPr>
          <a:lstStyle/>
          <a:p>
            <a:pPr algn="l"/>
            <a:r>
              <a:rPr sz="1999" b="1" i="0">
                <a:solidFill>
                  <a:srgbClr val="0A2540"/>
                </a:solidFill>
                <a:latin typeface="Calibri"/>
              </a:rPr>
              <a:t>Today</a:t>
            </a:r>
          </a:p>
        </p:txBody>
      </p:sp>
      <p:sp>
        <p:nvSpPr>
          <p:cNvPr id="13" name="TextBox 12"/>
          <p:cNvSpPr txBox="1"/>
          <p:nvPr/>
        </p:nvSpPr>
        <p:spPr>
          <a:xfrm>
            <a:off x="4754761" y="2560255"/>
            <a:ext cx="3047923" cy="3413674"/>
          </a:xfrm>
          <a:prstGeom prst="rect">
            <a:avLst/>
          </a:prstGeom>
          <a:noFill/>
        </p:spPr>
        <p:txBody>
          <a:bodyPr wrap="square" lIns="0" rIns="0" tIns="0" bIns="0" anchor="t">
            <a:spAutoFit/>
          </a:bodyPr>
          <a:lstStyle/>
          <a:p>
            <a:pPr marL="182880" indent="-182880">
              <a:spcAft>
                <a:spcPts val="666"/>
              </a:spcAft>
              <a:buChar char="•"/>
            </a:pPr>
            <a:r>
              <a:rPr sz="1866">
                <a:solidFill>
                  <a:srgbClr val="0A2540"/>
                </a:solidFill>
                <a:latin typeface="Calibri"/>
              </a:rPr>
              <a:t>Email, Word, Excel, SharePoint</a:t>
            </a:r>
          </a:p>
          <a:p>
            <a:pPr marL="182880" indent="-182880">
              <a:spcAft>
                <a:spcPts val="666"/>
              </a:spcAft>
              <a:buChar char="•"/>
            </a:pPr>
            <a:r>
              <a:rPr sz="1866">
                <a:solidFill>
                  <a:srgbClr val="0A2540"/>
                </a:solidFill>
                <a:latin typeface="Calibri"/>
              </a:rPr>
              <a:t>Different analysts reach different conclusions</a:t>
            </a:r>
          </a:p>
          <a:p>
            <a:pPr marL="182880" indent="-182880">
              <a:spcAft>
                <a:spcPts val="666"/>
              </a:spcAft>
              <a:buChar char="•"/>
            </a:pPr>
            <a:r>
              <a:rPr sz="1866">
                <a:solidFill>
                  <a:srgbClr val="0A2540"/>
                </a:solidFill>
                <a:latin typeface="Calibri"/>
              </a:rPr>
              <a:t>Examiner asks why it was rated this way: evidence is scattered and slow to rebuild</a:t>
            </a:r>
          </a:p>
        </p:txBody>
      </p:sp>
      <p:sp>
        <p:nvSpPr>
          <p:cNvPr id="14" name="Rounded Rectangle 13"/>
          <p:cNvSpPr/>
          <p:nvPr/>
        </p:nvSpPr>
        <p:spPr>
          <a:xfrm>
            <a:off x="8168435" y="1828754"/>
            <a:ext cx="3413674" cy="4267093"/>
          </a:xfrm>
          <a:prstGeom prst="roundRect">
            <a:avLst>
              <a:gd name="adj" fmla="val 2857"/>
            </a:avLst>
          </a:prstGeom>
          <a:solidFill>
            <a:srgbClr val="EFF6FF"/>
          </a:solidFill>
          <a:ln w="9525">
            <a:solidFill>
              <a:srgbClr val="C7DBF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8412269" y="2011629"/>
            <a:ext cx="2926006" cy="426709"/>
          </a:xfrm>
          <a:prstGeom prst="rect">
            <a:avLst/>
          </a:prstGeom>
          <a:noFill/>
        </p:spPr>
        <p:txBody>
          <a:bodyPr wrap="square" lIns="0" rIns="0" tIns="0" bIns="0" anchor="t">
            <a:spAutoFit/>
          </a:bodyPr>
          <a:lstStyle/>
          <a:p>
            <a:pPr algn="l"/>
            <a:r>
              <a:rPr sz="1999" b="1" i="0">
                <a:solidFill>
                  <a:srgbClr val="0A2540"/>
                </a:solidFill>
                <a:latin typeface="Calibri"/>
              </a:rPr>
              <a:t>Our response</a:t>
            </a:r>
          </a:p>
        </p:txBody>
      </p:sp>
      <p:sp>
        <p:nvSpPr>
          <p:cNvPr id="16" name="TextBox 15"/>
          <p:cNvSpPr txBox="1"/>
          <p:nvPr/>
        </p:nvSpPr>
        <p:spPr>
          <a:xfrm>
            <a:off x="8412269" y="2560255"/>
            <a:ext cx="2926006" cy="3413674"/>
          </a:xfrm>
          <a:prstGeom prst="rect">
            <a:avLst/>
          </a:prstGeom>
          <a:noFill/>
        </p:spPr>
        <p:txBody>
          <a:bodyPr wrap="square" lIns="0" rIns="0" tIns="0" bIns="0" anchor="t">
            <a:spAutoFit/>
          </a:bodyPr>
          <a:lstStyle/>
          <a:p>
            <a:pPr marL="182880" indent="-182880">
              <a:spcAft>
                <a:spcPts val="666"/>
              </a:spcAft>
              <a:buChar char="•"/>
            </a:pPr>
            <a:r>
              <a:rPr sz="1866">
                <a:solidFill>
                  <a:srgbClr val="0A2540"/>
                </a:solidFill>
                <a:latin typeface="Calibri"/>
              </a:rPr>
              <a:t>One governed case record</a:t>
            </a:r>
          </a:p>
          <a:p>
            <a:pPr marL="182880" indent="-182880">
              <a:spcAft>
                <a:spcPts val="666"/>
              </a:spcAft>
              <a:buChar char="•"/>
            </a:pPr>
            <a:r>
              <a:rPr sz="1866">
                <a:solidFill>
                  <a:srgbClr val="0A2540"/>
                </a:solidFill>
                <a:latin typeface="Calibri"/>
              </a:rPr>
              <a:t>AI structures the evidence</a:t>
            </a:r>
          </a:p>
          <a:p>
            <a:pPr marL="182880" indent="-182880">
              <a:spcAft>
                <a:spcPts val="666"/>
              </a:spcAft>
              <a:buChar char="•"/>
            </a:pPr>
            <a:r>
              <a:rPr sz="1866">
                <a:solidFill>
                  <a:srgbClr val="0A2540"/>
                </a:solidFill>
                <a:latin typeface="Calibri"/>
              </a:rPr>
              <a:t>Humans own the decision</a:t>
            </a:r>
          </a:p>
          <a:p>
            <a:pPr marL="182880" indent="-182880">
              <a:spcAft>
                <a:spcPts val="666"/>
              </a:spcAft>
              <a:buChar char="•"/>
            </a:pPr>
            <a:r>
              <a:rPr sz="1866">
                <a:solidFill>
                  <a:srgbClr val="0A2540"/>
                </a:solidFill>
                <a:latin typeface="Calibri"/>
              </a:rPr>
              <a:t>Every rating traceable to inputs and reasoning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584" y="365750"/>
            <a:ext cx="9753356" cy="365750"/>
          </a:xfrm>
          <a:prstGeom prst="rect">
            <a:avLst/>
          </a:prstGeom>
          <a:noFill/>
        </p:spPr>
        <p:txBody>
          <a:bodyPr wrap="square" lIns="0" rIns="0" tIns="0" bIns="0" anchor="t">
            <a:spAutoFit/>
          </a:bodyPr>
          <a:lstStyle/>
          <a:p>
            <a:pPr algn="l"/>
            <a:r>
              <a:rPr sz="1466" b="1" i="0">
                <a:solidFill>
                  <a:srgbClr val="1F5FBF"/>
                </a:solidFill>
                <a:latin typeface="Calibri"/>
              </a:rPr>
              <a:t>ARCHITECTURE</a:t>
            </a:r>
          </a:p>
        </p:txBody>
      </p:sp>
      <p:sp>
        <p:nvSpPr>
          <p:cNvPr id="3" name="TextBox 2"/>
          <p:cNvSpPr txBox="1"/>
          <p:nvPr/>
        </p:nvSpPr>
        <p:spPr>
          <a:xfrm>
            <a:off x="609584" y="731501"/>
            <a:ext cx="10972525" cy="792460"/>
          </a:xfrm>
          <a:prstGeom prst="rect">
            <a:avLst/>
          </a:prstGeom>
          <a:noFill/>
        </p:spPr>
        <p:txBody>
          <a:bodyPr wrap="square" lIns="0" rIns="0" tIns="0" bIns="0" anchor="t">
            <a:spAutoFit/>
          </a:bodyPr>
          <a:lstStyle/>
          <a:p>
            <a:pPr algn="l"/>
            <a:r>
              <a:rPr sz="3733" b="1" i="0">
                <a:solidFill>
                  <a:srgbClr val="0A2540"/>
                </a:solidFill>
                <a:latin typeface="Cambria"/>
              </a:rPr>
              <a:t>A deliberately narrow AI boundary</a:t>
            </a:r>
          </a:p>
        </p:txBody>
      </p:sp>
      <p:sp>
        <p:nvSpPr>
          <p:cNvPr id="4" name="TextBox 3"/>
          <p:cNvSpPr txBox="1"/>
          <p:nvPr/>
        </p:nvSpPr>
        <p:spPr>
          <a:xfrm>
            <a:off x="609584" y="6400639"/>
            <a:ext cx="7315017" cy="304792"/>
          </a:xfrm>
          <a:prstGeom prst="rect">
            <a:avLst/>
          </a:prstGeom>
          <a:noFill/>
        </p:spPr>
        <p:txBody>
          <a:bodyPr wrap="square" lIns="0" rIns="0" tIns="0" bIns="0" anchor="t">
            <a:spAutoFit/>
          </a:bodyPr>
          <a:lstStyle/>
          <a:p>
            <a:pPr algn="l"/>
            <a:r>
              <a:rPr sz="1199" b="0" i="0">
                <a:solidFill>
                  <a:srgbClr val="475569"/>
                </a:solidFill>
                <a:latin typeface="Calibri"/>
              </a:rPr>
              <a:t>Risk Assessment Workbench  |  Genius Hacks 2026</a:t>
            </a:r>
          </a:p>
        </p:txBody>
      </p:sp>
      <p:sp>
        <p:nvSpPr>
          <p:cNvPr id="5" name="TextBox 4"/>
          <p:cNvSpPr txBox="1"/>
          <p:nvPr/>
        </p:nvSpPr>
        <p:spPr>
          <a:xfrm>
            <a:off x="10972525" y="6400639"/>
            <a:ext cx="609584" cy="304792"/>
          </a:xfrm>
          <a:prstGeom prst="rect">
            <a:avLst/>
          </a:prstGeom>
          <a:noFill/>
        </p:spPr>
        <p:txBody>
          <a:bodyPr wrap="square" lIns="0" rIns="0" tIns="0" bIns="0" anchor="t">
            <a:spAutoFit/>
          </a:bodyPr>
          <a:lstStyle/>
          <a:p>
            <a:pPr algn="r"/>
            <a:r>
              <a:rPr sz="1199" b="0" i="0">
                <a:solidFill>
                  <a:srgbClr val="475569"/>
                </a:solidFill>
                <a:latin typeface="Calibri"/>
              </a:rPr>
              <a:t>3</a:t>
            </a:r>
          </a:p>
        </p:txBody>
      </p:sp>
      <p:sp>
        <p:nvSpPr>
          <p:cNvPr id="6" name="Rounded Rectangle 5"/>
          <p:cNvSpPr/>
          <p:nvPr/>
        </p:nvSpPr>
        <p:spPr>
          <a:xfrm>
            <a:off x="792460" y="1889712"/>
            <a:ext cx="1463003" cy="853418"/>
          </a:xfrm>
          <a:prstGeom prst="roundRect">
            <a:avLst>
              <a:gd name="adj" fmla="val 11428"/>
            </a:avLst>
          </a:prstGeom>
          <a:solidFill>
            <a:srgbClr val="EFF6FF"/>
          </a:solidFill>
          <a:ln w="9525">
            <a:solidFill>
              <a:srgbClr val="C7DBF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792460" y="1889712"/>
            <a:ext cx="1463003" cy="853418"/>
          </a:xfrm>
          <a:prstGeom prst="rect">
            <a:avLst/>
          </a:prstGeom>
          <a:noFill/>
        </p:spPr>
        <p:txBody>
          <a:bodyPr wrap="square" lIns="0" rIns="0" tIns="0" bIns="0" anchor="ctr">
            <a:spAutoFit/>
          </a:bodyPr>
          <a:lstStyle/>
          <a:p>
            <a:pPr algn="ctr"/>
            <a:r>
              <a:rPr sz="1866" b="1" i="0">
                <a:solidFill>
                  <a:srgbClr val="0A2540"/>
                </a:solidFill>
                <a:latin typeface="Calibri"/>
              </a:rPr>
              <a:t>PDF</a:t>
            </a:r>
          </a:p>
        </p:txBody>
      </p:sp>
      <p:sp>
        <p:nvSpPr>
          <p:cNvPr id="8" name="TextBox 7"/>
          <p:cNvSpPr txBox="1"/>
          <p:nvPr/>
        </p:nvSpPr>
        <p:spPr>
          <a:xfrm>
            <a:off x="2255463" y="1889712"/>
            <a:ext cx="365750" cy="853418"/>
          </a:xfrm>
          <a:prstGeom prst="rect">
            <a:avLst/>
          </a:prstGeom>
          <a:noFill/>
        </p:spPr>
        <p:txBody>
          <a:bodyPr wrap="square" lIns="0" rIns="0" tIns="0" bIns="0" anchor="ctr">
            <a:spAutoFit/>
          </a:bodyPr>
          <a:lstStyle/>
          <a:p>
            <a:pPr algn="ctr"/>
            <a:r>
              <a:rPr sz="2133" b="0" i="0">
                <a:solidFill>
                  <a:srgbClr val="1F5FBF"/>
                </a:solidFill>
                <a:latin typeface="Calibri"/>
              </a:rPr>
              <a:t>→</a:t>
            </a:r>
          </a:p>
        </p:txBody>
      </p:sp>
      <p:sp>
        <p:nvSpPr>
          <p:cNvPr id="9" name="Rounded Rectangle 8"/>
          <p:cNvSpPr/>
          <p:nvPr/>
        </p:nvSpPr>
        <p:spPr>
          <a:xfrm>
            <a:off x="2621214" y="1889712"/>
            <a:ext cx="1463003" cy="853418"/>
          </a:xfrm>
          <a:prstGeom prst="roundRect">
            <a:avLst>
              <a:gd name="adj" fmla="val 11428"/>
            </a:avLst>
          </a:prstGeom>
          <a:solidFill>
            <a:srgbClr val="EFF6FF"/>
          </a:solidFill>
          <a:ln w="9525">
            <a:solidFill>
              <a:srgbClr val="C7DBF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2621214" y="1889712"/>
            <a:ext cx="1463003" cy="853418"/>
          </a:xfrm>
          <a:prstGeom prst="rect">
            <a:avLst/>
          </a:prstGeom>
          <a:noFill/>
        </p:spPr>
        <p:txBody>
          <a:bodyPr wrap="square" lIns="0" rIns="0" tIns="0" bIns="0" anchor="ctr">
            <a:spAutoFit/>
          </a:bodyPr>
          <a:lstStyle/>
          <a:p>
            <a:pPr algn="ctr"/>
            <a:r>
              <a:rPr sz="1866" b="1" i="0">
                <a:solidFill>
                  <a:srgbClr val="0A2540"/>
                </a:solidFill>
                <a:latin typeface="Calibri"/>
              </a:rPr>
              <a:t>pypdf</a:t>
            </a:r>
          </a:p>
        </p:txBody>
      </p:sp>
      <p:sp>
        <p:nvSpPr>
          <p:cNvPr id="11" name="TextBox 10"/>
          <p:cNvSpPr txBox="1"/>
          <p:nvPr/>
        </p:nvSpPr>
        <p:spPr>
          <a:xfrm>
            <a:off x="4084217" y="1889712"/>
            <a:ext cx="365750" cy="853418"/>
          </a:xfrm>
          <a:prstGeom prst="rect">
            <a:avLst/>
          </a:prstGeom>
          <a:noFill/>
        </p:spPr>
        <p:txBody>
          <a:bodyPr wrap="square" lIns="0" rIns="0" tIns="0" bIns="0" anchor="ctr">
            <a:spAutoFit/>
          </a:bodyPr>
          <a:lstStyle/>
          <a:p>
            <a:pPr algn="ctr"/>
            <a:r>
              <a:rPr sz="2133" b="0" i="0">
                <a:solidFill>
                  <a:srgbClr val="1F5FBF"/>
                </a:solidFill>
                <a:latin typeface="Calibri"/>
              </a:rPr>
              <a:t>→</a:t>
            </a:r>
          </a:p>
        </p:txBody>
      </p:sp>
      <p:sp>
        <p:nvSpPr>
          <p:cNvPr id="12" name="Rounded Rectangle 11"/>
          <p:cNvSpPr/>
          <p:nvPr/>
        </p:nvSpPr>
        <p:spPr>
          <a:xfrm>
            <a:off x="4449968" y="1889712"/>
            <a:ext cx="1463003" cy="853418"/>
          </a:xfrm>
          <a:prstGeom prst="roundRect">
            <a:avLst>
              <a:gd name="adj" fmla="val 11428"/>
            </a:avLst>
          </a:prstGeom>
          <a:solidFill>
            <a:srgbClr val="93C5FD"/>
          </a:solidFill>
          <a:ln w="9525">
            <a:solidFill>
              <a:srgbClr val="93C5F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4449968" y="1889712"/>
            <a:ext cx="1463003" cy="853418"/>
          </a:xfrm>
          <a:prstGeom prst="rect">
            <a:avLst/>
          </a:prstGeom>
          <a:noFill/>
        </p:spPr>
        <p:txBody>
          <a:bodyPr wrap="square" lIns="0" rIns="0" tIns="0" bIns="0" anchor="ctr">
            <a:spAutoFit/>
          </a:bodyPr>
          <a:lstStyle/>
          <a:p>
            <a:pPr algn="ctr"/>
            <a:r>
              <a:rPr sz="1866" b="1" i="0">
                <a:solidFill>
                  <a:srgbClr val="0A2540"/>
                </a:solidFill>
                <a:latin typeface="Calibri"/>
              </a:rPr>
              <a:t>LLM JSON</a:t>
            </a:r>
          </a:p>
        </p:txBody>
      </p:sp>
      <p:sp>
        <p:nvSpPr>
          <p:cNvPr id="14" name="TextBox 13"/>
          <p:cNvSpPr txBox="1"/>
          <p:nvPr/>
        </p:nvSpPr>
        <p:spPr>
          <a:xfrm>
            <a:off x="5912972" y="1889712"/>
            <a:ext cx="365750" cy="853418"/>
          </a:xfrm>
          <a:prstGeom prst="rect">
            <a:avLst/>
          </a:prstGeom>
          <a:noFill/>
        </p:spPr>
        <p:txBody>
          <a:bodyPr wrap="square" lIns="0" rIns="0" tIns="0" bIns="0" anchor="ctr">
            <a:spAutoFit/>
          </a:bodyPr>
          <a:lstStyle/>
          <a:p>
            <a:pPr algn="ctr"/>
            <a:r>
              <a:rPr sz="2133" b="0" i="0">
                <a:solidFill>
                  <a:srgbClr val="1F5FBF"/>
                </a:solidFill>
                <a:latin typeface="Calibri"/>
              </a:rPr>
              <a:t>→</a:t>
            </a:r>
          </a:p>
        </p:txBody>
      </p:sp>
      <p:sp>
        <p:nvSpPr>
          <p:cNvPr id="15" name="Rounded Rectangle 14"/>
          <p:cNvSpPr/>
          <p:nvPr/>
        </p:nvSpPr>
        <p:spPr>
          <a:xfrm>
            <a:off x="6278723" y="1889712"/>
            <a:ext cx="1463003" cy="853418"/>
          </a:xfrm>
          <a:prstGeom prst="roundRect">
            <a:avLst>
              <a:gd name="adj" fmla="val 11428"/>
            </a:avLst>
          </a:prstGeom>
          <a:solidFill>
            <a:srgbClr val="0A2540"/>
          </a:solidFill>
          <a:ln w="9525">
            <a:solidFill>
              <a:srgbClr val="0A254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6278723" y="1889712"/>
            <a:ext cx="1463003" cy="853418"/>
          </a:xfrm>
          <a:prstGeom prst="rect">
            <a:avLst/>
          </a:prstGeom>
          <a:noFill/>
        </p:spPr>
        <p:txBody>
          <a:bodyPr wrap="square" lIns="0" rIns="0" tIns="0" bIns="0" anchor="ctr">
            <a:spAutoFit/>
          </a:bodyPr>
          <a:lstStyle/>
          <a:p>
            <a:pPr algn="ctr"/>
            <a:r>
              <a:rPr sz="1866" b="1" i="0">
                <a:solidFill>
                  <a:srgbClr val="FFFFFF"/>
                </a:solidFill>
                <a:latin typeface="Calibri"/>
              </a:rPr>
              <a:t>Rules</a:t>
            </a:r>
          </a:p>
        </p:txBody>
      </p:sp>
      <p:sp>
        <p:nvSpPr>
          <p:cNvPr id="17" name="TextBox 16"/>
          <p:cNvSpPr txBox="1"/>
          <p:nvPr/>
        </p:nvSpPr>
        <p:spPr>
          <a:xfrm>
            <a:off x="7741726" y="1889712"/>
            <a:ext cx="365750" cy="853418"/>
          </a:xfrm>
          <a:prstGeom prst="rect">
            <a:avLst/>
          </a:prstGeom>
          <a:noFill/>
        </p:spPr>
        <p:txBody>
          <a:bodyPr wrap="square" lIns="0" rIns="0" tIns="0" bIns="0" anchor="ctr">
            <a:spAutoFit/>
          </a:bodyPr>
          <a:lstStyle/>
          <a:p>
            <a:pPr algn="ctr"/>
            <a:r>
              <a:rPr sz="2133" b="0" i="0">
                <a:solidFill>
                  <a:srgbClr val="1F5FBF"/>
                </a:solidFill>
                <a:latin typeface="Calibri"/>
              </a:rPr>
              <a:t>→</a:t>
            </a:r>
          </a:p>
        </p:txBody>
      </p:sp>
      <p:sp>
        <p:nvSpPr>
          <p:cNvPr id="18" name="Rounded Rectangle 17"/>
          <p:cNvSpPr/>
          <p:nvPr/>
        </p:nvSpPr>
        <p:spPr>
          <a:xfrm>
            <a:off x="8107477" y="1889712"/>
            <a:ext cx="1463003" cy="853418"/>
          </a:xfrm>
          <a:prstGeom prst="roundRect">
            <a:avLst>
              <a:gd name="adj" fmla="val 11428"/>
            </a:avLst>
          </a:prstGeom>
          <a:solidFill>
            <a:srgbClr val="EFF6FF"/>
          </a:solidFill>
          <a:ln w="9525">
            <a:solidFill>
              <a:srgbClr val="C7DBF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8107477" y="1889712"/>
            <a:ext cx="1463003" cy="853418"/>
          </a:xfrm>
          <a:prstGeom prst="rect">
            <a:avLst/>
          </a:prstGeom>
          <a:noFill/>
        </p:spPr>
        <p:txBody>
          <a:bodyPr wrap="square" lIns="0" rIns="0" tIns="0" bIns="0" anchor="ctr">
            <a:spAutoFit/>
          </a:bodyPr>
          <a:lstStyle/>
          <a:p>
            <a:pPr algn="ctr"/>
            <a:r>
              <a:rPr sz="1866" b="1" i="0">
                <a:solidFill>
                  <a:srgbClr val="0A2540"/>
                </a:solidFill>
                <a:latin typeface="Calibri"/>
              </a:rPr>
              <a:t>SQLite</a:t>
            </a:r>
          </a:p>
        </p:txBody>
      </p:sp>
      <p:sp>
        <p:nvSpPr>
          <p:cNvPr id="20" name="TextBox 19"/>
          <p:cNvSpPr txBox="1"/>
          <p:nvPr/>
        </p:nvSpPr>
        <p:spPr>
          <a:xfrm>
            <a:off x="9570480" y="1889712"/>
            <a:ext cx="365750" cy="853418"/>
          </a:xfrm>
          <a:prstGeom prst="rect">
            <a:avLst/>
          </a:prstGeom>
          <a:noFill/>
        </p:spPr>
        <p:txBody>
          <a:bodyPr wrap="square" lIns="0" rIns="0" tIns="0" bIns="0" anchor="ctr">
            <a:spAutoFit/>
          </a:bodyPr>
          <a:lstStyle/>
          <a:p>
            <a:pPr algn="ctr"/>
            <a:r>
              <a:rPr sz="2133" b="0" i="0">
                <a:solidFill>
                  <a:srgbClr val="1F5FBF"/>
                </a:solidFill>
                <a:latin typeface="Calibri"/>
              </a:rPr>
              <a:t>→</a:t>
            </a:r>
          </a:p>
        </p:txBody>
      </p:sp>
      <p:sp>
        <p:nvSpPr>
          <p:cNvPr id="21" name="Rounded Rectangle 20"/>
          <p:cNvSpPr/>
          <p:nvPr/>
        </p:nvSpPr>
        <p:spPr>
          <a:xfrm>
            <a:off x="9936231" y="1889712"/>
            <a:ext cx="1463003" cy="853418"/>
          </a:xfrm>
          <a:prstGeom prst="roundRect">
            <a:avLst>
              <a:gd name="adj" fmla="val 11428"/>
            </a:avLst>
          </a:prstGeom>
          <a:solidFill>
            <a:srgbClr val="1F5FBF"/>
          </a:solidFill>
          <a:ln w="9525">
            <a:solidFill>
              <a:srgbClr val="1F5FB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9936231" y="1889712"/>
            <a:ext cx="1463003" cy="853418"/>
          </a:xfrm>
          <a:prstGeom prst="rect">
            <a:avLst/>
          </a:prstGeom>
          <a:noFill/>
        </p:spPr>
        <p:txBody>
          <a:bodyPr wrap="square" lIns="0" rIns="0" tIns="0" bIns="0" anchor="ctr">
            <a:spAutoFit/>
          </a:bodyPr>
          <a:lstStyle/>
          <a:p>
            <a:pPr algn="ctr"/>
            <a:r>
              <a:rPr sz="1866" b="1" i="0">
                <a:solidFill>
                  <a:srgbClr val="FFFFFF"/>
                </a:solidFill>
                <a:latin typeface="Calibri"/>
              </a:rPr>
              <a:t>Review</a:t>
            </a:r>
          </a:p>
        </p:txBody>
      </p:sp>
      <p:sp>
        <p:nvSpPr>
          <p:cNvPr id="23" name="Rounded Rectangle 22"/>
          <p:cNvSpPr/>
          <p:nvPr/>
        </p:nvSpPr>
        <p:spPr>
          <a:xfrm>
            <a:off x="792460" y="3047923"/>
            <a:ext cx="268217" cy="268217"/>
          </a:xfrm>
          <a:prstGeom prst="roundRect">
            <a:avLst>
              <a:gd name="adj" fmla="val 36363"/>
            </a:avLst>
          </a:prstGeom>
          <a:solidFill>
            <a:srgbClr val="93C5FD"/>
          </a:solidFill>
          <a:ln w="9525">
            <a:solidFill>
              <a:srgbClr val="93C5F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1182594" y="2974773"/>
            <a:ext cx="2560255" cy="414517"/>
          </a:xfrm>
          <a:prstGeom prst="rect">
            <a:avLst/>
          </a:prstGeom>
          <a:noFill/>
        </p:spPr>
        <p:txBody>
          <a:bodyPr wrap="square" lIns="0" rIns="0" tIns="0" bIns="0" anchor="ctr">
            <a:spAutoFit/>
          </a:bodyPr>
          <a:lstStyle/>
          <a:p>
            <a:pPr algn="l"/>
            <a:r>
              <a:rPr sz="1599" b="0" i="0">
                <a:solidFill>
                  <a:srgbClr val="475569"/>
                </a:solidFill>
                <a:latin typeface="Calibri"/>
              </a:rPr>
              <a:t>Probabilistic (AI)</a:t>
            </a:r>
          </a:p>
        </p:txBody>
      </p:sp>
      <p:sp>
        <p:nvSpPr>
          <p:cNvPr id="25" name="Rounded Rectangle 24"/>
          <p:cNvSpPr/>
          <p:nvPr/>
        </p:nvSpPr>
        <p:spPr>
          <a:xfrm>
            <a:off x="3962300" y="3047923"/>
            <a:ext cx="268217" cy="268217"/>
          </a:xfrm>
          <a:prstGeom prst="roundRect">
            <a:avLst>
              <a:gd name="adj" fmla="val 36363"/>
            </a:avLst>
          </a:prstGeom>
          <a:solidFill>
            <a:srgbClr val="0A2540"/>
          </a:solidFill>
          <a:ln w="9525">
            <a:solidFill>
              <a:srgbClr val="0A254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TextBox 25"/>
          <p:cNvSpPr txBox="1"/>
          <p:nvPr/>
        </p:nvSpPr>
        <p:spPr>
          <a:xfrm>
            <a:off x="4352435" y="2974773"/>
            <a:ext cx="2560255" cy="414517"/>
          </a:xfrm>
          <a:prstGeom prst="rect">
            <a:avLst/>
          </a:prstGeom>
          <a:noFill/>
        </p:spPr>
        <p:txBody>
          <a:bodyPr wrap="square" lIns="0" rIns="0" tIns="0" bIns="0" anchor="ctr">
            <a:spAutoFit/>
          </a:bodyPr>
          <a:lstStyle/>
          <a:p>
            <a:pPr algn="l"/>
            <a:r>
              <a:rPr sz="1599" b="0" i="0">
                <a:solidFill>
                  <a:srgbClr val="475569"/>
                </a:solidFill>
                <a:latin typeface="Calibri"/>
              </a:rPr>
              <a:t>Deterministic (code)</a:t>
            </a:r>
          </a:p>
        </p:txBody>
      </p:sp>
      <p:sp>
        <p:nvSpPr>
          <p:cNvPr id="27" name="Rounded Rectangle 26"/>
          <p:cNvSpPr/>
          <p:nvPr/>
        </p:nvSpPr>
        <p:spPr>
          <a:xfrm>
            <a:off x="7132141" y="3047923"/>
            <a:ext cx="268217" cy="268217"/>
          </a:xfrm>
          <a:prstGeom prst="roundRect">
            <a:avLst>
              <a:gd name="adj" fmla="val 36363"/>
            </a:avLst>
          </a:prstGeom>
          <a:solidFill>
            <a:srgbClr val="1F5FBF"/>
          </a:solidFill>
          <a:ln w="9525">
            <a:solidFill>
              <a:srgbClr val="1F5FB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TextBox 27"/>
          <p:cNvSpPr txBox="1"/>
          <p:nvPr/>
        </p:nvSpPr>
        <p:spPr>
          <a:xfrm>
            <a:off x="7522275" y="2974773"/>
            <a:ext cx="2560255" cy="414517"/>
          </a:xfrm>
          <a:prstGeom prst="rect">
            <a:avLst/>
          </a:prstGeom>
          <a:noFill/>
        </p:spPr>
        <p:txBody>
          <a:bodyPr wrap="square" lIns="0" rIns="0" tIns="0" bIns="0" anchor="ctr">
            <a:spAutoFit/>
          </a:bodyPr>
          <a:lstStyle/>
          <a:p>
            <a:pPr algn="l"/>
            <a:r>
              <a:rPr sz="1599" b="0" i="0">
                <a:solidFill>
                  <a:srgbClr val="475569"/>
                </a:solidFill>
                <a:latin typeface="Calibri"/>
              </a:rPr>
              <a:t>Human</a:t>
            </a:r>
          </a:p>
        </p:txBody>
      </p:sp>
      <p:sp>
        <p:nvSpPr>
          <p:cNvPr id="29" name="Rounded Rectangle 28"/>
          <p:cNvSpPr/>
          <p:nvPr/>
        </p:nvSpPr>
        <p:spPr>
          <a:xfrm>
            <a:off x="609584" y="3657508"/>
            <a:ext cx="5364345" cy="2438339"/>
          </a:xfrm>
          <a:prstGeom prst="roundRect">
            <a:avLst>
              <a:gd name="adj" fmla="val 4000"/>
            </a:avLst>
          </a:prstGeom>
          <a:solidFill>
            <a:srgbClr val="EFF6FF"/>
          </a:solidFill>
          <a:ln w="9525">
            <a:solidFill>
              <a:srgbClr val="C7DBF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853418" y="3803808"/>
            <a:ext cx="4876678" cy="426709"/>
          </a:xfrm>
          <a:prstGeom prst="rect">
            <a:avLst/>
          </a:prstGeom>
          <a:noFill/>
        </p:spPr>
        <p:txBody>
          <a:bodyPr wrap="square" lIns="0" rIns="0" tIns="0" bIns="0" anchor="t">
            <a:spAutoFit/>
          </a:bodyPr>
          <a:lstStyle/>
          <a:p>
            <a:pPr algn="l"/>
            <a:r>
              <a:rPr sz="1999" b="1" i="0">
                <a:solidFill>
                  <a:srgbClr val="0A2540"/>
                </a:solidFill>
                <a:latin typeface="Calibri"/>
              </a:rPr>
              <a:t>AI does</a:t>
            </a:r>
          </a:p>
        </p:txBody>
      </p:sp>
      <p:sp>
        <p:nvSpPr>
          <p:cNvPr id="31" name="TextBox 30"/>
          <p:cNvSpPr txBox="1"/>
          <p:nvPr/>
        </p:nvSpPr>
        <p:spPr>
          <a:xfrm>
            <a:off x="853418" y="4328051"/>
            <a:ext cx="4876678" cy="1645878"/>
          </a:xfrm>
          <a:prstGeom prst="rect">
            <a:avLst/>
          </a:prstGeom>
          <a:noFill/>
        </p:spPr>
        <p:txBody>
          <a:bodyPr wrap="square" lIns="0" rIns="0" tIns="0" bIns="0" anchor="t">
            <a:spAutoFit/>
          </a:bodyPr>
          <a:lstStyle/>
          <a:p>
            <a:pPr marL="182880" indent="-182880">
              <a:spcAft>
                <a:spcPts val="666"/>
              </a:spcAft>
              <a:buChar char="•"/>
            </a:pPr>
            <a:r>
              <a:rPr sz="1733">
                <a:solidFill>
                  <a:srgbClr val="0A2540"/>
                </a:solidFill>
                <a:latin typeface="Calibri"/>
              </a:rPr>
              <a:t>Extract structure from unstructured text</a:t>
            </a:r>
          </a:p>
          <a:p>
            <a:pPr marL="182880" indent="-182880">
              <a:spcAft>
                <a:spcPts val="666"/>
              </a:spcAft>
              <a:buChar char="•"/>
            </a:pPr>
            <a:r>
              <a:rPr sz="1733">
                <a:solidFill>
                  <a:srgbClr val="0A2540"/>
                </a:solidFill>
                <a:latin typeface="Calibri"/>
              </a:rPr>
              <a:t>Identify stated risk factors</a:t>
            </a:r>
          </a:p>
          <a:p>
            <a:pPr marL="182880" indent="-182880">
              <a:spcAft>
                <a:spcPts val="666"/>
              </a:spcAft>
              <a:buChar char="•"/>
            </a:pPr>
            <a:r>
              <a:rPr sz="1733">
                <a:solidFill>
                  <a:srgbClr val="0A2540"/>
                </a:solidFill>
                <a:latin typeface="Calibri"/>
              </a:rPr>
              <a:t>Attempt semantic policy retrieval when configured</a:t>
            </a:r>
          </a:p>
        </p:txBody>
      </p:sp>
      <p:sp>
        <p:nvSpPr>
          <p:cNvPr id="32" name="Rounded Rectangle 31"/>
          <p:cNvSpPr/>
          <p:nvPr/>
        </p:nvSpPr>
        <p:spPr>
          <a:xfrm>
            <a:off x="6217764" y="3657508"/>
            <a:ext cx="5364345" cy="2438339"/>
          </a:xfrm>
          <a:prstGeom prst="roundRect">
            <a:avLst>
              <a:gd name="adj" fmla="val 4000"/>
            </a:avLst>
          </a:prstGeom>
          <a:solidFill>
            <a:srgbClr val="EFF6FF"/>
          </a:solidFill>
          <a:ln w="9525">
            <a:solidFill>
              <a:srgbClr val="C7DBF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TextBox 32"/>
          <p:cNvSpPr txBox="1"/>
          <p:nvPr/>
        </p:nvSpPr>
        <p:spPr>
          <a:xfrm>
            <a:off x="6461598" y="3803808"/>
            <a:ext cx="4876678" cy="426709"/>
          </a:xfrm>
          <a:prstGeom prst="rect">
            <a:avLst/>
          </a:prstGeom>
          <a:noFill/>
        </p:spPr>
        <p:txBody>
          <a:bodyPr wrap="square" lIns="0" rIns="0" tIns="0" bIns="0" anchor="t">
            <a:spAutoFit/>
          </a:bodyPr>
          <a:lstStyle/>
          <a:p>
            <a:pPr algn="l"/>
            <a:r>
              <a:rPr sz="1999" b="1" i="0">
                <a:solidFill>
                  <a:srgbClr val="0A2540"/>
                </a:solidFill>
                <a:latin typeface="Calibri"/>
              </a:rPr>
              <a:t>Code does</a:t>
            </a:r>
          </a:p>
        </p:txBody>
      </p:sp>
      <p:sp>
        <p:nvSpPr>
          <p:cNvPr id="34" name="TextBox 33"/>
          <p:cNvSpPr txBox="1"/>
          <p:nvPr/>
        </p:nvSpPr>
        <p:spPr>
          <a:xfrm>
            <a:off x="6461598" y="4328051"/>
            <a:ext cx="4876678" cy="1645878"/>
          </a:xfrm>
          <a:prstGeom prst="rect">
            <a:avLst/>
          </a:prstGeom>
          <a:noFill/>
        </p:spPr>
        <p:txBody>
          <a:bodyPr wrap="square" lIns="0" rIns="0" tIns="0" bIns="0" anchor="t">
            <a:spAutoFit/>
          </a:bodyPr>
          <a:lstStyle/>
          <a:p>
            <a:pPr marL="182880" indent="-182880">
              <a:spcAft>
                <a:spcPts val="666"/>
              </a:spcAft>
              <a:buChar char="•"/>
            </a:pPr>
            <a:r>
              <a:rPr sz="1733">
                <a:solidFill>
                  <a:srgbClr val="0A2540"/>
                </a:solidFill>
                <a:latin typeface="Calibri"/>
              </a:rPr>
              <a:t>Validate schemas</a:t>
            </a:r>
          </a:p>
          <a:p>
            <a:pPr marL="182880" indent="-182880">
              <a:spcAft>
                <a:spcPts val="666"/>
              </a:spcAft>
              <a:buChar char="•"/>
            </a:pPr>
            <a:r>
              <a:rPr sz="1733">
                <a:solidFill>
                  <a:srgbClr val="0A2540"/>
                </a:solidFill>
                <a:latin typeface="Calibri"/>
              </a:rPr>
              <a:t>Calculate scores and thresholds</a:t>
            </a:r>
          </a:p>
          <a:p>
            <a:pPr marL="182880" indent="-182880">
              <a:spcAft>
                <a:spcPts val="666"/>
              </a:spcAft>
              <a:buChar char="•"/>
            </a:pPr>
            <a:r>
              <a:rPr sz="1733">
                <a:solidFill>
                  <a:srgbClr val="0A2540"/>
                </a:solidFill>
                <a:latin typeface="Calibri"/>
              </a:rPr>
              <a:t>Persist workflow events; policy lookup falls back to rules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584" y="365750"/>
            <a:ext cx="9753356" cy="365750"/>
          </a:xfrm>
          <a:prstGeom prst="rect">
            <a:avLst/>
          </a:prstGeom>
          <a:noFill/>
        </p:spPr>
        <p:txBody>
          <a:bodyPr wrap="square" lIns="0" rIns="0" tIns="0" bIns="0" anchor="t">
            <a:spAutoFit/>
          </a:bodyPr>
          <a:lstStyle/>
          <a:p>
            <a:pPr algn="l"/>
            <a:r>
              <a:rPr sz="1466" b="1" i="0">
                <a:solidFill>
                  <a:srgbClr val="1F5FBF"/>
                </a:solidFill>
                <a:latin typeface="Calibri"/>
              </a:rPr>
              <a:t>AI HARNESS AND CONTEXT</a:t>
            </a:r>
          </a:p>
        </p:txBody>
      </p:sp>
      <p:sp>
        <p:nvSpPr>
          <p:cNvPr id="3" name="TextBox 2"/>
          <p:cNvSpPr txBox="1"/>
          <p:nvPr/>
        </p:nvSpPr>
        <p:spPr>
          <a:xfrm>
            <a:off x="609584" y="731501"/>
            <a:ext cx="10972525" cy="792460"/>
          </a:xfrm>
          <a:prstGeom prst="rect">
            <a:avLst/>
          </a:prstGeom>
          <a:noFill/>
        </p:spPr>
        <p:txBody>
          <a:bodyPr wrap="square" lIns="0" rIns="0" tIns="0" bIns="0" anchor="t">
            <a:spAutoFit/>
          </a:bodyPr>
          <a:lstStyle/>
          <a:p>
            <a:pPr algn="l"/>
            <a:r>
              <a:rPr sz="3733" b="1" i="0">
                <a:solidFill>
                  <a:srgbClr val="0A2540"/>
                </a:solidFill>
                <a:latin typeface="Cambria"/>
              </a:rPr>
              <a:t>The document is data, not authority</a:t>
            </a:r>
          </a:p>
        </p:txBody>
      </p:sp>
      <p:sp>
        <p:nvSpPr>
          <p:cNvPr id="4" name="TextBox 3"/>
          <p:cNvSpPr txBox="1"/>
          <p:nvPr/>
        </p:nvSpPr>
        <p:spPr>
          <a:xfrm>
            <a:off x="609584" y="6400639"/>
            <a:ext cx="7315017" cy="304792"/>
          </a:xfrm>
          <a:prstGeom prst="rect">
            <a:avLst/>
          </a:prstGeom>
          <a:noFill/>
        </p:spPr>
        <p:txBody>
          <a:bodyPr wrap="square" lIns="0" rIns="0" tIns="0" bIns="0" anchor="t">
            <a:spAutoFit/>
          </a:bodyPr>
          <a:lstStyle/>
          <a:p>
            <a:pPr algn="l"/>
            <a:r>
              <a:rPr sz="1199" b="0" i="0">
                <a:solidFill>
                  <a:srgbClr val="475569"/>
                </a:solidFill>
                <a:latin typeface="Calibri"/>
              </a:rPr>
              <a:t>Risk Assessment Workbench  |  Genius Hacks 2026</a:t>
            </a:r>
          </a:p>
        </p:txBody>
      </p:sp>
      <p:sp>
        <p:nvSpPr>
          <p:cNvPr id="5" name="TextBox 4"/>
          <p:cNvSpPr txBox="1"/>
          <p:nvPr/>
        </p:nvSpPr>
        <p:spPr>
          <a:xfrm>
            <a:off x="10972525" y="6400639"/>
            <a:ext cx="609584" cy="304792"/>
          </a:xfrm>
          <a:prstGeom prst="rect">
            <a:avLst/>
          </a:prstGeom>
          <a:noFill/>
        </p:spPr>
        <p:txBody>
          <a:bodyPr wrap="square" lIns="0" rIns="0" tIns="0" bIns="0" anchor="t">
            <a:spAutoFit/>
          </a:bodyPr>
          <a:lstStyle/>
          <a:p>
            <a:pPr algn="r"/>
            <a:r>
              <a:rPr sz="1199" b="0" i="0">
                <a:solidFill>
                  <a:srgbClr val="475569"/>
                </a:solidFill>
                <a:latin typeface="Calibri"/>
              </a:rPr>
              <a:t>4</a:t>
            </a:r>
          </a:p>
        </p:txBody>
      </p:sp>
      <p:sp>
        <p:nvSpPr>
          <p:cNvPr id="6" name="Rounded Rectangle 5"/>
          <p:cNvSpPr/>
          <p:nvPr/>
        </p:nvSpPr>
        <p:spPr>
          <a:xfrm>
            <a:off x="609584" y="1828754"/>
            <a:ext cx="3474633" cy="4267093"/>
          </a:xfrm>
          <a:prstGeom prst="roundRect">
            <a:avLst>
              <a:gd name="adj" fmla="val 2807"/>
            </a:avLst>
          </a:prstGeom>
          <a:solidFill>
            <a:srgbClr val="EFF6FF"/>
          </a:solidFill>
          <a:ln w="9525">
            <a:solidFill>
              <a:srgbClr val="C7DBF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p:cNvSpPr/>
          <p:nvPr/>
        </p:nvSpPr>
        <p:spPr>
          <a:xfrm>
            <a:off x="914377" y="2072588"/>
            <a:ext cx="731501" cy="731501"/>
          </a:xfrm>
          <a:prstGeom prst="ellipse">
            <a:avLst/>
          </a:prstGeom>
          <a:solidFill>
            <a:srgbClr val="1F5FBF"/>
          </a:solidFill>
          <a:ln w="9525">
            <a:solidFill>
              <a:srgbClr val="1F5FB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914377" y="2072588"/>
            <a:ext cx="731501" cy="731501"/>
          </a:xfrm>
          <a:prstGeom prst="rect">
            <a:avLst/>
          </a:prstGeom>
          <a:noFill/>
        </p:spPr>
        <p:txBody>
          <a:bodyPr wrap="square" lIns="0" rIns="0" tIns="0" bIns="0" anchor="ctr">
            <a:spAutoFit/>
          </a:bodyPr>
          <a:lstStyle/>
          <a:p>
            <a:pPr algn="ctr"/>
            <a:r>
              <a:rPr sz="2133" b="1" i="0">
                <a:solidFill>
                  <a:srgbClr val="FFFFFF"/>
                </a:solidFill>
                <a:latin typeface="Cambria"/>
              </a:rPr>
              <a:t>1</a:t>
            </a:r>
          </a:p>
        </p:txBody>
      </p:sp>
      <p:sp>
        <p:nvSpPr>
          <p:cNvPr id="9" name="TextBox 8"/>
          <p:cNvSpPr txBox="1"/>
          <p:nvPr/>
        </p:nvSpPr>
        <p:spPr>
          <a:xfrm>
            <a:off x="914377" y="3047923"/>
            <a:ext cx="2926006" cy="426709"/>
          </a:xfrm>
          <a:prstGeom prst="rect">
            <a:avLst/>
          </a:prstGeom>
          <a:noFill/>
        </p:spPr>
        <p:txBody>
          <a:bodyPr wrap="square" lIns="0" rIns="0" tIns="0" bIns="0" anchor="t">
            <a:spAutoFit/>
          </a:bodyPr>
          <a:lstStyle/>
          <a:p>
            <a:pPr algn="l"/>
            <a:r>
              <a:rPr sz="1999" b="1" i="0">
                <a:solidFill>
                  <a:srgbClr val="0A2540"/>
                </a:solidFill>
                <a:latin typeface="Calibri"/>
              </a:rPr>
              <a:t>Context boundary</a:t>
            </a:r>
          </a:p>
        </p:txBody>
      </p:sp>
      <p:sp>
        <p:nvSpPr>
          <p:cNvPr id="10" name="TextBox 9"/>
          <p:cNvSpPr txBox="1"/>
          <p:nvPr/>
        </p:nvSpPr>
        <p:spPr>
          <a:xfrm>
            <a:off x="914377" y="3596550"/>
            <a:ext cx="2926006" cy="2377380"/>
          </a:xfrm>
          <a:prstGeom prst="rect">
            <a:avLst/>
          </a:prstGeom>
          <a:noFill/>
        </p:spPr>
        <p:txBody>
          <a:bodyPr wrap="square" lIns="0" rIns="0" tIns="0" bIns="0" anchor="t">
            <a:spAutoFit/>
          </a:bodyPr>
          <a:lstStyle/>
          <a:p>
            <a:pPr marL="182880" indent="-182880">
              <a:spcAft>
                <a:spcPts val="666"/>
              </a:spcAft>
              <a:buChar char="•"/>
            </a:pPr>
            <a:r>
              <a:rPr sz="1733">
                <a:solidFill>
                  <a:srgbClr val="0A2540"/>
                </a:solidFill>
                <a:latin typeface="Calibri"/>
              </a:rPr>
              <a:t>Source text is explicitly untrusted</a:t>
            </a:r>
          </a:p>
          <a:p>
            <a:pPr marL="182880" indent="-182880">
              <a:spcAft>
                <a:spcPts val="666"/>
              </a:spcAft>
              <a:buChar char="•"/>
            </a:pPr>
            <a:r>
              <a:rPr sz="1733">
                <a:solidFill>
                  <a:srgbClr val="0A2540"/>
                </a:solidFill>
                <a:latin typeface="Calibri"/>
              </a:rPr>
              <a:t>Embedded instructions cannot approve a case</a:t>
            </a:r>
          </a:p>
          <a:p>
            <a:pPr marL="182880" indent="-182880">
              <a:spcAft>
                <a:spcPts val="666"/>
              </a:spcAft>
              <a:buChar char="•"/>
            </a:pPr>
            <a:r>
              <a:rPr sz="1733">
                <a:solidFill>
                  <a:srgbClr val="0A2540"/>
                </a:solidFill>
                <a:latin typeface="Calibri"/>
              </a:rPr>
              <a:t>Prompt requires faithful extraction</a:t>
            </a:r>
          </a:p>
        </p:txBody>
      </p:sp>
      <p:sp>
        <p:nvSpPr>
          <p:cNvPr id="11" name="Rounded Rectangle 10"/>
          <p:cNvSpPr/>
          <p:nvPr/>
        </p:nvSpPr>
        <p:spPr>
          <a:xfrm>
            <a:off x="4358531" y="1828754"/>
            <a:ext cx="3474633" cy="4267093"/>
          </a:xfrm>
          <a:prstGeom prst="roundRect">
            <a:avLst>
              <a:gd name="adj" fmla="val 2807"/>
            </a:avLst>
          </a:prstGeom>
          <a:solidFill>
            <a:srgbClr val="EFF6FF"/>
          </a:solidFill>
          <a:ln w="9525">
            <a:solidFill>
              <a:srgbClr val="C7DBF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p:cNvSpPr/>
          <p:nvPr/>
        </p:nvSpPr>
        <p:spPr>
          <a:xfrm>
            <a:off x="4663323" y="2072588"/>
            <a:ext cx="731501" cy="731501"/>
          </a:xfrm>
          <a:prstGeom prst="ellipse">
            <a:avLst/>
          </a:prstGeom>
          <a:solidFill>
            <a:srgbClr val="1F5FBF"/>
          </a:solidFill>
          <a:ln w="9525">
            <a:solidFill>
              <a:srgbClr val="1F5FB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4663323" y="2072588"/>
            <a:ext cx="731501" cy="731501"/>
          </a:xfrm>
          <a:prstGeom prst="rect">
            <a:avLst/>
          </a:prstGeom>
          <a:noFill/>
        </p:spPr>
        <p:txBody>
          <a:bodyPr wrap="square" lIns="0" rIns="0" tIns="0" bIns="0" anchor="ctr">
            <a:spAutoFit/>
          </a:bodyPr>
          <a:lstStyle/>
          <a:p>
            <a:pPr algn="ctr"/>
            <a:r>
              <a:rPr sz="2133" b="1" i="0">
                <a:solidFill>
                  <a:srgbClr val="FFFFFF"/>
                </a:solidFill>
                <a:latin typeface="Cambria"/>
              </a:rPr>
              <a:t>2</a:t>
            </a:r>
          </a:p>
        </p:txBody>
      </p:sp>
      <p:sp>
        <p:nvSpPr>
          <p:cNvPr id="14" name="TextBox 13"/>
          <p:cNvSpPr txBox="1"/>
          <p:nvPr/>
        </p:nvSpPr>
        <p:spPr>
          <a:xfrm>
            <a:off x="4663323" y="3047923"/>
            <a:ext cx="2926006" cy="426709"/>
          </a:xfrm>
          <a:prstGeom prst="rect">
            <a:avLst/>
          </a:prstGeom>
          <a:noFill/>
        </p:spPr>
        <p:txBody>
          <a:bodyPr wrap="square" lIns="0" rIns="0" tIns="0" bIns="0" anchor="t">
            <a:spAutoFit/>
          </a:bodyPr>
          <a:lstStyle/>
          <a:p>
            <a:pPr algn="l"/>
            <a:r>
              <a:rPr sz="1999" b="1" i="0">
                <a:solidFill>
                  <a:srgbClr val="0A2540"/>
                </a:solidFill>
                <a:latin typeface="Calibri"/>
              </a:rPr>
              <a:t>Structured contract</a:t>
            </a:r>
          </a:p>
        </p:txBody>
      </p:sp>
      <p:sp>
        <p:nvSpPr>
          <p:cNvPr id="15" name="TextBox 14"/>
          <p:cNvSpPr txBox="1"/>
          <p:nvPr/>
        </p:nvSpPr>
        <p:spPr>
          <a:xfrm>
            <a:off x="4663323" y="3596550"/>
            <a:ext cx="2926006" cy="2377380"/>
          </a:xfrm>
          <a:prstGeom prst="rect">
            <a:avLst/>
          </a:prstGeom>
          <a:noFill/>
        </p:spPr>
        <p:txBody>
          <a:bodyPr wrap="square" lIns="0" rIns="0" tIns="0" bIns="0" anchor="t">
            <a:spAutoFit/>
          </a:bodyPr>
          <a:lstStyle/>
          <a:p>
            <a:pPr marL="182880" indent="-182880">
              <a:spcAft>
                <a:spcPts val="666"/>
              </a:spcAft>
              <a:buChar char="•"/>
            </a:pPr>
            <a:r>
              <a:rPr sz="1733">
                <a:solidFill>
                  <a:srgbClr val="0A2540"/>
                </a:solidFill>
                <a:latin typeface="Calibri"/>
              </a:rPr>
              <a:t>Pydantic schema at the model boundary</a:t>
            </a:r>
          </a:p>
          <a:p>
            <a:pPr marL="182880" indent="-182880">
              <a:spcAft>
                <a:spcPts val="666"/>
              </a:spcAft>
              <a:buChar char="•"/>
            </a:pPr>
            <a:r>
              <a:rPr sz="1733">
                <a:solidFill>
                  <a:srgbClr val="0A2540"/>
                </a:solidFill>
                <a:latin typeface="Calibri"/>
              </a:rPr>
              <a:t>Malformed output fails loudly</a:t>
            </a:r>
          </a:p>
          <a:p>
            <a:pPr marL="182880" indent="-182880">
              <a:spcAft>
                <a:spcPts val="666"/>
              </a:spcAft>
              <a:buChar char="•"/>
            </a:pPr>
            <a:r>
              <a:rPr sz="1733">
                <a:solidFill>
                  <a:srgbClr val="0A2540"/>
                </a:solidFill>
                <a:latin typeface="Calibri"/>
              </a:rPr>
              <a:t>Extraction versions stay reconstructable</a:t>
            </a:r>
          </a:p>
        </p:txBody>
      </p:sp>
      <p:sp>
        <p:nvSpPr>
          <p:cNvPr id="16" name="Rounded Rectangle 15"/>
          <p:cNvSpPr/>
          <p:nvPr/>
        </p:nvSpPr>
        <p:spPr>
          <a:xfrm>
            <a:off x="8107477" y="1828754"/>
            <a:ext cx="3474633" cy="4267093"/>
          </a:xfrm>
          <a:prstGeom prst="roundRect">
            <a:avLst>
              <a:gd name="adj" fmla="val 2807"/>
            </a:avLst>
          </a:prstGeom>
          <a:solidFill>
            <a:srgbClr val="EFF6FF"/>
          </a:solidFill>
          <a:ln w="9525">
            <a:solidFill>
              <a:srgbClr val="C7DBF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p:cNvSpPr/>
          <p:nvPr/>
        </p:nvSpPr>
        <p:spPr>
          <a:xfrm>
            <a:off x="8412269" y="2072588"/>
            <a:ext cx="731501" cy="731501"/>
          </a:xfrm>
          <a:prstGeom prst="ellipse">
            <a:avLst/>
          </a:prstGeom>
          <a:solidFill>
            <a:srgbClr val="1F5FBF"/>
          </a:solidFill>
          <a:ln w="9525">
            <a:solidFill>
              <a:srgbClr val="1F5FB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8412269" y="2072588"/>
            <a:ext cx="731501" cy="731501"/>
          </a:xfrm>
          <a:prstGeom prst="rect">
            <a:avLst/>
          </a:prstGeom>
          <a:noFill/>
        </p:spPr>
        <p:txBody>
          <a:bodyPr wrap="square" lIns="0" rIns="0" tIns="0" bIns="0" anchor="ctr">
            <a:spAutoFit/>
          </a:bodyPr>
          <a:lstStyle/>
          <a:p>
            <a:pPr algn="ctr"/>
            <a:r>
              <a:rPr sz="2133" b="1" i="0">
                <a:solidFill>
                  <a:srgbClr val="FFFFFF"/>
                </a:solidFill>
                <a:latin typeface="Cambria"/>
              </a:rPr>
              <a:t>3</a:t>
            </a:r>
          </a:p>
        </p:txBody>
      </p:sp>
      <p:sp>
        <p:nvSpPr>
          <p:cNvPr id="19" name="TextBox 18"/>
          <p:cNvSpPr txBox="1"/>
          <p:nvPr/>
        </p:nvSpPr>
        <p:spPr>
          <a:xfrm>
            <a:off x="8412269" y="3047923"/>
            <a:ext cx="2926006" cy="426709"/>
          </a:xfrm>
          <a:prstGeom prst="rect">
            <a:avLst/>
          </a:prstGeom>
          <a:noFill/>
        </p:spPr>
        <p:txBody>
          <a:bodyPr wrap="square" lIns="0" rIns="0" tIns="0" bIns="0" anchor="t">
            <a:spAutoFit/>
          </a:bodyPr>
          <a:lstStyle/>
          <a:p>
            <a:pPr algn="l"/>
            <a:r>
              <a:rPr sz="1999" b="1" i="0">
                <a:solidFill>
                  <a:srgbClr val="0A2540"/>
                </a:solidFill>
                <a:latin typeface="Calibri"/>
              </a:rPr>
              <a:t>Traceable context</a:t>
            </a:r>
          </a:p>
        </p:txBody>
      </p:sp>
      <p:sp>
        <p:nvSpPr>
          <p:cNvPr id="20" name="TextBox 19"/>
          <p:cNvSpPr txBox="1"/>
          <p:nvPr/>
        </p:nvSpPr>
        <p:spPr>
          <a:xfrm>
            <a:off x="8412269" y="3596550"/>
            <a:ext cx="2926006" cy="2377380"/>
          </a:xfrm>
          <a:prstGeom prst="rect">
            <a:avLst/>
          </a:prstGeom>
          <a:noFill/>
        </p:spPr>
        <p:txBody>
          <a:bodyPr wrap="square" lIns="0" rIns="0" tIns="0" bIns="0" anchor="t">
            <a:spAutoFit/>
          </a:bodyPr>
          <a:lstStyle/>
          <a:p>
            <a:pPr marL="182880" indent="-182880">
              <a:spcAft>
                <a:spcPts val="666"/>
              </a:spcAft>
              <a:buChar char="•"/>
            </a:pPr>
            <a:r>
              <a:rPr sz="1733">
                <a:solidFill>
                  <a:srgbClr val="0A2540"/>
                </a:solidFill>
                <a:latin typeface="Calibri"/>
              </a:rPr>
              <a:t>Synthetic policy IDs and source paths</a:t>
            </a:r>
          </a:p>
          <a:p>
            <a:pPr marL="182880" indent="-182880">
              <a:spcAft>
                <a:spcPts val="666"/>
              </a:spcAft>
              <a:buChar char="•"/>
            </a:pPr>
            <a:r>
              <a:rPr sz="1733">
                <a:solidFill>
                  <a:srgbClr val="0A2540"/>
                </a:solidFill>
                <a:latin typeface="Calibri"/>
              </a:rPr>
              <a:t>Prompt version telemetry</a:t>
            </a:r>
          </a:p>
          <a:p>
            <a:pPr marL="182880" indent="-182880">
              <a:spcAft>
                <a:spcPts val="666"/>
              </a:spcAft>
              <a:buChar char="•"/>
            </a:pPr>
            <a:r>
              <a:rPr sz="1733">
                <a:solidFill>
                  <a:srgbClr val="0A2540"/>
                </a:solidFill>
                <a:latin typeface="Calibri"/>
              </a:rPr>
              <a:t>Analyst can disagree with the rationale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584" y="365750"/>
            <a:ext cx="9753356" cy="365750"/>
          </a:xfrm>
          <a:prstGeom prst="rect">
            <a:avLst/>
          </a:prstGeom>
          <a:noFill/>
        </p:spPr>
        <p:txBody>
          <a:bodyPr wrap="square" lIns="0" rIns="0" tIns="0" bIns="0" anchor="t">
            <a:spAutoFit/>
          </a:bodyPr>
          <a:lstStyle/>
          <a:p>
            <a:pPr algn="l"/>
            <a:r>
              <a:rPr sz="1466" b="1" i="0">
                <a:solidFill>
                  <a:srgbClr val="1F5FBF"/>
                </a:solidFill>
                <a:latin typeface="Calibri"/>
              </a:rPr>
              <a:t>ENGINEERING JUDGEMENT</a:t>
            </a:r>
          </a:p>
        </p:txBody>
      </p:sp>
      <p:sp>
        <p:nvSpPr>
          <p:cNvPr id="3" name="TextBox 2"/>
          <p:cNvSpPr txBox="1"/>
          <p:nvPr/>
        </p:nvSpPr>
        <p:spPr>
          <a:xfrm>
            <a:off x="609584" y="731501"/>
            <a:ext cx="10972525" cy="792460"/>
          </a:xfrm>
          <a:prstGeom prst="rect">
            <a:avLst/>
          </a:prstGeom>
          <a:noFill/>
        </p:spPr>
        <p:txBody>
          <a:bodyPr wrap="square" lIns="0" rIns="0" tIns="0" bIns="0" anchor="t">
            <a:spAutoFit/>
          </a:bodyPr>
          <a:lstStyle/>
          <a:p>
            <a:pPr algn="l"/>
            <a:r>
              <a:rPr sz="3733" b="1" i="0">
                <a:solidFill>
                  <a:srgbClr val="0A2540"/>
                </a:solidFill>
                <a:latin typeface="Cambria"/>
              </a:rPr>
              <a:t>Scoring is explainable by construction</a:t>
            </a:r>
          </a:p>
        </p:txBody>
      </p:sp>
      <p:sp>
        <p:nvSpPr>
          <p:cNvPr id="4" name="TextBox 3"/>
          <p:cNvSpPr txBox="1"/>
          <p:nvPr/>
        </p:nvSpPr>
        <p:spPr>
          <a:xfrm>
            <a:off x="609584" y="6400639"/>
            <a:ext cx="7315017" cy="304792"/>
          </a:xfrm>
          <a:prstGeom prst="rect">
            <a:avLst/>
          </a:prstGeom>
          <a:noFill/>
        </p:spPr>
        <p:txBody>
          <a:bodyPr wrap="square" lIns="0" rIns="0" tIns="0" bIns="0" anchor="t">
            <a:spAutoFit/>
          </a:bodyPr>
          <a:lstStyle/>
          <a:p>
            <a:pPr algn="l"/>
            <a:r>
              <a:rPr sz="1199" b="0" i="0">
                <a:solidFill>
                  <a:srgbClr val="475569"/>
                </a:solidFill>
                <a:latin typeface="Calibri"/>
              </a:rPr>
              <a:t>Risk Assessment Workbench  |  Genius Hacks 2026</a:t>
            </a:r>
          </a:p>
        </p:txBody>
      </p:sp>
      <p:sp>
        <p:nvSpPr>
          <p:cNvPr id="5" name="TextBox 4"/>
          <p:cNvSpPr txBox="1"/>
          <p:nvPr/>
        </p:nvSpPr>
        <p:spPr>
          <a:xfrm>
            <a:off x="10972525" y="6400639"/>
            <a:ext cx="609584" cy="304792"/>
          </a:xfrm>
          <a:prstGeom prst="rect">
            <a:avLst/>
          </a:prstGeom>
          <a:noFill/>
        </p:spPr>
        <p:txBody>
          <a:bodyPr wrap="square" lIns="0" rIns="0" tIns="0" bIns="0" anchor="t">
            <a:spAutoFit/>
          </a:bodyPr>
          <a:lstStyle/>
          <a:p>
            <a:pPr algn="r"/>
            <a:r>
              <a:rPr sz="1199" b="0" i="0">
                <a:solidFill>
                  <a:srgbClr val="475569"/>
                </a:solidFill>
                <a:latin typeface="Calibri"/>
              </a:rPr>
              <a:t>5</a:t>
            </a:r>
          </a:p>
        </p:txBody>
      </p:sp>
      <p:graphicFrame>
        <p:nvGraphicFramePr>
          <p:cNvPr id="6" name="Chart 5"/>
          <p:cNvGraphicFramePr>
            <a:graphicFrameLocks noGrp="1"/>
          </p:cNvGraphicFramePr>
          <p:nvPr/>
        </p:nvGraphicFramePr>
        <p:xfrm>
          <a:off x="609584" y="1828754"/>
          <a:ext cx="6095847" cy="4267093"/>
        </p:xfrm>
        <a:graphic>
          <a:graphicData uri="http://schemas.openxmlformats.org/drawingml/2006/chart">
            <c:chart xmlns:c="http://schemas.openxmlformats.org/drawingml/2006/chart" r:id="rId3"/>
          </a:graphicData>
        </a:graphic>
      </p:graphicFrame>
      <p:sp>
        <p:nvSpPr>
          <p:cNvPr id="7" name="Rounded Rectangle 6"/>
          <p:cNvSpPr/>
          <p:nvPr/>
        </p:nvSpPr>
        <p:spPr>
          <a:xfrm>
            <a:off x="6949266" y="1828754"/>
            <a:ext cx="4632844" cy="2377380"/>
          </a:xfrm>
          <a:prstGeom prst="roundRect">
            <a:avLst>
              <a:gd name="adj" fmla="val 4102"/>
            </a:avLst>
          </a:prstGeom>
          <a:solidFill>
            <a:srgbClr val="EFF6FF"/>
          </a:solidFill>
          <a:ln w="9525">
            <a:solidFill>
              <a:srgbClr val="C7DBF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7193100" y="1975054"/>
            <a:ext cx="4145176" cy="426709"/>
          </a:xfrm>
          <a:prstGeom prst="rect">
            <a:avLst/>
          </a:prstGeom>
          <a:noFill/>
        </p:spPr>
        <p:txBody>
          <a:bodyPr wrap="square" lIns="0" rIns="0" tIns="0" bIns="0" anchor="t">
            <a:spAutoFit/>
          </a:bodyPr>
          <a:lstStyle/>
          <a:p>
            <a:pPr algn="l"/>
            <a:r>
              <a:rPr sz="1999" b="1" i="0">
                <a:solidFill>
                  <a:srgbClr val="0A2540"/>
                </a:solidFill>
                <a:latin typeface="Calibri"/>
              </a:rPr>
              <a:t>Why not an LLM score?</a:t>
            </a:r>
          </a:p>
        </p:txBody>
      </p:sp>
      <p:sp>
        <p:nvSpPr>
          <p:cNvPr id="9" name="TextBox 8"/>
          <p:cNvSpPr txBox="1"/>
          <p:nvPr/>
        </p:nvSpPr>
        <p:spPr>
          <a:xfrm>
            <a:off x="7193100" y="2438339"/>
            <a:ext cx="4145176" cy="1645878"/>
          </a:xfrm>
          <a:prstGeom prst="rect">
            <a:avLst/>
          </a:prstGeom>
          <a:noFill/>
        </p:spPr>
        <p:txBody>
          <a:bodyPr wrap="square" lIns="0" rIns="0" tIns="0" bIns="0" anchor="t">
            <a:spAutoFit/>
          </a:bodyPr>
          <a:lstStyle/>
          <a:p>
            <a:pPr algn="l"/>
            <a:r>
              <a:rPr sz="1733" b="0" i="0">
                <a:solidFill>
                  <a:srgbClr val="0A2540"/>
                </a:solidFill>
                <a:latin typeface="Calibri"/>
              </a:rPr>
              <a:t>A committee must reproduce, challenge, and test the number. The model structures evidence; deterministic Python combines category scores.</a:t>
            </a:r>
          </a:p>
        </p:txBody>
      </p:sp>
      <p:sp>
        <p:nvSpPr>
          <p:cNvPr id="10" name="Rounded Rectangle 9"/>
          <p:cNvSpPr/>
          <p:nvPr/>
        </p:nvSpPr>
        <p:spPr>
          <a:xfrm>
            <a:off x="6949266" y="4389010"/>
            <a:ext cx="4632844" cy="1706837"/>
          </a:xfrm>
          <a:prstGeom prst="roundRect">
            <a:avLst>
              <a:gd name="adj" fmla="val 5714"/>
            </a:avLst>
          </a:prstGeom>
          <a:solidFill>
            <a:srgbClr val="EFF6FF"/>
          </a:solidFill>
          <a:ln w="9525">
            <a:solidFill>
              <a:srgbClr val="C7DBF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7193100" y="4510927"/>
            <a:ext cx="4145176" cy="426709"/>
          </a:xfrm>
          <a:prstGeom prst="rect">
            <a:avLst/>
          </a:prstGeom>
          <a:noFill/>
        </p:spPr>
        <p:txBody>
          <a:bodyPr wrap="square" lIns="0" rIns="0" tIns="0" bIns="0" anchor="t">
            <a:spAutoFit/>
          </a:bodyPr>
          <a:lstStyle/>
          <a:p>
            <a:pPr algn="l"/>
            <a:r>
              <a:rPr sz="1999" b="1" i="0">
                <a:solidFill>
                  <a:srgbClr val="0A2540"/>
                </a:solidFill>
                <a:latin typeface="Calibri"/>
              </a:rPr>
              <a:t>Honest limits</a:t>
            </a:r>
          </a:p>
        </p:txBody>
      </p:sp>
      <p:sp>
        <p:nvSpPr>
          <p:cNvPr id="12" name="TextBox 11"/>
          <p:cNvSpPr txBox="1"/>
          <p:nvPr/>
        </p:nvSpPr>
        <p:spPr>
          <a:xfrm>
            <a:off x="7193100" y="4937636"/>
            <a:ext cx="4145176" cy="1097252"/>
          </a:xfrm>
          <a:prstGeom prst="rect">
            <a:avLst/>
          </a:prstGeom>
          <a:noFill/>
        </p:spPr>
        <p:txBody>
          <a:bodyPr wrap="square" lIns="0" rIns="0" tIns="0" bIns="0" anchor="t">
            <a:spAutoFit/>
          </a:bodyPr>
          <a:lstStyle/>
          <a:p>
            <a:pPr algn="l"/>
            <a:r>
              <a:rPr sz="1599" b="0" i="0">
                <a:solidFill>
                  <a:srgbClr val="0A2540"/>
                </a:solidFill>
                <a:latin typeface="Calibri"/>
              </a:rPr>
              <a:t>Weights and policy material are synthetic, not approved supervisory mappings. Control effectiveness and residual risk are not yet modeled.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584" y="365750"/>
            <a:ext cx="9753356" cy="365750"/>
          </a:xfrm>
          <a:prstGeom prst="rect">
            <a:avLst/>
          </a:prstGeom>
          <a:noFill/>
        </p:spPr>
        <p:txBody>
          <a:bodyPr wrap="square" lIns="0" rIns="0" tIns="0" bIns="0" anchor="t">
            <a:spAutoFit/>
          </a:bodyPr>
          <a:lstStyle/>
          <a:p>
            <a:pPr algn="l"/>
            <a:r>
              <a:rPr sz="1466" b="1" i="0">
                <a:solidFill>
                  <a:srgbClr val="1F5FBF"/>
                </a:solidFill>
                <a:latin typeface="Calibri"/>
              </a:rPr>
              <a:t>SIX STAGES</a:t>
            </a:r>
          </a:p>
        </p:txBody>
      </p:sp>
      <p:sp>
        <p:nvSpPr>
          <p:cNvPr id="3" name="TextBox 2"/>
          <p:cNvSpPr txBox="1"/>
          <p:nvPr/>
        </p:nvSpPr>
        <p:spPr>
          <a:xfrm>
            <a:off x="609584" y="731501"/>
            <a:ext cx="10972525" cy="792460"/>
          </a:xfrm>
          <a:prstGeom prst="rect">
            <a:avLst/>
          </a:prstGeom>
          <a:noFill/>
        </p:spPr>
        <p:txBody>
          <a:bodyPr wrap="square" lIns="0" rIns="0" tIns="0" bIns="0" anchor="t">
            <a:spAutoFit/>
          </a:bodyPr>
          <a:lstStyle/>
          <a:p>
            <a:pPr algn="l"/>
            <a:r>
              <a:rPr sz="3733" b="1" i="0">
                <a:solidFill>
                  <a:srgbClr val="0A2540"/>
                </a:solidFill>
                <a:latin typeface="Cambria"/>
              </a:rPr>
              <a:t>AI is part of delivery, not only runtime code</a:t>
            </a:r>
          </a:p>
        </p:txBody>
      </p:sp>
      <p:sp>
        <p:nvSpPr>
          <p:cNvPr id="4" name="TextBox 3"/>
          <p:cNvSpPr txBox="1"/>
          <p:nvPr/>
        </p:nvSpPr>
        <p:spPr>
          <a:xfrm>
            <a:off x="609584" y="6400639"/>
            <a:ext cx="7315017" cy="304792"/>
          </a:xfrm>
          <a:prstGeom prst="rect">
            <a:avLst/>
          </a:prstGeom>
          <a:noFill/>
        </p:spPr>
        <p:txBody>
          <a:bodyPr wrap="square" lIns="0" rIns="0" tIns="0" bIns="0" anchor="t">
            <a:spAutoFit/>
          </a:bodyPr>
          <a:lstStyle/>
          <a:p>
            <a:pPr algn="l"/>
            <a:r>
              <a:rPr sz="1199" b="0" i="0">
                <a:solidFill>
                  <a:srgbClr val="475569"/>
                </a:solidFill>
                <a:latin typeface="Calibri"/>
              </a:rPr>
              <a:t>Risk Assessment Workbench  |  Genius Hacks 2026</a:t>
            </a:r>
          </a:p>
        </p:txBody>
      </p:sp>
      <p:sp>
        <p:nvSpPr>
          <p:cNvPr id="5" name="TextBox 4"/>
          <p:cNvSpPr txBox="1"/>
          <p:nvPr/>
        </p:nvSpPr>
        <p:spPr>
          <a:xfrm>
            <a:off x="10972525" y="6400639"/>
            <a:ext cx="609584" cy="304792"/>
          </a:xfrm>
          <a:prstGeom prst="rect">
            <a:avLst/>
          </a:prstGeom>
          <a:noFill/>
        </p:spPr>
        <p:txBody>
          <a:bodyPr wrap="square" lIns="0" rIns="0" tIns="0" bIns="0" anchor="t">
            <a:spAutoFit/>
          </a:bodyPr>
          <a:lstStyle/>
          <a:p>
            <a:pPr algn="r"/>
            <a:r>
              <a:rPr sz="1199" b="0" i="0">
                <a:solidFill>
                  <a:srgbClr val="475569"/>
                </a:solidFill>
                <a:latin typeface="Calibri"/>
              </a:rPr>
              <a:t>6</a:t>
            </a:r>
          </a:p>
        </p:txBody>
      </p:sp>
      <p:sp>
        <p:nvSpPr>
          <p:cNvPr id="6" name="Rounded Rectangle 5"/>
          <p:cNvSpPr/>
          <p:nvPr/>
        </p:nvSpPr>
        <p:spPr>
          <a:xfrm>
            <a:off x="609584" y="1828754"/>
            <a:ext cx="3474633" cy="1828754"/>
          </a:xfrm>
          <a:prstGeom prst="roundRect">
            <a:avLst>
              <a:gd name="adj" fmla="val 5333"/>
            </a:avLst>
          </a:prstGeom>
          <a:solidFill>
            <a:srgbClr val="EFF6FF"/>
          </a:solidFill>
          <a:ln w="9525">
            <a:solidFill>
              <a:srgbClr val="C7DBF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p:cNvSpPr/>
          <p:nvPr/>
        </p:nvSpPr>
        <p:spPr>
          <a:xfrm>
            <a:off x="914377" y="2133546"/>
            <a:ext cx="670543" cy="670543"/>
          </a:xfrm>
          <a:prstGeom prst="ellipse">
            <a:avLst/>
          </a:prstGeom>
          <a:solidFill>
            <a:srgbClr val="0A2540"/>
          </a:solidFill>
          <a:ln w="9525">
            <a:solidFill>
              <a:srgbClr val="0A254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914377" y="2133546"/>
            <a:ext cx="670543" cy="670543"/>
          </a:xfrm>
          <a:prstGeom prst="rect">
            <a:avLst/>
          </a:prstGeom>
          <a:noFill/>
        </p:spPr>
        <p:txBody>
          <a:bodyPr wrap="square" lIns="0" rIns="0" tIns="0" bIns="0" anchor="ctr">
            <a:spAutoFit/>
          </a:bodyPr>
          <a:lstStyle/>
          <a:p>
            <a:pPr algn="ctr"/>
            <a:r>
              <a:rPr sz="2133" b="1" i="0">
                <a:solidFill>
                  <a:srgbClr val="FFFFFF"/>
                </a:solidFill>
                <a:latin typeface="Cambria"/>
              </a:rPr>
              <a:t>1</a:t>
            </a:r>
          </a:p>
        </p:txBody>
      </p:sp>
      <p:sp>
        <p:nvSpPr>
          <p:cNvPr id="9" name="TextBox 8"/>
          <p:cNvSpPr txBox="1"/>
          <p:nvPr/>
        </p:nvSpPr>
        <p:spPr>
          <a:xfrm>
            <a:off x="1767795" y="2133546"/>
            <a:ext cx="2194505" cy="670543"/>
          </a:xfrm>
          <a:prstGeom prst="rect">
            <a:avLst/>
          </a:prstGeom>
          <a:noFill/>
        </p:spPr>
        <p:txBody>
          <a:bodyPr wrap="square" lIns="0" rIns="0" tIns="0" bIns="0" anchor="ctr">
            <a:spAutoFit/>
          </a:bodyPr>
          <a:lstStyle/>
          <a:p>
            <a:pPr algn="l"/>
            <a:r>
              <a:rPr sz="2133" b="1" i="0">
                <a:solidFill>
                  <a:srgbClr val="0A2540"/>
                </a:solidFill>
                <a:latin typeface="Calibri"/>
              </a:rPr>
              <a:t>Requirements</a:t>
            </a:r>
          </a:p>
        </p:txBody>
      </p:sp>
      <p:sp>
        <p:nvSpPr>
          <p:cNvPr id="10" name="TextBox 9"/>
          <p:cNvSpPr txBox="1"/>
          <p:nvPr/>
        </p:nvSpPr>
        <p:spPr>
          <a:xfrm>
            <a:off x="914377" y="2986965"/>
            <a:ext cx="2926006" cy="487667"/>
          </a:xfrm>
          <a:prstGeom prst="rect">
            <a:avLst/>
          </a:prstGeom>
          <a:noFill/>
        </p:spPr>
        <p:txBody>
          <a:bodyPr wrap="square" lIns="0" rIns="0" tIns="0" bIns="0" anchor="ctr">
            <a:spAutoFit/>
          </a:bodyPr>
          <a:lstStyle/>
          <a:p>
            <a:pPr algn="l"/>
            <a:r>
              <a:rPr sz="1733" b="0" i="0">
                <a:solidFill>
                  <a:srgbClr val="475569"/>
                </a:solidFill>
                <a:latin typeface="Calibri"/>
              </a:rPr>
              <a:t>Brief → spec</a:t>
            </a:r>
          </a:p>
        </p:txBody>
      </p:sp>
      <p:sp>
        <p:nvSpPr>
          <p:cNvPr id="11" name="Rounded Rectangle 10"/>
          <p:cNvSpPr/>
          <p:nvPr/>
        </p:nvSpPr>
        <p:spPr>
          <a:xfrm>
            <a:off x="4358531" y="1828754"/>
            <a:ext cx="3474633" cy="1828754"/>
          </a:xfrm>
          <a:prstGeom prst="roundRect">
            <a:avLst>
              <a:gd name="adj" fmla="val 5333"/>
            </a:avLst>
          </a:prstGeom>
          <a:solidFill>
            <a:srgbClr val="EFF6FF"/>
          </a:solidFill>
          <a:ln w="9525">
            <a:solidFill>
              <a:srgbClr val="C7DBF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p:cNvSpPr/>
          <p:nvPr/>
        </p:nvSpPr>
        <p:spPr>
          <a:xfrm>
            <a:off x="4663323" y="2133546"/>
            <a:ext cx="670543" cy="670543"/>
          </a:xfrm>
          <a:prstGeom prst="ellipse">
            <a:avLst/>
          </a:prstGeom>
          <a:solidFill>
            <a:srgbClr val="1F5FBF"/>
          </a:solidFill>
          <a:ln w="9525">
            <a:solidFill>
              <a:srgbClr val="1F5FB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4663323" y="2133546"/>
            <a:ext cx="670543" cy="670543"/>
          </a:xfrm>
          <a:prstGeom prst="rect">
            <a:avLst/>
          </a:prstGeom>
          <a:noFill/>
        </p:spPr>
        <p:txBody>
          <a:bodyPr wrap="square" lIns="0" rIns="0" tIns="0" bIns="0" anchor="ctr">
            <a:spAutoFit/>
          </a:bodyPr>
          <a:lstStyle/>
          <a:p>
            <a:pPr algn="ctr"/>
            <a:r>
              <a:rPr sz="2133" b="1" i="0">
                <a:solidFill>
                  <a:srgbClr val="FFFFFF"/>
                </a:solidFill>
                <a:latin typeface="Cambria"/>
              </a:rPr>
              <a:t>2</a:t>
            </a:r>
          </a:p>
        </p:txBody>
      </p:sp>
      <p:sp>
        <p:nvSpPr>
          <p:cNvPr id="14" name="TextBox 13"/>
          <p:cNvSpPr txBox="1"/>
          <p:nvPr/>
        </p:nvSpPr>
        <p:spPr>
          <a:xfrm>
            <a:off x="5516742" y="2133546"/>
            <a:ext cx="2194505" cy="670543"/>
          </a:xfrm>
          <a:prstGeom prst="rect">
            <a:avLst/>
          </a:prstGeom>
          <a:noFill/>
        </p:spPr>
        <p:txBody>
          <a:bodyPr wrap="square" lIns="0" rIns="0" tIns="0" bIns="0" anchor="ctr">
            <a:spAutoFit/>
          </a:bodyPr>
          <a:lstStyle/>
          <a:p>
            <a:pPr algn="l"/>
            <a:r>
              <a:rPr sz="2133" b="1" i="0">
                <a:solidFill>
                  <a:srgbClr val="0A2540"/>
                </a:solidFill>
                <a:latin typeface="Calibri"/>
              </a:rPr>
              <a:t>Design</a:t>
            </a:r>
          </a:p>
        </p:txBody>
      </p:sp>
      <p:sp>
        <p:nvSpPr>
          <p:cNvPr id="15" name="TextBox 14"/>
          <p:cNvSpPr txBox="1"/>
          <p:nvPr/>
        </p:nvSpPr>
        <p:spPr>
          <a:xfrm>
            <a:off x="4663323" y="2986965"/>
            <a:ext cx="2926006" cy="487667"/>
          </a:xfrm>
          <a:prstGeom prst="rect">
            <a:avLst/>
          </a:prstGeom>
          <a:noFill/>
        </p:spPr>
        <p:txBody>
          <a:bodyPr wrap="square" lIns="0" rIns="0" tIns="0" bIns="0" anchor="ctr">
            <a:spAutoFit/>
          </a:bodyPr>
          <a:lstStyle/>
          <a:p>
            <a:pPr algn="l"/>
            <a:r>
              <a:rPr sz="1733" b="0" i="0">
                <a:solidFill>
                  <a:srgbClr val="475569"/>
                </a:solidFill>
                <a:latin typeface="Calibri"/>
              </a:rPr>
              <a:t>Options → decision</a:t>
            </a:r>
          </a:p>
        </p:txBody>
      </p:sp>
      <p:sp>
        <p:nvSpPr>
          <p:cNvPr id="16" name="Rounded Rectangle 15"/>
          <p:cNvSpPr/>
          <p:nvPr/>
        </p:nvSpPr>
        <p:spPr>
          <a:xfrm>
            <a:off x="8107477" y="1828754"/>
            <a:ext cx="3474633" cy="1828754"/>
          </a:xfrm>
          <a:prstGeom prst="roundRect">
            <a:avLst>
              <a:gd name="adj" fmla="val 5333"/>
            </a:avLst>
          </a:prstGeom>
          <a:solidFill>
            <a:srgbClr val="EFF6FF"/>
          </a:solidFill>
          <a:ln w="9525">
            <a:solidFill>
              <a:srgbClr val="C7DBF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p:cNvSpPr/>
          <p:nvPr/>
        </p:nvSpPr>
        <p:spPr>
          <a:xfrm>
            <a:off x="8412269" y="2133546"/>
            <a:ext cx="670543" cy="670543"/>
          </a:xfrm>
          <a:prstGeom prst="ellipse">
            <a:avLst/>
          </a:prstGeom>
          <a:solidFill>
            <a:srgbClr val="0A2540"/>
          </a:solidFill>
          <a:ln w="9525">
            <a:solidFill>
              <a:srgbClr val="0A254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8412269" y="2133546"/>
            <a:ext cx="670543" cy="670543"/>
          </a:xfrm>
          <a:prstGeom prst="rect">
            <a:avLst/>
          </a:prstGeom>
          <a:noFill/>
        </p:spPr>
        <p:txBody>
          <a:bodyPr wrap="square" lIns="0" rIns="0" tIns="0" bIns="0" anchor="ctr">
            <a:spAutoFit/>
          </a:bodyPr>
          <a:lstStyle/>
          <a:p>
            <a:pPr algn="ctr"/>
            <a:r>
              <a:rPr sz="2133" b="1" i="0">
                <a:solidFill>
                  <a:srgbClr val="FFFFFF"/>
                </a:solidFill>
                <a:latin typeface="Cambria"/>
              </a:rPr>
              <a:t>3</a:t>
            </a:r>
          </a:p>
        </p:txBody>
      </p:sp>
      <p:sp>
        <p:nvSpPr>
          <p:cNvPr id="19" name="TextBox 18"/>
          <p:cNvSpPr txBox="1"/>
          <p:nvPr/>
        </p:nvSpPr>
        <p:spPr>
          <a:xfrm>
            <a:off x="9265688" y="2133546"/>
            <a:ext cx="2194505" cy="670543"/>
          </a:xfrm>
          <a:prstGeom prst="rect">
            <a:avLst/>
          </a:prstGeom>
          <a:noFill/>
        </p:spPr>
        <p:txBody>
          <a:bodyPr wrap="square" lIns="0" rIns="0" tIns="0" bIns="0" anchor="ctr">
            <a:spAutoFit/>
          </a:bodyPr>
          <a:lstStyle/>
          <a:p>
            <a:pPr algn="l"/>
            <a:r>
              <a:rPr sz="2133" b="1" i="0">
                <a:solidFill>
                  <a:srgbClr val="0A2540"/>
                </a:solidFill>
                <a:latin typeface="Calibri"/>
              </a:rPr>
              <a:t>Development</a:t>
            </a:r>
          </a:p>
        </p:txBody>
      </p:sp>
      <p:sp>
        <p:nvSpPr>
          <p:cNvPr id="20" name="TextBox 19"/>
          <p:cNvSpPr txBox="1"/>
          <p:nvPr/>
        </p:nvSpPr>
        <p:spPr>
          <a:xfrm>
            <a:off x="8412269" y="2986965"/>
            <a:ext cx="2926006" cy="487667"/>
          </a:xfrm>
          <a:prstGeom prst="rect">
            <a:avLst/>
          </a:prstGeom>
          <a:noFill/>
        </p:spPr>
        <p:txBody>
          <a:bodyPr wrap="square" lIns="0" rIns="0" tIns="0" bIns="0" anchor="ctr">
            <a:spAutoFit/>
          </a:bodyPr>
          <a:lstStyle/>
          <a:p>
            <a:pPr algn="l"/>
            <a:r>
              <a:rPr sz="1733" b="0" i="0">
                <a:solidFill>
                  <a:srgbClr val="475569"/>
                </a:solidFill>
                <a:latin typeface="Calibri"/>
              </a:rPr>
              <a:t>Contract → code</a:t>
            </a:r>
          </a:p>
        </p:txBody>
      </p:sp>
      <p:sp>
        <p:nvSpPr>
          <p:cNvPr id="21" name="Rounded Rectangle 20"/>
          <p:cNvSpPr/>
          <p:nvPr/>
        </p:nvSpPr>
        <p:spPr>
          <a:xfrm>
            <a:off x="609584" y="3840383"/>
            <a:ext cx="3474633" cy="1828754"/>
          </a:xfrm>
          <a:prstGeom prst="roundRect">
            <a:avLst>
              <a:gd name="adj" fmla="val 5333"/>
            </a:avLst>
          </a:prstGeom>
          <a:solidFill>
            <a:srgbClr val="EFF6FF"/>
          </a:solidFill>
          <a:ln w="9525">
            <a:solidFill>
              <a:srgbClr val="C7DBF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p:cNvSpPr/>
          <p:nvPr/>
        </p:nvSpPr>
        <p:spPr>
          <a:xfrm>
            <a:off x="914377" y="4145176"/>
            <a:ext cx="670543" cy="670543"/>
          </a:xfrm>
          <a:prstGeom prst="ellipse">
            <a:avLst/>
          </a:prstGeom>
          <a:solidFill>
            <a:srgbClr val="1F5FBF"/>
          </a:solidFill>
          <a:ln w="9525">
            <a:solidFill>
              <a:srgbClr val="1F5FB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914377" y="4145176"/>
            <a:ext cx="670543" cy="670543"/>
          </a:xfrm>
          <a:prstGeom prst="rect">
            <a:avLst/>
          </a:prstGeom>
          <a:noFill/>
        </p:spPr>
        <p:txBody>
          <a:bodyPr wrap="square" lIns="0" rIns="0" tIns="0" bIns="0" anchor="ctr">
            <a:spAutoFit/>
          </a:bodyPr>
          <a:lstStyle/>
          <a:p>
            <a:pPr algn="ctr"/>
            <a:r>
              <a:rPr sz="2133" b="1" i="0">
                <a:solidFill>
                  <a:srgbClr val="FFFFFF"/>
                </a:solidFill>
                <a:latin typeface="Cambria"/>
              </a:rPr>
              <a:t>4</a:t>
            </a:r>
          </a:p>
        </p:txBody>
      </p:sp>
      <p:sp>
        <p:nvSpPr>
          <p:cNvPr id="24" name="TextBox 23"/>
          <p:cNvSpPr txBox="1"/>
          <p:nvPr/>
        </p:nvSpPr>
        <p:spPr>
          <a:xfrm>
            <a:off x="1767795" y="4145176"/>
            <a:ext cx="2194505" cy="670543"/>
          </a:xfrm>
          <a:prstGeom prst="rect">
            <a:avLst/>
          </a:prstGeom>
          <a:noFill/>
        </p:spPr>
        <p:txBody>
          <a:bodyPr wrap="square" lIns="0" rIns="0" tIns="0" bIns="0" anchor="ctr">
            <a:spAutoFit/>
          </a:bodyPr>
          <a:lstStyle/>
          <a:p>
            <a:pPr algn="l"/>
            <a:r>
              <a:rPr sz="2133" b="1" i="0">
                <a:solidFill>
                  <a:srgbClr val="0A2540"/>
                </a:solidFill>
                <a:latin typeface="Calibri"/>
              </a:rPr>
              <a:t>Testing</a:t>
            </a:r>
          </a:p>
        </p:txBody>
      </p:sp>
      <p:sp>
        <p:nvSpPr>
          <p:cNvPr id="25" name="TextBox 24"/>
          <p:cNvSpPr txBox="1"/>
          <p:nvPr/>
        </p:nvSpPr>
        <p:spPr>
          <a:xfrm>
            <a:off x="914377" y="4998595"/>
            <a:ext cx="2926006" cy="487667"/>
          </a:xfrm>
          <a:prstGeom prst="rect">
            <a:avLst/>
          </a:prstGeom>
          <a:noFill/>
        </p:spPr>
        <p:txBody>
          <a:bodyPr wrap="square" lIns="0" rIns="0" tIns="0" bIns="0" anchor="ctr">
            <a:spAutoFit/>
          </a:bodyPr>
          <a:lstStyle/>
          <a:p>
            <a:pPr algn="l"/>
            <a:r>
              <a:rPr sz="1733" b="0" i="0">
                <a:solidFill>
                  <a:srgbClr val="475569"/>
                </a:solidFill>
                <a:latin typeface="Calibri"/>
              </a:rPr>
              <a:t>Cases → metrics</a:t>
            </a:r>
          </a:p>
        </p:txBody>
      </p:sp>
      <p:sp>
        <p:nvSpPr>
          <p:cNvPr id="26" name="Rounded Rectangle 25"/>
          <p:cNvSpPr/>
          <p:nvPr/>
        </p:nvSpPr>
        <p:spPr>
          <a:xfrm>
            <a:off x="4358531" y="3840383"/>
            <a:ext cx="3474633" cy="1828754"/>
          </a:xfrm>
          <a:prstGeom prst="roundRect">
            <a:avLst>
              <a:gd name="adj" fmla="val 5333"/>
            </a:avLst>
          </a:prstGeom>
          <a:solidFill>
            <a:srgbClr val="EFF6FF"/>
          </a:solidFill>
          <a:ln w="9525">
            <a:solidFill>
              <a:srgbClr val="C7DBF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Oval 26"/>
          <p:cNvSpPr/>
          <p:nvPr/>
        </p:nvSpPr>
        <p:spPr>
          <a:xfrm>
            <a:off x="4663323" y="4145176"/>
            <a:ext cx="670543" cy="670543"/>
          </a:xfrm>
          <a:prstGeom prst="ellipse">
            <a:avLst/>
          </a:prstGeom>
          <a:solidFill>
            <a:srgbClr val="0A2540"/>
          </a:solidFill>
          <a:ln w="9525">
            <a:solidFill>
              <a:srgbClr val="0A254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TextBox 27"/>
          <p:cNvSpPr txBox="1"/>
          <p:nvPr/>
        </p:nvSpPr>
        <p:spPr>
          <a:xfrm>
            <a:off x="4663323" y="4145176"/>
            <a:ext cx="670543" cy="670543"/>
          </a:xfrm>
          <a:prstGeom prst="rect">
            <a:avLst/>
          </a:prstGeom>
          <a:noFill/>
        </p:spPr>
        <p:txBody>
          <a:bodyPr wrap="square" lIns="0" rIns="0" tIns="0" bIns="0" anchor="ctr">
            <a:spAutoFit/>
          </a:bodyPr>
          <a:lstStyle/>
          <a:p>
            <a:pPr algn="ctr"/>
            <a:r>
              <a:rPr sz="2133" b="1" i="0">
                <a:solidFill>
                  <a:srgbClr val="FFFFFF"/>
                </a:solidFill>
                <a:latin typeface="Cambria"/>
              </a:rPr>
              <a:t>5</a:t>
            </a:r>
          </a:p>
        </p:txBody>
      </p:sp>
      <p:sp>
        <p:nvSpPr>
          <p:cNvPr id="29" name="TextBox 28"/>
          <p:cNvSpPr txBox="1"/>
          <p:nvPr/>
        </p:nvSpPr>
        <p:spPr>
          <a:xfrm>
            <a:off x="5516742" y="4145176"/>
            <a:ext cx="2194505" cy="670543"/>
          </a:xfrm>
          <a:prstGeom prst="rect">
            <a:avLst/>
          </a:prstGeom>
          <a:noFill/>
        </p:spPr>
        <p:txBody>
          <a:bodyPr wrap="square" lIns="0" rIns="0" tIns="0" bIns="0" anchor="ctr">
            <a:spAutoFit/>
          </a:bodyPr>
          <a:lstStyle/>
          <a:p>
            <a:pPr algn="l"/>
            <a:r>
              <a:rPr sz="2133" b="1" i="0">
                <a:solidFill>
                  <a:srgbClr val="0A2540"/>
                </a:solidFill>
                <a:latin typeface="Calibri"/>
              </a:rPr>
              <a:t>Deployment</a:t>
            </a:r>
          </a:p>
        </p:txBody>
      </p:sp>
      <p:sp>
        <p:nvSpPr>
          <p:cNvPr id="30" name="TextBox 29"/>
          <p:cNvSpPr txBox="1"/>
          <p:nvPr/>
        </p:nvSpPr>
        <p:spPr>
          <a:xfrm>
            <a:off x="4663323" y="4998595"/>
            <a:ext cx="2926006" cy="487667"/>
          </a:xfrm>
          <a:prstGeom prst="rect">
            <a:avLst/>
          </a:prstGeom>
          <a:noFill/>
        </p:spPr>
        <p:txBody>
          <a:bodyPr wrap="square" lIns="0" rIns="0" tIns="0" bIns="0" anchor="ctr">
            <a:spAutoFit/>
          </a:bodyPr>
          <a:lstStyle/>
          <a:p>
            <a:pPr algn="l"/>
            <a:r>
              <a:rPr sz="1733" b="0" i="0">
                <a:solidFill>
                  <a:srgbClr val="475569"/>
                </a:solidFill>
                <a:latin typeface="Calibri"/>
              </a:rPr>
              <a:t>Image → runbook</a:t>
            </a:r>
          </a:p>
        </p:txBody>
      </p:sp>
      <p:sp>
        <p:nvSpPr>
          <p:cNvPr id="31" name="Rounded Rectangle 30"/>
          <p:cNvSpPr/>
          <p:nvPr/>
        </p:nvSpPr>
        <p:spPr>
          <a:xfrm>
            <a:off x="8107477" y="3840383"/>
            <a:ext cx="3474633" cy="1828754"/>
          </a:xfrm>
          <a:prstGeom prst="roundRect">
            <a:avLst>
              <a:gd name="adj" fmla="val 5333"/>
            </a:avLst>
          </a:prstGeom>
          <a:solidFill>
            <a:srgbClr val="EFF6FF"/>
          </a:solidFill>
          <a:ln w="9525">
            <a:solidFill>
              <a:srgbClr val="C7DBF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Oval 31"/>
          <p:cNvSpPr/>
          <p:nvPr/>
        </p:nvSpPr>
        <p:spPr>
          <a:xfrm>
            <a:off x="8412269" y="4145176"/>
            <a:ext cx="670543" cy="670543"/>
          </a:xfrm>
          <a:prstGeom prst="ellipse">
            <a:avLst/>
          </a:prstGeom>
          <a:solidFill>
            <a:srgbClr val="1F5FBF"/>
          </a:solidFill>
          <a:ln w="9525">
            <a:solidFill>
              <a:srgbClr val="1F5FB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TextBox 32"/>
          <p:cNvSpPr txBox="1"/>
          <p:nvPr/>
        </p:nvSpPr>
        <p:spPr>
          <a:xfrm>
            <a:off x="8412269" y="4145176"/>
            <a:ext cx="670543" cy="670543"/>
          </a:xfrm>
          <a:prstGeom prst="rect">
            <a:avLst/>
          </a:prstGeom>
          <a:noFill/>
        </p:spPr>
        <p:txBody>
          <a:bodyPr wrap="square" lIns="0" rIns="0" tIns="0" bIns="0" anchor="ctr">
            <a:spAutoFit/>
          </a:bodyPr>
          <a:lstStyle/>
          <a:p>
            <a:pPr algn="ctr"/>
            <a:r>
              <a:rPr sz="2133" b="1" i="0">
                <a:solidFill>
                  <a:srgbClr val="FFFFFF"/>
                </a:solidFill>
                <a:latin typeface="Cambria"/>
              </a:rPr>
              <a:t>6</a:t>
            </a:r>
          </a:p>
        </p:txBody>
      </p:sp>
      <p:sp>
        <p:nvSpPr>
          <p:cNvPr id="34" name="TextBox 33"/>
          <p:cNvSpPr txBox="1"/>
          <p:nvPr/>
        </p:nvSpPr>
        <p:spPr>
          <a:xfrm>
            <a:off x="9265688" y="4145176"/>
            <a:ext cx="2194505" cy="670543"/>
          </a:xfrm>
          <a:prstGeom prst="rect">
            <a:avLst/>
          </a:prstGeom>
          <a:noFill/>
        </p:spPr>
        <p:txBody>
          <a:bodyPr wrap="square" lIns="0" rIns="0" tIns="0" bIns="0" anchor="ctr">
            <a:spAutoFit/>
          </a:bodyPr>
          <a:lstStyle/>
          <a:p>
            <a:pPr algn="l"/>
            <a:r>
              <a:rPr sz="2133" b="1" i="0">
                <a:solidFill>
                  <a:srgbClr val="0A2540"/>
                </a:solidFill>
                <a:latin typeface="Calibri"/>
              </a:rPr>
              <a:t>Operations</a:t>
            </a:r>
          </a:p>
        </p:txBody>
      </p:sp>
      <p:sp>
        <p:nvSpPr>
          <p:cNvPr id="35" name="TextBox 34"/>
          <p:cNvSpPr txBox="1"/>
          <p:nvPr/>
        </p:nvSpPr>
        <p:spPr>
          <a:xfrm>
            <a:off x="8412269" y="4998595"/>
            <a:ext cx="2926006" cy="487667"/>
          </a:xfrm>
          <a:prstGeom prst="rect">
            <a:avLst/>
          </a:prstGeom>
          <a:noFill/>
        </p:spPr>
        <p:txBody>
          <a:bodyPr wrap="square" lIns="0" rIns="0" tIns="0" bIns="0" anchor="ctr">
            <a:spAutoFit/>
          </a:bodyPr>
          <a:lstStyle/>
          <a:p>
            <a:pPr algn="l"/>
            <a:r>
              <a:rPr sz="1733" b="0" i="0">
                <a:solidFill>
                  <a:srgbClr val="475569"/>
                </a:solidFill>
                <a:latin typeface="Calibri"/>
              </a:rPr>
              <a:t>Telemetry → feedback</a:t>
            </a:r>
          </a:p>
        </p:txBody>
      </p:sp>
      <p:sp>
        <p:nvSpPr>
          <p:cNvPr id="36" name="TextBox 35"/>
          <p:cNvSpPr txBox="1"/>
          <p:nvPr/>
        </p:nvSpPr>
        <p:spPr>
          <a:xfrm>
            <a:off x="609584" y="5912972"/>
            <a:ext cx="10972525" cy="365750"/>
          </a:xfrm>
          <a:prstGeom prst="rect">
            <a:avLst/>
          </a:prstGeom>
          <a:noFill/>
        </p:spPr>
        <p:txBody>
          <a:bodyPr wrap="square" lIns="0" rIns="0" tIns="0" bIns="0" anchor="t">
            <a:spAutoFit/>
          </a:bodyPr>
          <a:lstStyle/>
          <a:p>
            <a:pPr algn="l"/>
            <a:r>
              <a:rPr sz="1733" b="1" i="0">
                <a:solidFill>
                  <a:srgbClr val="1F5FBF"/>
                </a:solidFill>
                <a:latin typeface="Calibri"/>
              </a:rPr>
              <a:t>Each stage has an AI instruction, a human gate, and a repository artifact.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584" y="365750"/>
            <a:ext cx="9753356" cy="365750"/>
          </a:xfrm>
          <a:prstGeom prst="rect">
            <a:avLst/>
          </a:prstGeom>
          <a:noFill/>
        </p:spPr>
        <p:txBody>
          <a:bodyPr wrap="square" lIns="0" rIns="0" tIns="0" bIns="0" anchor="t">
            <a:spAutoFit/>
          </a:bodyPr>
          <a:lstStyle/>
          <a:p>
            <a:pPr algn="l"/>
            <a:r>
              <a:rPr sz="1466" b="1" i="0">
                <a:solidFill>
                  <a:srgbClr val="1F5FBF"/>
                </a:solidFill>
                <a:latin typeface="Calibri"/>
              </a:rPr>
              <a:t>HUMAN-IN-THE-LOOP</a:t>
            </a:r>
          </a:p>
        </p:txBody>
      </p:sp>
      <p:sp>
        <p:nvSpPr>
          <p:cNvPr id="3" name="TextBox 2"/>
          <p:cNvSpPr txBox="1"/>
          <p:nvPr/>
        </p:nvSpPr>
        <p:spPr>
          <a:xfrm>
            <a:off x="609584" y="731501"/>
            <a:ext cx="10972525" cy="792460"/>
          </a:xfrm>
          <a:prstGeom prst="rect">
            <a:avLst/>
          </a:prstGeom>
          <a:noFill/>
        </p:spPr>
        <p:txBody>
          <a:bodyPr wrap="square" lIns="0" rIns="0" tIns="0" bIns="0" anchor="t">
            <a:spAutoFit/>
          </a:bodyPr>
          <a:lstStyle/>
          <a:p>
            <a:pPr algn="l"/>
            <a:r>
              <a:rPr sz="3733" b="1" i="0">
                <a:solidFill>
                  <a:srgbClr val="0A2540"/>
                </a:solidFill>
                <a:latin typeface="Cambria"/>
              </a:rPr>
              <a:t>The system prepares; people decide</a:t>
            </a:r>
          </a:p>
        </p:txBody>
      </p:sp>
      <p:sp>
        <p:nvSpPr>
          <p:cNvPr id="4" name="TextBox 3"/>
          <p:cNvSpPr txBox="1"/>
          <p:nvPr/>
        </p:nvSpPr>
        <p:spPr>
          <a:xfrm>
            <a:off x="609584" y="6400639"/>
            <a:ext cx="7315017" cy="304792"/>
          </a:xfrm>
          <a:prstGeom prst="rect">
            <a:avLst/>
          </a:prstGeom>
          <a:noFill/>
        </p:spPr>
        <p:txBody>
          <a:bodyPr wrap="square" lIns="0" rIns="0" tIns="0" bIns="0" anchor="t">
            <a:spAutoFit/>
          </a:bodyPr>
          <a:lstStyle/>
          <a:p>
            <a:pPr algn="l"/>
            <a:r>
              <a:rPr sz="1199" b="0" i="0">
                <a:solidFill>
                  <a:srgbClr val="475569"/>
                </a:solidFill>
                <a:latin typeface="Calibri"/>
              </a:rPr>
              <a:t>Risk Assessment Workbench  |  Genius Hacks 2026</a:t>
            </a:r>
          </a:p>
        </p:txBody>
      </p:sp>
      <p:sp>
        <p:nvSpPr>
          <p:cNvPr id="5" name="TextBox 4"/>
          <p:cNvSpPr txBox="1"/>
          <p:nvPr/>
        </p:nvSpPr>
        <p:spPr>
          <a:xfrm>
            <a:off x="10972525" y="6400639"/>
            <a:ext cx="609584" cy="304792"/>
          </a:xfrm>
          <a:prstGeom prst="rect">
            <a:avLst/>
          </a:prstGeom>
          <a:noFill/>
        </p:spPr>
        <p:txBody>
          <a:bodyPr wrap="square" lIns="0" rIns="0" tIns="0" bIns="0" anchor="t">
            <a:spAutoFit/>
          </a:bodyPr>
          <a:lstStyle/>
          <a:p>
            <a:pPr algn="r"/>
            <a:r>
              <a:rPr sz="1199" b="0" i="0">
                <a:solidFill>
                  <a:srgbClr val="475569"/>
                </a:solidFill>
                <a:latin typeface="Calibri"/>
              </a:rPr>
              <a:t>7</a:t>
            </a:r>
          </a:p>
        </p:txBody>
      </p:sp>
      <p:sp>
        <p:nvSpPr>
          <p:cNvPr id="6" name="Rounded Rectangle 5"/>
          <p:cNvSpPr/>
          <p:nvPr/>
        </p:nvSpPr>
        <p:spPr>
          <a:xfrm>
            <a:off x="609584" y="1767795"/>
            <a:ext cx="1828754" cy="670543"/>
          </a:xfrm>
          <a:prstGeom prst="roundRect">
            <a:avLst>
              <a:gd name="adj" fmla="val 14545"/>
            </a:avLst>
          </a:prstGeom>
          <a:solidFill>
            <a:srgbClr val="93C5FD"/>
          </a:solidFill>
          <a:ln w="9525">
            <a:solidFill>
              <a:srgbClr val="93C5F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609584" y="1767795"/>
            <a:ext cx="1828754" cy="670543"/>
          </a:xfrm>
          <a:prstGeom prst="rect">
            <a:avLst/>
          </a:prstGeom>
          <a:noFill/>
        </p:spPr>
        <p:txBody>
          <a:bodyPr wrap="square" lIns="0" rIns="0" tIns="0" bIns="0" anchor="ctr">
            <a:spAutoFit/>
          </a:bodyPr>
          <a:lstStyle/>
          <a:p>
            <a:pPr algn="ctr"/>
            <a:r>
              <a:rPr sz="1866" b="1" i="0">
                <a:solidFill>
                  <a:srgbClr val="0A2540"/>
                </a:solidFill>
                <a:latin typeface="Calibri"/>
              </a:rPr>
              <a:t>Owner draft</a:t>
            </a:r>
          </a:p>
        </p:txBody>
      </p:sp>
      <p:sp>
        <p:nvSpPr>
          <p:cNvPr id="8" name="TextBox 7"/>
          <p:cNvSpPr txBox="1"/>
          <p:nvPr/>
        </p:nvSpPr>
        <p:spPr>
          <a:xfrm>
            <a:off x="2438339" y="1767795"/>
            <a:ext cx="457188" cy="670543"/>
          </a:xfrm>
          <a:prstGeom prst="rect">
            <a:avLst/>
          </a:prstGeom>
          <a:noFill/>
        </p:spPr>
        <p:txBody>
          <a:bodyPr wrap="square" lIns="0" rIns="0" tIns="0" bIns="0" anchor="ctr">
            <a:spAutoFit/>
          </a:bodyPr>
          <a:lstStyle/>
          <a:p>
            <a:pPr algn="ctr"/>
            <a:r>
              <a:rPr sz="2133" b="0" i="0">
                <a:solidFill>
                  <a:srgbClr val="1F5FBF"/>
                </a:solidFill>
                <a:latin typeface="Calibri"/>
              </a:rPr>
              <a:t>→</a:t>
            </a:r>
          </a:p>
        </p:txBody>
      </p:sp>
      <p:sp>
        <p:nvSpPr>
          <p:cNvPr id="9" name="Rounded Rectangle 8"/>
          <p:cNvSpPr/>
          <p:nvPr/>
        </p:nvSpPr>
        <p:spPr>
          <a:xfrm>
            <a:off x="2895527" y="1767795"/>
            <a:ext cx="1828754" cy="670543"/>
          </a:xfrm>
          <a:prstGeom prst="roundRect">
            <a:avLst>
              <a:gd name="adj" fmla="val 14545"/>
            </a:avLst>
          </a:prstGeom>
          <a:solidFill>
            <a:srgbClr val="1F5FBF"/>
          </a:solidFill>
          <a:ln w="9525">
            <a:solidFill>
              <a:srgbClr val="1F5FB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2895527" y="1767795"/>
            <a:ext cx="1828754" cy="670543"/>
          </a:xfrm>
          <a:prstGeom prst="rect">
            <a:avLst/>
          </a:prstGeom>
          <a:noFill/>
        </p:spPr>
        <p:txBody>
          <a:bodyPr wrap="square" lIns="0" rIns="0" tIns="0" bIns="0" anchor="ctr">
            <a:spAutoFit/>
          </a:bodyPr>
          <a:lstStyle/>
          <a:p>
            <a:pPr algn="ctr"/>
            <a:r>
              <a:rPr sz="1866" b="1" i="0">
                <a:solidFill>
                  <a:srgbClr val="FFFFFF"/>
                </a:solidFill>
                <a:latin typeface="Calibri"/>
              </a:rPr>
              <a:t>Analyst review</a:t>
            </a:r>
          </a:p>
        </p:txBody>
      </p:sp>
      <p:sp>
        <p:nvSpPr>
          <p:cNvPr id="11" name="TextBox 10"/>
          <p:cNvSpPr txBox="1"/>
          <p:nvPr/>
        </p:nvSpPr>
        <p:spPr>
          <a:xfrm>
            <a:off x="4724281" y="1767795"/>
            <a:ext cx="457188" cy="670543"/>
          </a:xfrm>
          <a:prstGeom prst="rect">
            <a:avLst/>
          </a:prstGeom>
          <a:noFill/>
        </p:spPr>
        <p:txBody>
          <a:bodyPr wrap="square" lIns="0" rIns="0" tIns="0" bIns="0" anchor="ctr">
            <a:spAutoFit/>
          </a:bodyPr>
          <a:lstStyle/>
          <a:p>
            <a:pPr algn="ctr"/>
            <a:r>
              <a:rPr sz="2133" b="0" i="0">
                <a:solidFill>
                  <a:srgbClr val="1F5FBF"/>
                </a:solidFill>
                <a:latin typeface="Calibri"/>
              </a:rPr>
              <a:t>→</a:t>
            </a:r>
          </a:p>
        </p:txBody>
      </p:sp>
      <p:sp>
        <p:nvSpPr>
          <p:cNvPr id="12" name="Rounded Rectangle 11"/>
          <p:cNvSpPr/>
          <p:nvPr/>
        </p:nvSpPr>
        <p:spPr>
          <a:xfrm>
            <a:off x="5181470" y="1767795"/>
            <a:ext cx="1828754" cy="670543"/>
          </a:xfrm>
          <a:prstGeom prst="roundRect">
            <a:avLst>
              <a:gd name="adj" fmla="val 14545"/>
            </a:avLst>
          </a:prstGeom>
          <a:solidFill>
            <a:srgbClr val="1F5FBF"/>
          </a:solidFill>
          <a:ln w="9525">
            <a:solidFill>
              <a:srgbClr val="1F5FB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5181470" y="1767795"/>
            <a:ext cx="1828754" cy="670543"/>
          </a:xfrm>
          <a:prstGeom prst="rect">
            <a:avLst/>
          </a:prstGeom>
          <a:noFill/>
        </p:spPr>
        <p:txBody>
          <a:bodyPr wrap="square" lIns="0" rIns="0" tIns="0" bIns="0" anchor="ctr">
            <a:spAutoFit/>
          </a:bodyPr>
          <a:lstStyle/>
          <a:p>
            <a:pPr algn="ctr"/>
            <a:r>
              <a:rPr sz="1866" b="1" i="0">
                <a:solidFill>
                  <a:srgbClr val="FFFFFF"/>
                </a:solidFill>
                <a:latin typeface="Calibri"/>
              </a:rPr>
              <a:t>Committee</a:t>
            </a:r>
          </a:p>
        </p:txBody>
      </p:sp>
      <p:sp>
        <p:nvSpPr>
          <p:cNvPr id="14" name="TextBox 13"/>
          <p:cNvSpPr txBox="1"/>
          <p:nvPr/>
        </p:nvSpPr>
        <p:spPr>
          <a:xfrm>
            <a:off x="7010224" y="1767795"/>
            <a:ext cx="457188" cy="670543"/>
          </a:xfrm>
          <a:prstGeom prst="rect">
            <a:avLst/>
          </a:prstGeom>
          <a:noFill/>
        </p:spPr>
        <p:txBody>
          <a:bodyPr wrap="square" lIns="0" rIns="0" tIns="0" bIns="0" anchor="ctr">
            <a:spAutoFit/>
          </a:bodyPr>
          <a:lstStyle/>
          <a:p>
            <a:pPr algn="ctr"/>
            <a:r>
              <a:rPr sz="2133" b="0" i="0">
                <a:solidFill>
                  <a:srgbClr val="1F5FBF"/>
                </a:solidFill>
                <a:latin typeface="Calibri"/>
              </a:rPr>
              <a:t>→</a:t>
            </a:r>
          </a:p>
        </p:txBody>
      </p:sp>
      <p:sp>
        <p:nvSpPr>
          <p:cNvPr id="15" name="Rounded Rectangle 14"/>
          <p:cNvSpPr/>
          <p:nvPr/>
        </p:nvSpPr>
        <p:spPr>
          <a:xfrm>
            <a:off x="7467413" y="1767795"/>
            <a:ext cx="1828754" cy="670543"/>
          </a:xfrm>
          <a:prstGeom prst="roundRect">
            <a:avLst>
              <a:gd name="adj" fmla="val 14545"/>
            </a:avLst>
          </a:prstGeom>
          <a:solidFill>
            <a:srgbClr val="1F5FBF"/>
          </a:solidFill>
          <a:ln w="9525">
            <a:solidFill>
              <a:srgbClr val="1F5FB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7467413" y="1767795"/>
            <a:ext cx="1828754" cy="670543"/>
          </a:xfrm>
          <a:prstGeom prst="rect">
            <a:avLst/>
          </a:prstGeom>
          <a:noFill/>
        </p:spPr>
        <p:txBody>
          <a:bodyPr wrap="square" lIns="0" rIns="0" tIns="0" bIns="0" anchor="ctr">
            <a:spAutoFit/>
          </a:bodyPr>
          <a:lstStyle/>
          <a:p>
            <a:pPr algn="ctr"/>
            <a:r>
              <a:rPr sz="1866" b="1" i="0">
                <a:solidFill>
                  <a:srgbClr val="FFFFFF"/>
                </a:solidFill>
                <a:latin typeface="Calibri"/>
              </a:rPr>
              <a:t>Decision</a:t>
            </a:r>
          </a:p>
        </p:txBody>
      </p:sp>
      <p:sp>
        <p:nvSpPr>
          <p:cNvPr id="17" name="TextBox 16"/>
          <p:cNvSpPr txBox="1"/>
          <p:nvPr/>
        </p:nvSpPr>
        <p:spPr>
          <a:xfrm>
            <a:off x="9296167" y="1767795"/>
            <a:ext cx="457188" cy="670543"/>
          </a:xfrm>
          <a:prstGeom prst="rect">
            <a:avLst/>
          </a:prstGeom>
          <a:noFill/>
        </p:spPr>
        <p:txBody>
          <a:bodyPr wrap="square" lIns="0" rIns="0" tIns="0" bIns="0" anchor="ctr">
            <a:spAutoFit/>
          </a:bodyPr>
          <a:lstStyle/>
          <a:p>
            <a:pPr algn="ctr"/>
            <a:r>
              <a:rPr sz="2133" b="0" i="0">
                <a:solidFill>
                  <a:srgbClr val="1F5FBF"/>
                </a:solidFill>
                <a:latin typeface="Calibri"/>
              </a:rPr>
              <a:t>→</a:t>
            </a:r>
          </a:p>
        </p:txBody>
      </p:sp>
      <p:sp>
        <p:nvSpPr>
          <p:cNvPr id="18" name="Rounded Rectangle 17"/>
          <p:cNvSpPr/>
          <p:nvPr/>
        </p:nvSpPr>
        <p:spPr>
          <a:xfrm>
            <a:off x="9753356" y="1767795"/>
            <a:ext cx="1828754" cy="670543"/>
          </a:xfrm>
          <a:prstGeom prst="roundRect">
            <a:avLst>
              <a:gd name="adj" fmla="val 14545"/>
            </a:avLst>
          </a:prstGeom>
          <a:solidFill>
            <a:srgbClr val="1F5FBF"/>
          </a:solidFill>
          <a:ln w="9525">
            <a:solidFill>
              <a:srgbClr val="1F5FB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9753356" y="1767795"/>
            <a:ext cx="1828754" cy="670543"/>
          </a:xfrm>
          <a:prstGeom prst="rect">
            <a:avLst/>
          </a:prstGeom>
          <a:noFill/>
        </p:spPr>
        <p:txBody>
          <a:bodyPr wrap="square" lIns="0" rIns="0" tIns="0" bIns="0" anchor="ctr">
            <a:spAutoFit/>
          </a:bodyPr>
          <a:lstStyle/>
          <a:p>
            <a:pPr algn="ctr"/>
            <a:r>
              <a:rPr sz="1866" b="1" i="0">
                <a:solidFill>
                  <a:srgbClr val="FFFFFF"/>
                </a:solidFill>
                <a:latin typeface="Calibri"/>
              </a:rPr>
              <a:t>Close</a:t>
            </a:r>
          </a:p>
        </p:txBody>
      </p:sp>
      <p:sp>
        <p:nvSpPr>
          <p:cNvPr id="20" name="Rounded Rectangle 19"/>
          <p:cNvSpPr/>
          <p:nvPr/>
        </p:nvSpPr>
        <p:spPr>
          <a:xfrm>
            <a:off x="609584" y="2804089"/>
            <a:ext cx="3474633" cy="2865048"/>
          </a:xfrm>
          <a:prstGeom prst="roundRect">
            <a:avLst>
              <a:gd name="adj" fmla="val 3404"/>
            </a:avLst>
          </a:prstGeom>
          <a:solidFill>
            <a:srgbClr val="EFF6FF"/>
          </a:solidFill>
          <a:ln w="9525">
            <a:solidFill>
              <a:srgbClr val="C7DBF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Oval 20"/>
          <p:cNvSpPr/>
          <p:nvPr/>
        </p:nvSpPr>
        <p:spPr>
          <a:xfrm>
            <a:off x="914377" y="2950390"/>
            <a:ext cx="487667" cy="487667"/>
          </a:xfrm>
          <a:prstGeom prst="ellipse">
            <a:avLst/>
          </a:prstGeom>
          <a:solidFill>
            <a:srgbClr val="1F5FBF"/>
          </a:solidFill>
          <a:ln w="9525">
            <a:solidFill>
              <a:srgbClr val="1F5FB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914377" y="2950390"/>
            <a:ext cx="487667" cy="487667"/>
          </a:xfrm>
          <a:prstGeom prst="rect">
            <a:avLst/>
          </a:prstGeom>
          <a:noFill/>
        </p:spPr>
        <p:txBody>
          <a:bodyPr wrap="square" lIns="0" rIns="0" tIns="0" bIns="0" anchor="ctr">
            <a:spAutoFit/>
          </a:bodyPr>
          <a:lstStyle/>
          <a:p>
            <a:pPr algn="ctr"/>
            <a:r>
              <a:rPr sz="2133" b="1" i="0">
                <a:solidFill>
                  <a:srgbClr val="FFFFFF"/>
                </a:solidFill>
                <a:latin typeface="Cambria"/>
              </a:rPr>
              <a:t>1</a:t>
            </a:r>
          </a:p>
        </p:txBody>
      </p:sp>
      <p:sp>
        <p:nvSpPr>
          <p:cNvPr id="23" name="TextBox 22"/>
          <p:cNvSpPr txBox="1"/>
          <p:nvPr/>
        </p:nvSpPr>
        <p:spPr>
          <a:xfrm>
            <a:off x="1767795" y="2950390"/>
            <a:ext cx="2194505" cy="487667"/>
          </a:xfrm>
          <a:prstGeom prst="rect">
            <a:avLst/>
          </a:prstGeom>
          <a:noFill/>
        </p:spPr>
        <p:txBody>
          <a:bodyPr wrap="square" lIns="0" rIns="0" tIns="0" bIns="0" anchor="ctr">
            <a:spAutoFit/>
          </a:bodyPr>
          <a:lstStyle/>
          <a:p>
            <a:pPr algn="l"/>
            <a:r>
              <a:rPr sz="1999" b="1" i="0">
                <a:solidFill>
                  <a:srgbClr val="0A2540"/>
                </a:solidFill>
                <a:latin typeface="Calibri"/>
              </a:rPr>
              <a:t>Analyst gate</a:t>
            </a:r>
          </a:p>
        </p:txBody>
      </p:sp>
      <p:sp>
        <p:nvSpPr>
          <p:cNvPr id="24" name="TextBox 23"/>
          <p:cNvSpPr txBox="1"/>
          <p:nvPr/>
        </p:nvSpPr>
        <p:spPr>
          <a:xfrm>
            <a:off x="914377" y="3657508"/>
            <a:ext cx="2926006" cy="1950671"/>
          </a:xfrm>
          <a:prstGeom prst="rect">
            <a:avLst/>
          </a:prstGeom>
          <a:noFill/>
        </p:spPr>
        <p:txBody>
          <a:bodyPr wrap="square" lIns="0" rIns="0" tIns="0" bIns="0" anchor="t">
            <a:spAutoFit/>
          </a:bodyPr>
          <a:lstStyle/>
          <a:p>
            <a:pPr marL="182880" indent="-182880">
              <a:spcAft>
                <a:spcPts val="666"/>
              </a:spcAft>
              <a:buChar char="•"/>
            </a:pPr>
            <a:r>
              <a:rPr sz="1733">
                <a:solidFill>
                  <a:srgbClr val="0A2540"/>
                </a:solidFill>
                <a:latin typeface="Calibri"/>
              </a:rPr>
              <a:t>Every risk level reviewed</a:t>
            </a:r>
          </a:p>
          <a:p>
            <a:pPr marL="182880" indent="-182880">
              <a:spcAft>
                <a:spcPts val="666"/>
              </a:spcAft>
              <a:buChar char="•"/>
            </a:pPr>
            <a:r>
              <a:rPr sz="1733">
                <a:solidFill>
                  <a:srgbClr val="0A2540"/>
                </a:solidFill>
                <a:latin typeface="Calibri"/>
              </a:rPr>
              <a:t>Edit/rescore with source citations</a:t>
            </a:r>
          </a:p>
          <a:p>
            <a:pPr marL="182880" indent="-182880">
              <a:spcAft>
                <a:spcPts val="666"/>
              </a:spcAft>
              <a:buChar char="•"/>
            </a:pPr>
            <a:r>
              <a:rPr sz="1733">
                <a:solidFill>
                  <a:srgbClr val="0A2540"/>
                </a:solidFill>
                <a:latin typeface="Calibri"/>
              </a:rPr>
              <a:t>Finalize with rationale</a:t>
            </a:r>
          </a:p>
        </p:txBody>
      </p:sp>
      <p:sp>
        <p:nvSpPr>
          <p:cNvPr id="25" name="Rounded Rectangle 24"/>
          <p:cNvSpPr/>
          <p:nvPr/>
        </p:nvSpPr>
        <p:spPr>
          <a:xfrm>
            <a:off x="4358531" y="2804089"/>
            <a:ext cx="3474633" cy="2865048"/>
          </a:xfrm>
          <a:prstGeom prst="roundRect">
            <a:avLst>
              <a:gd name="adj" fmla="val 3404"/>
            </a:avLst>
          </a:prstGeom>
          <a:solidFill>
            <a:srgbClr val="EFF6FF"/>
          </a:solidFill>
          <a:ln w="9525">
            <a:solidFill>
              <a:srgbClr val="C7DBF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Oval 25"/>
          <p:cNvSpPr/>
          <p:nvPr/>
        </p:nvSpPr>
        <p:spPr>
          <a:xfrm>
            <a:off x="4663323" y="2950390"/>
            <a:ext cx="487667" cy="487667"/>
          </a:xfrm>
          <a:prstGeom prst="ellipse">
            <a:avLst/>
          </a:prstGeom>
          <a:solidFill>
            <a:srgbClr val="1F5FBF"/>
          </a:solidFill>
          <a:ln w="9525">
            <a:solidFill>
              <a:srgbClr val="1F5FB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4663323" y="2950390"/>
            <a:ext cx="487667" cy="487667"/>
          </a:xfrm>
          <a:prstGeom prst="rect">
            <a:avLst/>
          </a:prstGeom>
          <a:noFill/>
        </p:spPr>
        <p:txBody>
          <a:bodyPr wrap="square" lIns="0" rIns="0" tIns="0" bIns="0" anchor="ctr">
            <a:spAutoFit/>
          </a:bodyPr>
          <a:lstStyle/>
          <a:p>
            <a:pPr algn="ctr"/>
            <a:r>
              <a:rPr sz="2133" b="1" i="0">
                <a:solidFill>
                  <a:srgbClr val="FFFFFF"/>
                </a:solidFill>
                <a:latin typeface="Cambria"/>
              </a:rPr>
              <a:t>2</a:t>
            </a:r>
          </a:p>
        </p:txBody>
      </p:sp>
      <p:sp>
        <p:nvSpPr>
          <p:cNvPr id="28" name="TextBox 27"/>
          <p:cNvSpPr txBox="1"/>
          <p:nvPr/>
        </p:nvSpPr>
        <p:spPr>
          <a:xfrm>
            <a:off x="5516742" y="2950390"/>
            <a:ext cx="2194505" cy="487667"/>
          </a:xfrm>
          <a:prstGeom prst="rect">
            <a:avLst/>
          </a:prstGeom>
          <a:noFill/>
        </p:spPr>
        <p:txBody>
          <a:bodyPr wrap="square" lIns="0" rIns="0" tIns="0" bIns="0" anchor="ctr">
            <a:spAutoFit/>
          </a:bodyPr>
          <a:lstStyle/>
          <a:p>
            <a:pPr algn="l"/>
            <a:r>
              <a:rPr sz="1999" b="1" i="0">
                <a:solidFill>
                  <a:srgbClr val="0A2540"/>
                </a:solidFill>
                <a:latin typeface="Calibri"/>
              </a:rPr>
              <a:t>Committee + lifecycle</a:t>
            </a:r>
          </a:p>
        </p:txBody>
      </p:sp>
      <p:sp>
        <p:nvSpPr>
          <p:cNvPr id="29" name="TextBox 28"/>
          <p:cNvSpPr txBox="1"/>
          <p:nvPr/>
        </p:nvSpPr>
        <p:spPr>
          <a:xfrm>
            <a:off x="4663323" y="3657508"/>
            <a:ext cx="2926006" cy="1950671"/>
          </a:xfrm>
          <a:prstGeom prst="rect">
            <a:avLst/>
          </a:prstGeom>
          <a:noFill/>
        </p:spPr>
        <p:txBody>
          <a:bodyPr wrap="square" lIns="0" rIns="0" tIns="0" bIns="0" anchor="t">
            <a:spAutoFit/>
          </a:bodyPr>
          <a:lstStyle/>
          <a:p>
            <a:pPr marL="182880" indent="-182880">
              <a:spcAft>
                <a:spcPts val="666"/>
              </a:spcAft>
              <a:buChar char="•"/>
            </a:pPr>
            <a:r>
              <a:rPr sz="1733">
                <a:solidFill>
                  <a:srgbClr val="0A2540"/>
                </a:solidFill>
                <a:latin typeface="Calibri"/>
              </a:rPr>
              <a:t>Three distinct votes; 2-vote majority</a:t>
            </a:r>
          </a:p>
          <a:p>
            <a:pPr marL="182880" indent="-182880">
              <a:spcAft>
                <a:spcPts val="666"/>
              </a:spcAft>
              <a:buChar char="•"/>
            </a:pPr>
            <a:r>
              <a:rPr sz="1733">
                <a:solidFill>
                  <a:srgbClr val="0A2540"/>
                </a:solidFill>
                <a:latin typeface="Calibri"/>
              </a:rPr>
              <a:t>Information requests resume prior stage</a:t>
            </a:r>
          </a:p>
          <a:p>
            <a:pPr marL="182880" indent="-182880">
              <a:spcAft>
                <a:spcPts val="666"/>
              </a:spcAft>
              <a:buChar char="•"/>
            </a:pPr>
            <a:r>
              <a:rPr sz="1733">
                <a:solidFill>
                  <a:srgbClr val="0A2540"/>
                </a:solidFill>
                <a:latin typeface="Calibri"/>
              </a:rPr>
              <a:t>Conditions block closure; reassessments link</a:t>
            </a:r>
          </a:p>
        </p:txBody>
      </p:sp>
      <p:sp>
        <p:nvSpPr>
          <p:cNvPr id="30" name="Rounded Rectangle 29"/>
          <p:cNvSpPr/>
          <p:nvPr/>
        </p:nvSpPr>
        <p:spPr>
          <a:xfrm>
            <a:off x="8107477" y="2804089"/>
            <a:ext cx="3474633" cy="2865048"/>
          </a:xfrm>
          <a:prstGeom prst="roundRect">
            <a:avLst>
              <a:gd name="adj" fmla="val 3404"/>
            </a:avLst>
          </a:prstGeom>
          <a:solidFill>
            <a:srgbClr val="EFF6FF"/>
          </a:solidFill>
          <a:ln w="9525">
            <a:solidFill>
              <a:srgbClr val="C7DBF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Oval 30"/>
          <p:cNvSpPr/>
          <p:nvPr/>
        </p:nvSpPr>
        <p:spPr>
          <a:xfrm>
            <a:off x="8412269" y="2950390"/>
            <a:ext cx="487667" cy="487667"/>
          </a:xfrm>
          <a:prstGeom prst="ellipse">
            <a:avLst/>
          </a:prstGeom>
          <a:solidFill>
            <a:srgbClr val="1F5FBF"/>
          </a:solidFill>
          <a:ln w="9525">
            <a:solidFill>
              <a:srgbClr val="1F5FB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TextBox 31"/>
          <p:cNvSpPr txBox="1"/>
          <p:nvPr/>
        </p:nvSpPr>
        <p:spPr>
          <a:xfrm>
            <a:off x="8412269" y="2950390"/>
            <a:ext cx="487667" cy="487667"/>
          </a:xfrm>
          <a:prstGeom prst="rect">
            <a:avLst/>
          </a:prstGeom>
          <a:noFill/>
        </p:spPr>
        <p:txBody>
          <a:bodyPr wrap="square" lIns="0" rIns="0" tIns="0" bIns="0" anchor="ctr">
            <a:spAutoFit/>
          </a:bodyPr>
          <a:lstStyle/>
          <a:p>
            <a:pPr algn="ctr"/>
            <a:r>
              <a:rPr sz="2133" b="1" i="0">
                <a:solidFill>
                  <a:srgbClr val="FFFFFF"/>
                </a:solidFill>
                <a:latin typeface="Cambria"/>
              </a:rPr>
              <a:t>3</a:t>
            </a:r>
          </a:p>
        </p:txBody>
      </p:sp>
      <p:sp>
        <p:nvSpPr>
          <p:cNvPr id="33" name="TextBox 32"/>
          <p:cNvSpPr txBox="1"/>
          <p:nvPr/>
        </p:nvSpPr>
        <p:spPr>
          <a:xfrm>
            <a:off x="9265688" y="2950390"/>
            <a:ext cx="2194505" cy="487667"/>
          </a:xfrm>
          <a:prstGeom prst="rect">
            <a:avLst/>
          </a:prstGeom>
          <a:noFill/>
        </p:spPr>
        <p:txBody>
          <a:bodyPr wrap="square" lIns="0" rIns="0" tIns="0" bIns="0" anchor="ctr">
            <a:spAutoFit/>
          </a:bodyPr>
          <a:lstStyle/>
          <a:p>
            <a:pPr algn="l"/>
            <a:r>
              <a:rPr sz="1999" b="1" i="0">
                <a:solidFill>
                  <a:srgbClr val="0A2540"/>
                </a:solidFill>
                <a:latin typeface="Calibri"/>
              </a:rPr>
              <a:t>Audit evidence</a:t>
            </a:r>
          </a:p>
        </p:txBody>
      </p:sp>
      <p:sp>
        <p:nvSpPr>
          <p:cNvPr id="34" name="TextBox 33"/>
          <p:cNvSpPr txBox="1"/>
          <p:nvPr/>
        </p:nvSpPr>
        <p:spPr>
          <a:xfrm>
            <a:off x="8412269" y="3657508"/>
            <a:ext cx="2926006" cy="1950671"/>
          </a:xfrm>
          <a:prstGeom prst="rect">
            <a:avLst/>
          </a:prstGeom>
          <a:noFill/>
        </p:spPr>
        <p:txBody>
          <a:bodyPr wrap="square" lIns="0" rIns="0" tIns="0" bIns="0" anchor="t">
            <a:spAutoFit/>
          </a:bodyPr>
          <a:lstStyle/>
          <a:p>
            <a:pPr marL="182880" indent="-182880">
              <a:spcAft>
                <a:spcPts val="666"/>
              </a:spcAft>
              <a:buChar char="•"/>
            </a:pPr>
            <a:r>
              <a:rPr sz="1733">
                <a:solidFill>
                  <a:srgbClr val="0A2540"/>
                </a:solidFill>
                <a:latin typeface="Calibri"/>
              </a:rPr>
              <a:t>Versioned extractions and UTC events</a:t>
            </a:r>
          </a:p>
          <a:p>
            <a:pPr marL="182880" indent="-182880">
              <a:spcAft>
                <a:spcPts val="666"/>
              </a:spcAft>
              <a:buChar char="•"/>
            </a:pPr>
            <a:r>
              <a:rPr sz="1733">
                <a:solidFill>
                  <a:srgbClr val="0A2540"/>
                </a:solidFill>
                <a:latin typeface="Calibri"/>
              </a:rPr>
              <a:t>Verifiable event hash chain + source hashes</a:t>
            </a:r>
          </a:p>
          <a:p>
            <a:pPr marL="182880" indent="-182880">
              <a:spcAft>
                <a:spcPts val="666"/>
              </a:spcAft>
              <a:buChar char="•"/>
            </a:pPr>
            <a:r>
              <a:rPr sz="1733">
                <a:solidFill>
                  <a:srgbClr val="0A2540"/>
                </a:solidFill>
                <a:latin typeface="Calibri"/>
              </a:rPr>
              <a:t>Examiner ZIP with verification manifest</a:t>
            </a:r>
          </a:p>
        </p:txBody>
      </p:sp>
      <p:sp>
        <p:nvSpPr>
          <p:cNvPr id="35" name="TextBox 34"/>
          <p:cNvSpPr txBox="1"/>
          <p:nvPr/>
        </p:nvSpPr>
        <p:spPr>
          <a:xfrm>
            <a:off x="609584" y="5852013"/>
            <a:ext cx="10972525" cy="365750"/>
          </a:xfrm>
          <a:prstGeom prst="rect">
            <a:avLst/>
          </a:prstGeom>
          <a:noFill/>
        </p:spPr>
        <p:txBody>
          <a:bodyPr wrap="square" lIns="0" rIns="0" tIns="0" bIns="0" anchor="t">
            <a:spAutoFit/>
          </a:bodyPr>
          <a:lstStyle/>
          <a:p>
            <a:pPr algn="l"/>
            <a:r>
              <a:rPr sz="1466" b="0" i="1">
                <a:solidFill>
                  <a:srgbClr val="475569"/>
                </a:solidFill>
                <a:latin typeface="Calibri"/>
              </a:rPr>
              <a:t>Demo identities only; vote/scoring rules are unapproved. Hash-chain verification is not immutable storage.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584" y="365750"/>
            <a:ext cx="9753356" cy="365750"/>
          </a:xfrm>
          <a:prstGeom prst="rect">
            <a:avLst/>
          </a:prstGeom>
          <a:noFill/>
        </p:spPr>
        <p:txBody>
          <a:bodyPr wrap="square" lIns="0" rIns="0" tIns="0" bIns="0" anchor="t">
            <a:spAutoFit/>
          </a:bodyPr>
          <a:lstStyle/>
          <a:p>
            <a:pPr algn="l"/>
            <a:r>
              <a:rPr sz="1466" b="1" i="0">
                <a:solidFill>
                  <a:srgbClr val="1F5FBF"/>
                </a:solidFill>
                <a:latin typeface="Calibri"/>
              </a:rPr>
              <a:t>WORKING DEMONSTRATION</a:t>
            </a:r>
          </a:p>
        </p:txBody>
      </p:sp>
      <p:sp>
        <p:nvSpPr>
          <p:cNvPr id="3" name="TextBox 2"/>
          <p:cNvSpPr txBox="1"/>
          <p:nvPr/>
        </p:nvSpPr>
        <p:spPr>
          <a:xfrm>
            <a:off x="609584" y="731501"/>
            <a:ext cx="10972525" cy="792460"/>
          </a:xfrm>
          <a:prstGeom prst="rect">
            <a:avLst/>
          </a:prstGeom>
          <a:noFill/>
        </p:spPr>
        <p:txBody>
          <a:bodyPr wrap="square" lIns="0" rIns="0" tIns="0" bIns="0" anchor="t">
            <a:spAutoFit/>
          </a:bodyPr>
          <a:lstStyle/>
          <a:p>
            <a:pPr algn="l"/>
            <a:r>
              <a:rPr sz="3733" b="1" i="0">
                <a:solidFill>
                  <a:srgbClr val="0A2540"/>
                </a:solidFill>
                <a:latin typeface="Cambria"/>
              </a:rPr>
              <a:t>One synthetic case, end to end</a:t>
            </a:r>
          </a:p>
        </p:txBody>
      </p:sp>
      <p:sp>
        <p:nvSpPr>
          <p:cNvPr id="4" name="TextBox 3"/>
          <p:cNvSpPr txBox="1"/>
          <p:nvPr/>
        </p:nvSpPr>
        <p:spPr>
          <a:xfrm>
            <a:off x="609584" y="6400639"/>
            <a:ext cx="7315017" cy="304792"/>
          </a:xfrm>
          <a:prstGeom prst="rect">
            <a:avLst/>
          </a:prstGeom>
          <a:noFill/>
        </p:spPr>
        <p:txBody>
          <a:bodyPr wrap="square" lIns="0" rIns="0" tIns="0" bIns="0" anchor="t">
            <a:spAutoFit/>
          </a:bodyPr>
          <a:lstStyle/>
          <a:p>
            <a:pPr algn="l"/>
            <a:r>
              <a:rPr sz="1199" b="0" i="0">
                <a:solidFill>
                  <a:srgbClr val="475569"/>
                </a:solidFill>
                <a:latin typeface="Calibri"/>
              </a:rPr>
              <a:t>Risk Assessment Workbench  |  Genius Hacks 2026</a:t>
            </a:r>
          </a:p>
        </p:txBody>
      </p:sp>
      <p:sp>
        <p:nvSpPr>
          <p:cNvPr id="5" name="TextBox 4"/>
          <p:cNvSpPr txBox="1"/>
          <p:nvPr/>
        </p:nvSpPr>
        <p:spPr>
          <a:xfrm>
            <a:off x="10972525" y="6400639"/>
            <a:ext cx="609584" cy="304792"/>
          </a:xfrm>
          <a:prstGeom prst="rect">
            <a:avLst/>
          </a:prstGeom>
          <a:noFill/>
        </p:spPr>
        <p:txBody>
          <a:bodyPr wrap="square" lIns="0" rIns="0" tIns="0" bIns="0" anchor="t">
            <a:spAutoFit/>
          </a:bodyPr>
          <a:lstStyle/>
          <a:p>
            <a:pPr algn="r"/>
            <a:r>
              <a:rPr sz="1199" b="0" i="0">
                <a:solidFill>
                  <a:srgbClr val="475569"/>
                </a:solidFill>
                <a:latin typeface="Calibri"/>
              </a:rPr>
              <a:t>8</a:t>
            </a:r>
          </a:p>
        </p:txBody>
      </p:sp>
      <p:cxnSp>
        <p:nvCxnSpPr>
          <p:cNvPr id="6" name="Connector 5"/>
          <p:cNvCxnSpPr/>
          <p:nvPr/>
        </p:nvCxnSpPr>
        <p:spPr>
          <a:xfrm>
            <a:off x="1523961" y="2499297"/>
            <a:ext cx="9143772" cy="0"/>
          </a:xfrm>
          <a:prstGeom prst="line">
            <a:avLst/>
          </a:prstGeom>
          <a:ln w="33865">
            <a:solidFill>
              <a:srgbClr val="93C5FD"/>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1158211" y="2133546"/>
            <a:ext cx="731501" cy="731501"/>
          </a:xfrm>
          <a:prstGeom prst="ellipse">
            <a:avLst/>
          </a:prstGeom>
          <a:solidFill>
            <a:srgbClr val="0A2540"/>
          </a:solidFill>
          <a:ln w="254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1158211" y="2133546"/>
            <a:ext cx="731501" cy="731501"/>
          </a:xfrm>
          <a:prstGeom prst="rect">
            <a:avLst/>
          </a:prstGeom>
          <a:noFill/>
        </p:spPr>
        <p:txBody>
          <a:bodyPr wrap="square" lIns="0" rIns="0" tIns="0" bIns="0" anchor="ctr">
            <a:spAutoFit/>
          </a:bodyPr>
          <a:lstStyle/>
          <a:p>
            <a:pPr algn="ctr"/>
            <a:r>
              <a:rPr sz="2399" b="1" i="0">
                <a:solidFill>
                  <a:srgbClr val="FFFFFF"/>
                </a:solidFill>
                <a:latin typeface="Cambria"/>
              </a:rPr>
              <a:t>1</a:t>
            </a:r>
          </a:p>
        </p:txBody>
      </p:sp>
      <p:sp>
        <p:nvSpPr>
          <p:cNvPr id="9" name="TextBox 8"/>
          <p:cNvSpPr txBox="1"/>
          <p:nvPr/>
        </p:nvSpPr>
        <p:spPr>
          <a:xfrm>
            <a:off x="670543" y="3047923"/>
            <a:ext cx="1706837" cy="975335"/>
          </a:xfrm>
          <a:prstGeom prst="rect">
            <a:avLst/>
          </a:prstGeom>
          <a:noFill/>
        </p:spPr>
        <p:txBody>
          <a:bodyPr wrap="square" lIns="0" rIns="0" tIns="0" bIns="0" anchor="t">
            <a:spAutoFit/>
          </a:bodyPr>
          <a:lstStyle/>
          <a:p>
            <a:pPr algn="ctr"/>
            <a:r>
              <a:rPr sz="1599" b="1" i="0">
                <a:solidFill>
                  <a:srgbClr val="0A2540"/>
                </a:solidFill>
                <a:latin typeface="Calibri"/>
              </a:rPr>
              <a:t>Owner uploads PDF</a:t>
            </a:r>
          </a:p>
        </p:txBody>
      </p:sp>
      <p:sp>
        <p:nvSpPr>
          <p:cNvPr id="10" name="Oval 9"/>
          <p:cNvSpPr/>
          <p:nvPr/>
        </p:nvSpPr>
        <p:spPr>
          <a:xfrm>
            <a:off x="2986965" y="2133546"/>
            <a:ext cx="731501" cy="731501"/>
          </a:xfrm>
          <a:prstGeom prst="ellipse">
            <a:avLst/>
          </a:prstGeom>
          <a:solidFill>
            <a:srgbClr val="0A2540"/>
          </a:solidFill>
          <a:ln w="254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2986965" y="2133546"/>
            <a:ext cx="731501" cy="731501"/>
          </a:xfrm>
          <a:prstGeom prst="rect">
            <a:avLst/>
          </a:prstGeom>
          <a:noFill/>
        </p:spPr>
        <p:txBody>
          <a:bodyPr wrap="square" lIns="0" rIns="0" tIns="0" bIns="0" anchor="ctr">
            <a:spAutoFit/>
          </a:bodyPr>
          <a:lstStyle/>
          <a:p>
            <a:pPr algn="ctr"/>
            <a:r>
              <a:rPr sz="2399" b="1" i="0">
                <a:solidFill>
                  <a:srgbClr val="FFFFFF"/>
                </a:solidFill>
                <a:latin typeface="Cambria"/>
              </a:rPr>
              <a:t>2</a:t>
            </a:r>
          </a:p>
        </p:txBody>
      </p:sp>
      <p:sp>
        <p:nvSpPr>
          <p:cNvPr id="12" name="TextBox 11"/>
          <p:cNvSpPr txBox="1"/>
          <p:nvPr/>
        </p:nvSpPr>
        <p:spPr>
          <a:xfrm>
            <a:off x="2499297" y="3047923"/>
            <a:ext cx="1706837" cy="975335"/>
          </a:xfrm>
          <a:prstGeom prst="rect">
            <a:avLst/>
          </a:prstGeom>
          <a:noFill/>
        </p:spPr>
        <p:txBody>
          <a:bodyPr wrap="square" lIns="0" rIns="0" tIns="0" bIns="0" anchor="t">
            <a:spAutoFit/>
          </a:bodyPr>
          <a:lstStyle/>
          <a:p>
            <a:pPr algn="ctr"/>
            <a:r>
              <a:rPr sz="1599" b="1" i="0">
                <a:solidFill>
                  <a:srgbClr val="0A2540"/>
                </a:solidFill>
                <a:latin typeface="Calibri"/>
              </a:rPr>
              <a:t>Inspect draft + score</a:t>
            </a:r>
          </a:p>
        </p:txBody>
      </p:sp>
      <p:sp>
        <p:nvSpPr>
          <p:cNvPr id="13" name="Oval 12"/>
          <p:cNvSpPr/>
          <p:nvPr/>
        </p:nvSpPr>
        <p:spPr>
          <a:xfrm>
            <a:off x="4815719" y="2133546"/>
            <a:ext cx="731501" cy="731501"/>
          </a:xfrm>
          <a:prstGeom prst="ellipse">
            <a:avLst/>
          </a:prstGeom>
          <a:solidFill>
            <a:srgbClr val="0A2540"/>
          </a:solidFill>
          <a:ln w="254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4815719" y="2133546"/>
            <a:ext cx="731501" cy="731501"/>
          </a:xfrm>
          <a:prstGeom prst="rect">
            <a:avLst/>
          </a:prstGeom>
          <a:noFill/>
        </p:spPr>
        <p:txBody>
          <a:bodyPr wrap="square" lIns="0" rIns="0" tIns="0" bIns="0" anchor="ctr">
            <a:spAutoFit/>
          </a:bodyPr>
          <a:lstStyle/>
          <a:p>
            <a:pPr algn="ctr"/>
            <a:r>
              <a:rPr sz="2399" b="1" i="0">
                <a:solidFill>
                  <a:srgbClr val="FFFFFF"/>
                </a:solidFill>
                <a:latin typeface="Cambria"/>
              </a:rPr>
              <a:t>3</a:t>
            </a:r>
          </a:p>
        </p:txBody>
      </p:sp>
      <p:sp>
        <p:nvSpPr>
          <p:cNvPr id="15" name="TextBox 14"/>
          <p:cNvSpPr txBox="1"/>
          <p:nvPr/>
        </p:nvSpPr>
        <p:spPr>
          <a:xfrm>
            <a:off x="4328051" y="3047923"/>
            <a:ext cx="1706837" cy="975335"/>
          </a:xfrm>
          <a:prstGeom prst="rect">
            <a:avLst/>
          </a:prstGeom>
          <a:noFill/>
        </p:spPr>
        <p:txBody>
          <a:bodyPr wrap="square" lIns="0" rIns="0" tIns="0" bIns="0" anchor="t">
            <a:spAutoFit/>
          </a:bodyPr>
          <a:lstStyle/>
          <a:p>
            <a:pPr algn="ctr"/>
            <a:r>
              <a:rPr sz="1599" b="1" i="0">
                <a:solidFill>
                  <a:srgbClr val="0A2540"/>
                </a:solidFill>
                <a:latin typeface="Calibri"/>
              </a:rPr>
              <a:t>Owner submits case</a:t>
            </a:r>
          </a:p>
        </p:txBody>
      </p:sp>
      <p:sp>
        <p:nvSpPr>
          <p:cNvPr id="16" name="Oval 15"/>
          <p:cNvSpPr/>
          <p:nvPr/>
        </p:nvSpPr>
        <p:spPr>
          <a:xfrm>
            <a:off x="6644473" y="2133546"/>
            <a:ext cx="731501" cy="731501"/>
          </a:xfrm>
          <a:prstGeom prst="ellipse">
            <a:avLst/>
          </a:prstGeom>
          <a:solidFill>
            <a:srgbClr val="1F5FBF"/>
          </a:solidFill>
          <a:ln w="254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6644473" y="2133546"/>
            <a:ext cx="731501" cy="731501"/>
          </a:xfrm>
          <a:prstGeom prst="rect">
            <a:avLst/>
          </a:prstGeom>
          <a:noFill/>
        </p:spPr>
        <p:txBody>
          <a:bodyPr wrap="square" lIns="0" rIns="0" tIns="0" bIns="0" anchor="ctr">
            <a:spAutoFit/>
          </a:bodyPr>
          <a:lstStyle/>
          <a:p>
            <a:pPr algn="ctr"/>
            <a:r>
              <a:rPr sz="2399" b="1" i="0">
                <a:solidFill>
                  <a:srgbClr val="FFFFFF"/>
                </a:solidFill>
                <a:latin typeface="Cambria"/>
              </a:rPr>
              <a:t>4</a:t>
            </a:r>
          </a:p>
        </p:txBody>
      </p:sp>
      <p:sp>
        <p:nvSpPr>
          <p:cNvPr id="18" name="TextBox 17"/>
          <p:cNvSpPr txBox="1"/>
          <p:nvPr/>
        </p:nvSpPr>
        <p:spPr>
          <a:xfrm>
            <a:off x="6156806" y="3047923"/>
            <a:ext cx="1706837" cy="975335"/>
          </a:xfrm>
          <a:prstGeom prst="rect">
            <a:avLst/>
          </a:prstGeom>
          <a:noFill/>
        </p:spPr>
        <p:txBody>
          <a:bodyPr wrap="square" lIns="0" rIns="0" tIns="0" bIns="0" anchor="t">
            <a:spAutoFit/>
          </a:bodyPr>
          <a:lstStyle/>
          <a:p>
            <a:pPr algn="ctr"/>
            <a:r>
              <a:rPr sz="1599" b="1" i="0">
                <a:solidFill>
                  <a:srgbClr val="0A2540"/>
                </a:solidFill>
                <a:latin typeface="Calibri"/>
              </a:rPr>
              <a:t>Analyst finalizes</a:t>
            </a:r>
          </a:p>
        </p:txBody>
      </p:sp>
      <p:sp>
        <p:nvSpPr>
          <p:cNvPr id="19" name="Oval 18"/>
          <p:cNvSpPr/>
          <p:nvPr/>
        </p:nvSpPr>
        <p:spPr>
          <a:xfrm>
            <a:off x="8473228" y="2133546"/>
            <a:ext cx="731501" cy="731501"/>
          </a:xfrm>
          <a:prstGeom prst="ellipse">
            <a:avLst/>
          </a:prstGeom>
          <a:solidFill>
            <a:srgbClr val="1F5FBF"/>
          </a:solidFill>
          <a:ln w="254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8473228" y="2133546"/>
            <a:ext cx="731501" cy="731501"/>
          </a:xfrm>
          <a:prstGeom prst="rect">
            <a:avLst/>
          </a:prstGeom>
          <a:noFill/>
        </p:spPr>
        <p:txBody>
          <a:bodyPr wrap="square" lIns="0" rIns="0" tIns="0" bIns="0" anchor="ctr">
            <a:spAutoFit/>
          </a:bodyPr>
          <a:lstStyle/>
          <a:p>
            <a:pPr algn="ctr"/>
            <a:r>
              <a:rPr sz="2399" b="1" i="0">
                <a:solidFill>
                  <a:srgbClr val="FFFFFF"/>
                </a:solidFill>
                <a:latin typeface="Cambria"/>
              </a:rPr>
              <a:t>5</a:t>
            </a:r>
          </a:p>
        </p:txBody>
      </p:sp>
      <p:sp>
        <p:nvSpPr>
          <p:cNvPr id="21" name="TextBox 20"/>
          <p:cNvSpPr txBox="1"/>
          <p:nvPr/>
        </p:nvSpPr>
        <p:spPr>
          <a:xfrm>
            <a:off x="7985560" y="3047923"/>
            <a:ext cx="1706837" cy="975335"/>
          </a:xfrm>
          <a:prstGeom prst="rect">
            <a:avLst/>
          </a:prstGeom>
          <a:noFill/>
        </p:spPr>
        <p:txBody>
          <a:bodyPr wrap="square" lIns="0" rIns="0" tIns="0" bIns="0" anchor="t">
            <a:spAutoFit/>
          </a:bodyPr>
          <a:lstStyle/>
          <a:p>
            <a:pPr algn="ctr"/>
            <a:r>
              <a:rPr sz="1599" b="1" i="0">
                <a:solidFill>
                  <a:srgbClr val="0A2540"/>
                </a:solidFill>
                <a:latin typeface="Calibri"/>
              </a:rPr>
              <a:t>Three committee votes</a:t>
            </a:r>
          </a:p>
        </p:txBody>
      </p:sp>
      <p:sp>
        <p:nvSpPr>
          <p:cNvPr id="22" name="Oval 21"/>
          <p:cNvSpPr/>
          <p:nvPr/>
        </p:nvSpPr>
        <p:spPr>
          <a:xfrm>
            <a:off x="10301982" y="2133546"/>
            <a:ext cx="731501" cy="731501"/>
          </a:xfrm>
          <a:prstGeom prst="ellipse">
            <a:avLst/>
          </a:prstGeom>
          <a:solidFill>
            <a:srgbClr val="1F5FBF"/>
          </a:solidFill>
          <a:ln w="254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10301982" y="2133546"/>
            <a:ext cx="731501" cy="731501"/>
          </a:xfrm>
          <a:prstGeom prst="rect">
            <a:avLst/>
          </a:prstGeom>
          <a:noFill/>
        </p:spPr>
        <p:txBody>
          <a:bodyPr wrap="square" lIns="0" rIns="0" tIns="0" bIns="0" anchor="ctr">
            <a:spAutoFit/>
          </a:bodyPr>
          <a:lstStyle/>
          <a:p>
            <a:pPr algn="ctr"/>
            <a:r>
              <a:rPr sz="2399" b="1" i="0">
                <a:solidFill>
                  <a:srgbClr val="FFFFFF"/>
                </a:solidFill>
                <a:latin typeface="Cambria"/>
              </a:rPr>
              <a:t>6</a:t>
            </a:r>
          </a:p>
        </p:txBody>
      </p:sp>
      <p:sp>
        <p:nvSpPr>
          <p:cNvPr id="24" name="TextBox 23"/>
          <p:cNvSpPr txBox="1"/>
          <p:nvPr/>
        </p:nvSpPr>
        <p:spPr>
          <a:xfrm>
            <a:off x="9814314" y="3047923"/>
            <a:ext cx="1706837" cy="975335"/>
          </a:xfrm>
          <a:prstGeom prst="rect">
            <a:avLst/>
          </a:prstGeom>
          <a:noFill/>
        </p:spPr>
        <p:txBody>
          <a:bodyPr wrap="square" lIns="0" rIns="0" tIns="0" bIns="0" anchor="t">
            <a:spAutoFit/>
          </a:bodyPr>
          <a:lstStyle/>
          <a:p>
            <a:pPr algn="ctr"/>
            <a:r>
              <a:rPr sz="1599" b="1" i="0">
                <a:solidFill>
                  <a:srgbClr val="0A2540"/>
                </a:solidFill>
                <a:latin typeface="Calibri"/>
              </a:rPr>
              <a:t>Owner evidence; analyst closes</a:t>
            </a:r>
          </a:p>
        </p:txBody>
      </p:sp>
      <p:sp>
        <p:nvSpPr>
          <p:cNvPr id="25" name="Rounded Rectangle 24"/>
          <p:cNvSpPr/>
          <p:nvPr/>
        </p:nvSpPr>
        <p:spPr>
          <a:xfrm>
            <a:off x="609584" y="4389010"/>
            <a:ext cx="10972525" cy="1706837"/>
          </a:xfrm>
          <a:prstGeom prst="roundRect">
            <a:avLst>
              <a:gd name="adj" fmla="val 5714"/>
            </a:avLst>
          </a:prstGeom>
          <a:solidFill>
            <a:srgbClr val="EFF6FF"/>
          </a:solidFill>
          <a:ln w="9525">
            <a:solidFill>
              <a:srgbClr val="C7DBF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TextBox 25"/>
          <p:cNvSpPr txBox="1"/>
          <p:nvPr/>
        </p:nvSpPr>
        <p:spPr>
          <a:xfrm>
            <a:off x="914377" y="4535310"/>
            <a:ext cx="4876678" cy="426709"/>
          </a:xfrm>
          <a:prstGeom prst="rect">
            <a:avLst/>
          </a:prstGeom>
          <a:noFill/>
        </p:spPr>
        <p:txBody>
          <a:bodyPr wrap="square" lIns="0" rIns="0" tIns="0" bIns="0" anchor="t">
            <a:spAutoFit/>
          </a:bodyPr>
          <a:lstStyle/>
          <a:p>
            <a:pPr algn="l"/>
            <a:r>
              <a:rPr sz="1999" b="1" i="0">
                <a:solidFill>
                  <a:srgbClr val="0A2540"/>
                </a:solidFill>
                <a:latin typeface="Calibri"/>
              </a:rPr>
              <a:t>Security boundary</a:t>
            </a:r>
          </a:p>
        </p:txBody>
      </p:sp>
      <p:sp>
        <p:nvSpPr>
          <p:cNvPr id="27" name="TextBox 26"/>
          <p:cNvSpPr txBox="1"/>
          <p:nvPr/>
        </p:nvSpPr>
        <p:spPr>
          <a:xfrm>
            <a:off x="914377" y="4998595"/>
            <a:ext cx="10362940" cy="975335"/>
          </a:xfrm>
          <a:prstGeom prst="rect">
            <a:avLst/>
          </a:prstGeom>
          <a:noFill/>
        </p:spPr>
        <p:txBody>
          <a:bodyPr wrap="square" lIns="0" rIns="0" tIns="0" bIns="0" anchor="t">
            <a:spAutoFit/>
          </a:bodyPr>
          <a:lstStyle/>
          <a:p>
            <a:pPr algn="l"/>
            <a:r>
              <a:rPr sz="1733" b="0" i="0">
                <a:solidFill>
                  <a:srgbClr val="0A2540"/>
                </a:solidFill>
                <a:latin typeface="Calibri"/>
              </a:rPr>
              <a:t>Workflow routes check fixed demo roles, not production identities. Extraction needs the configured model provider; no offline extraction fallback. Source and audit hashes are verifiable, not immutable.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584" y="365750"/>
            <a:ext cx="9753356" cy="365750"/>
          </a:xfrm>
          <a:prstGeom prst="rect">
            <a:avLst/>
          </a:prstGeom>
          <a:noFill/>
        </p:spPr>
        <p:txBody>
          <a:bodyPr wrap="square" lIns="0" rIns="0" tIns="0" bIns="0" anchor="t">
            <a:spAutoFit/>
          </a:bodyPr>
          <a:lstStyle/>
          <a:p>
            <a:pPr algn="l"/>
            <a:r>
              <a:rPr sz="1466" b="1" i="0">
                <a:solidFill>
                  <a:srgbClr val="1F5FBF"/>
                </a:solidFill>
                <a:latin typeface="Calibri"/>
              </a:rPr>
              <a:t>TESTING AND EVIDENCE</a:t>
            </a:r>
          </a:p>
        </p:txBody>
      </p:sp>
      <p:sp>
        <p:nvSpPr>
          <p:cNvPr id="3" name="TextBox 2"/>
          <p:cNvSpPr txBox="1"/>
          <p:nvPr/>
        </p:nvSpPr>
        <p:spPr>
          <a:xfrm>
            <a:off x="609584" y="731501"/>
            <a:ext cx="10972525" cy="792460"/>
          </a:xfrm>
          <a:prstGeom prst="rect">
            <a:avLst/>
          </a:prstGeom>
          <a:noFill/>
        </p:spPr>
        <p:txBody>
          <a:bodyPr wrap="square" lIns="0" rIns="0" tIns="0" bIns="0" anchor="t">
            <a:spAutoFit/>
          </a:bodyPr>
          <a:lstStyle/>
          <a:p>
            <a:pPr algn="l"/>
            <a:r>
              <a:rPr sz="3733" b="1" i="0">
                <a:solidFill>
                  <a:srgbClr val="0A2540"/>
                </a:solidFill>
                <a:latin typeface="Cambria"/>
              </a:rPr>
              <a:t>We measure the model, not just the demo</a:t>
            </a:r>
          </a:p>
        </p:txBody>
      </p:sp>
      <p:sp>
        <p:nvSpPr>
          <p:cNvPr id="4" name="TextBox 3"/>
          <p:cNvSpPr txBox="1"/>
          <p:nvPr/>
        </p:nvSpPr>
        <p:spPr>
          <a:xfrm>
            <a:off x="609584" y="6400639"/>
            <a:ext cx="7315017" cy="304792"/>
          </a:xfrm>
          <a:prstGeom prst="rect">
            <a:avLst/>
          </a:prstGeom>
          <a:noFill/>
        </p:spPr>
        <p:txBody>
          <a:bodyPr wrap="square" lIns="0" rIns="0" tIns="0" bIns="0" anchor="t">
            <a:spAutoFit/>
          </a:bodyPr>
          <a:lstStyle/>
          <a:p>
            <a:pPr algn="l"/>
            <a:r>
              <a:rPr sz="1199" b="0" i="0">
                <a:solidFill>
                  <a:srgbClr val="475569"/>
                </a:solidFill>
                <a:latin typeface="Calibri"/>
              </a:rPr>
              <a:t>Risk Assessment Workbench  |  Genius Hacks 2026</a:t>
            </a:r>
          </a:p>
        </p:txBody>
      </p:sp>
      <p:sp>
        <p:nvSpPr>
          <p:cNvPr id="5" name="TextBox 4"/>
          <p:cNvSpPr txBox="1"/>
          <p:nvPr/>
        </p:nvSpPr>
        <p:spPr>
          <a:xfrm>
            <a:off x="10972525" y="6400639"/>
            <a:ext cx="609584" cy="304792"/>
          </a:xfrm>
          <a:prstGeom prst="rect">
            <a:avLst/>
          </a:prstGeom>
          <a:noFill/>
        </p:spPr>
        <p:txBody>
          <a:bodyPr wrap="square" lIns="0" rIns="0" tIns="0" bIns="0" anchor="t">
            <a:spAutoFit/>
          </a:bodyPr>
          <a:lstStyle/>
          <a:p>
            <a:pPr algn="r"/>
            <a:r>
              <a:rPr sz="1199" b="0" i="0">
                <a:solidFill>
                  <a:srgbClr val="475569"/>
                </a:solidFill>
                <a:latin typeface="Calibri"/>
              </a:rPr>
              <a:t>9</a:t>
            </a:r>
          </a:p>
        </p:txBody>
      </p:sp>
      <p:sp>
        <p:nvSpPr>
          <p:cNvPr id="6" name="Rounded Rectangle 5"/>
          <p:cNvSpPr/>
          <p:nvPr/>
        </p:nvSpPr>
        <p:spPr>
          <a:xfrm>
            <a:off x="609584" y="1706837"/>
            <a:ext cx="2560255" cy="1219169"/>
          </a:xfrm>
          <a:prstGeom prst="roundRect">
            <a:avLst>
              <a:gd name="adj" fmla="val 8000"/>
            </a:avLst>
          </a:prstGeom>
          <a:solidFill>
            <a:srgbClr val="0A2540"/>
          </a:solidFill>
          <a:ln w="9525">
            <a:solidFill>
              <a:srgbClr val="0A254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609584" y="1767795"/>
            <a:ext cx="2560255" cy="670543"/>
          </a:xfrm>
          <a:prstGeom prst="rect">
            <a:avLst/>
          </a:prstGeom>
          <a:noFill/>
        </p:spPr>
        <p:txBody>
          <a:bodyPr wrap="square" lIns="0" rIns="0" tIns="0" bIns="0" anchor="ctr">
            <a:spAutoFit/>
          </a:bodyPr>
          <a:lstStyle/>
          <a:p>
            <a:pPr algn="ctr"/>
            <a:r>
              <a:rPr sz="3466" b="1" i="0">
                <a:solidFill>
                  <a:srgbClr val="FFFFFF"/>
                </a:solidFill>
                <a:latin typeface="Cambria"/>
              </a:rPr>
              <a:t>8/8</a:t>
            </a:r>
          </a:p>
        </p:txBody>
      </p:sp>
      <p:sp>
        <p:nvSpPr>
          <p:cNvPr id="8" name="TextBox 7"/>
          <p:cNvSpPr txBox="1"/>
          <p:nvPr/>
        </p:nvSpPr>
        <p:spPr>
          <a:xfrm>
            <a:off x="609584" y="2413955"/>
            <a:ext cx="2560255" cy="365750"/>
          </a:xfrm>
          <a:prstGeom prst="rect">
            <a:avLst/>
          </a:prstGeom>
          <a:noFill/>
        </p:spPr>
        <p:txBody>
          <a:bodyPr wrap="square" lIns="0" rIns="0" tIns="0" bIns="0" anchor="ctr">
            <a:spAutoFit/>
          </a:bodyPr>
          <a:lstStyle/>
          <a:p>
            <a:pPr algn="ctr"/>
            <a:r>
              <a:rPr sz="1466" b="0" i="0">
                <a:solidFill>
                  <a:srgbClr val="DBEAFE"/>
                </a:solidFill>
                <a:latin typeface="Calibri"/>
              </a:rPr>
              <a:t>live calls succeeded</a:t>
            </a:r>
          </a:p>
        </p:txBody>
      </p:sp>
      <p:sp>
        <p:nvSpPr>
          <p:cNvPr id="9" name="Rounded Rectangle 8"/>
          <p:cNvSpPr/>
          <p:nvPr/>
        </p:nvSpPr>
        <p:spPr>
          <a:xfrm>
            <a:off x="3389291" y="1706837"/>
            <a:ext cx="2560255" cy="1219169"/>
          </a:xfrm>
          <a:prstGeom prst="roundRect">
            <a:avLst>
              <a:gd name="adj" fmla="val 8000"/>
            </a:avLst>
          </a:prstGeom>
          <a:solidFill>
            <a:srgbClr val="1F5FBF"/>
          </a:solidFill>
          <a:ln w="9525">
            <a:solidFill>
              <a:srgbClr val="1F5FB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3389291" y="1767795"/>
            <a:ext cx="2560255" cy="670543"/>
          </a:xfrm>
          <a:prstGeom prst="rect">
            <a:avLst/>
          </a:prstGeom>
          <a:noFill/>
        </p:spPr>
        <p:txBody>
          <a:bodyPr wrap="square" lIns="0" rIns="0" tIns="0" bIns="0" anchor="ctr">
            <a:spAutoFit/>
          </a:bodyPr>
          <a:lstStyle/>
          <a:p>
            <a:pPr algn="ctr"/>
            <a:r>
              <a:rPr sz="3466" b="1" i="0">
                <a:solidFill>
                  <a:srgbClr val="FFFFFF"/>
                </a:solidFill>
                <a:latin typeface="Cambria"/>
              </a:rPr>
              <a:t>100.0%</a:t>
            </a:r>
          </a:p>
        </p:txBody>
      </p:sp>
      <p:sp>
        <p:nvSpPr>
          <p:cNvPr id="11" name="TextBox 10"/>
          <p:cNvSpPr txBox="1"/>
          <p:nvPr/>
        </p:nvSpPr>
        <p:spPr>
          <a:xfrm>
            <a:off x="3389291" y="2413955"/>
            <a:ext cx="2560255" cy="365750"/>
          </a:xfrm>
          <a:prstGeom prst="rect">
            <a:avLst/>
          </a:prstGeom>
          <a:noFill/>
        </p:spPr>
        <p:txBody>
          <a:bodyPr wrap="square" lIns="0" rIns="0" tIns="0" bIns="0" anchor="ctr">
            <a:spAutoFit/>
          </a:bodyPr>
          <a:lstStyle/>
          <a:p>
            <a:pPr algn="ctr"/>
            <a:r>
              <a:rPr sz="1466" b="0" i="0">
                <a:solidFill>
                  <a:srgbClr val="DBEAFE"/>
                </a:solidFill>
                <a:latin typeface="Calibri"/>
              </a:rPr>
              <a:t>field accuracy (80/80)</a:t>
            </a:r>
          </a:p>
        </p:txBody>
      </p:sp>
      <p:sp>
        <p:nvSpPr>
          <p:cNvPr id="12" name="Rounded Rectangle 11"/>
          <p:cNvSpPr/>
          <p:nvPr/>
        </p:nvSpPr>
        <p:spPr>
          <a:xfrm>
            <a:off x="6168997" y="1706837"/>
            <a:ext cx="2560255" cy="1219169"/>
          </a:xfrm>
          <a:prstGeom prst="roundRect">
            <a:avLst>
              <a:gd name="adj" fmla="val 8000"/>
            </a:avLst>
          </a:prstGeom>
          <a:solidFill>
            <a:srgbClr val="0A2540"/>
          </a:solidFill>
          <a:ln w="9525">
            <a:solidFill>
              <a:srgbClr val="0A254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6168997" y="1767795"/>
            <a:ext cx="2560255" cy="670543"/>
          </a:xfrm>
          <a:prstGeom prst="rect">
            <a:avLst/>
          </a:prstGeom>
          <a:noFill/>
        </p:spPr>
        <p:txBody>
          <a:bodyPr wrap="square" lIns="0" rIns="0" tIns="0" bIns="0" anchor="ctr">
            <a:spAutoFit/>
          </a:bodyPr>
          <a:lstStyle/>
          <a:p>
            <a:pPr algn="ctr"/>
            <a:r>
              <a:rPr sz="3466" b="1" i="0">
                <a:solidFill>
                  <a:srgbClr val="FFFFFF"/>
                </a:solidFill>
                <a:latin typeface="Cambria"/>
              </a:rPr>
              <a:t>100%</a:t>
            </a:r>
          </a:p>
        </p:txBody>
      </p:sp>
      <p:sp>
        <p:nvSpPr>
          <p:cNvPr id="14" name="TextBox 13"/>
          <p:cNvSpPr txBox="1"/>
          <p:nvPr/>
        </p:nvSpPr>
        <p:spPr>
          <a:xfrm>
            <a:off x="6168997" y="2413955"/>
            <a:ext cx="2560255" cy="365750"/>
          </a:xfrm>
          <a:prstGeom prst="rect">
            <a:avLst/>
          </a:prstGeom>
          <a:noFill/>
        </p:spPr>
        <p:txBody>
          <a:bodyPr wrap="square" lIns="0" rIns="0" tIns="0" bIns="0" anchor="ctr">
            <a:spAutoFit/>
          </a:bodyPr>
          <a:lstStyle/>
          <a:p>
            <a:pPr algn="ctr"/>
            <a:r>
              <a:rPr sz="1466" b="0" i="0">
                <a:solidFill>
                  <a:srgbClr val="DBEAFE"/>
                </a:solidFill>
                <a:latin typeface="Calibri"/>
              </a:rPr>
              <a:t>risk-level agreement</a:t>
            </a:r>
          </a:p>
        </p:txBody>
      </p:sp>
      <p:sp>
        <p:nvSpPr>
          <p:cNvPr id="15" name="Rounded Rectangle 14"/>
          <p:cNvSpPr/>
          <p:nvPr/>
        </p:nvSpPr>
        <p:spPr>
          <a:xfrm>
            <a:off x="8948704" y="1706837"/>
            <a:ext cx="2560255" cy="1219169"/>
          </a:xfrm>
          <a:prstGeom prst="roundRect">
            <a:avLst>
              <a:gd name="adj" fmla="val 8000"/>
            </a:avLst>
          </a:prstGeom>
          <a:solidFill>
            <a:srgbClr val="1F5FBF"/>
          </a:solidFill>
          <a:ln w="9525">
            <a:solidFill>
              <a:srgbClr val="1F5FB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8948704" y="1767795"/>
            <a:ext cx="2560255" cy="670543"/>
          </a:xfrm>
          <a:prstGeom prst="rect">
            <a:avLst/>
          </a:prstGeom>
          <a:noFill/>
        </p:spPr>
        <p:txBody>
          <a:bodyPr wrap="square" lIns="0" rIns="0" tIns="0" bIns="0" anchor="ctr">
            <a:spAutoFit/>
          </a:bodyPr>
          <a:lstStyle/>
          <a:p>
            <a:pPr algn="ctr"/>
            <a:r>
              <a:rPr sz="3466" b="1" i="0">
                <a:solidFill>
                  <a:srgbClr val="FFFFFF"/>
                </a:solidFill>
                <a:latin typeface="Cambria"/>
              </a:rPr>
              <a:t>3.6 s</a:t>
            </a:r>
          </a:p>
        </p:txBody>
      </p:sp>
      <p:sp>
        <p:nvSpPr>
          <p:cNvPr id="17" name="TextBox 16"/>
          <p:cNvSpPr txBox="1"/>
          <p:nvPr/>
        </p:nvSpPr>
        <p:spPr>
          <a:xfrm>
            <a:off x="8948704" y="2413955"/>
            <a:ext cx="2560255" cy="365750"/>
          </a:xfrm>
          <a:prstGeom prst="rect">
            <a:avLst/>
          </a:prstGeom>
          <a:noFill/>
        </p:spPr>
        <p:txBody>
          <a:bodyPr wrap="square" lIns="0" rIns="0" tIns="0" bIns="0" anchor="ctr">
            <a:spAutoFit/>
          </a:bodyPr>
          <a:lstStyle/>
          <a:p>
            <a:pPr algn="ctr"/>
            <a:r>
              <a:rPr sz="1466" b="0" i="0">
                <a:solidFill>
                  <a:srgbClr val="DBEAFE"/>
                </a:solidFill>
                <a:latin typeface="Calibri"/>
              </a:rPr>
              <a:t>mean latency per case</a:t>
            </a:r>
          </a:p>
        </p:txBody>
      </p:sp>
      <p:graphicFrame>
        <p:nvGraphicFramePr>
          <p:cNvPr id="18" name="Chart 17"/>
          <p:cNvGraphicFramePr>
            <a:graphicFrameLocks noGrp="1"/>
          </p:cNvGraphicFramePr>
          <p:nvPr/>
        </p:nvGraphicFramePr>
        <p:xfrm>
          <a:off x="609584" y="3108882"/>
          <a:ext cx="5973930" cy="3108882"/>
        </p:xfrm>
        <a:graphic>
          <a:graphicData uri="http://schemas.openxmlformats.org/drawingml/2006/chart">
            <c:chart xmlns:c="http://schemas.openxmlformats.org/drawingml/2006/chart" r:id="rId3"/>
          </a:graphicData>
        </a:graphic>
      </p:graphicFrame>
      <p:sp>
        <p:nvSpPr>
          <p:cNvPr id="19" name="Rounded Rectangle 18"/>
          <p:cNvSpPr/>
          <p:nvPr/>
        </p:nvSpPr>
        <p:spPr>
          <a:xfrm>
            <a:off x="6827349" y="3108882"/>
            <a:ext cx="4754761" cy="3108882"/>
          </a:xfrm>
          <a:prstGeom prst="roundRect">
            <a:avLst>
              <a:gd name="adj" fmla="val 3137"/>
            </a:avLst>
          </a:prstGeom>
          <a:solidFill>
            <a:srgbClr val="EFF6FF"/>
          </a:solidFill>
          <a:ln w="9525">
            <a:solidFill>
              <a:srgbClr val="C7DBF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7071183" y="3230799"/>
            <a:ext cx="4389010" cy="426709"/>
          </a:xfrm>
          <a:prstGeom prst="rect">
            <a:avLst/>
          </a:prstGeom>
          <a:noFill/>
        </p:spPr>
        <p:txBody>
          <a:bodyPr wrap="square" lIns="0" rIns="0" tIns="0" bIns="0" anchor="t">
            <a:spAutoFit/>
          </a:bodyPr>
          <a:lstStyle/>
          <a:p>
            <a:pPr algn="l"/>
            <a:r>
              <a:rPr sz="1999" b="1" i="0">
                <a:solidFill>
                  <a:srgbClr val="0A2540"/>
                </a:solidFill>
                <a:latin typeface="Calibri"/>
              </a:rPr>
              <a:t>Failure handled, and how to read this</a:t>
            </a:r>
          </a:p>
        </p:txBody>
      </p:sp>
      <p:sp>
        <p:nvSpPr>
          <p:cNvPr id="21" name="TextBox 20"/>
          <p:cNvSpPr txBox="1"/>
          <p:nvPr/>
        </p:nvSpPr>
        <p:spPr>
          <a:xfrm>
            <a:off x="7071183" y="3718467"/>
            <a:ext cx="4328051" cy="2438339"/>
          </a:xfrm>
          <a:prstGeom prst="rect">
            <a:avLst/>
          </a:prstGeom>
          <a:noFill/>
        </p:spPr>
        <p:txBody>
          <a:bodyPr wrap="square" lIns="0" rIns="0" tIns="0" bIns="0" anchor="t">
            <a:spAutoFit/>
          </a:bodyPr>
          <a:lstStyle/>
          <a:p>
            <a:pPr marL="182880" indent="-182880">
              <a:spcAft>
                <a:spcPts val="666"/>
              </a:spcAft>
              <a:buChar char="•"/>
            </a:pPr>
            <a:r>
              <a:rPr sz="1466">
                <a:solidFill>
                  <a:srgbClr val="0A2540"/>
                </a:solidFill>
                <a:latin typeface="Calibri"/>
              </a:rPr>
              <a:t>Invalid PDFs and provider failures return explicit errors; transient provider failures are retried up to three times</a:t>
            </a:r>
          </a:p>
          <a:p>
            <a:pPr marL="182880" indent="-182880">
              <a:spcAft>
                <a:spcPts val="666"/>
              </a:spcAft>
              <a:buChar char="•"/>
            </a:pPr>
            <a:r>
              <a:rPr sz="1466">
                <a:solidFill>
                  <a:srgbClr val="0A2540"/>
                </a:solidFill>
                <a:latin typeface="Calibri"/>
              </a:rPr>
              <a:t>Risk agreement comes from the deterministic scorer; it does not prove every field is right</a:t>
            </a:r>
          </a:p>
          <a:p>
            <a:pPr marL="182880" indent="-182880">
              <a:spcAft>
                <a:spcPts val="666"/>
              </a:spcAft>
              <a:buChar char="•"/>
            </a:pPr>
            <a:r>
              <a:rPr sz="1466">
                <a:solidFill>
                  <a:srgbClr val="0A2540"/>
                </a:solidFill>
                <a:latin typeface="Calibri"/>
              </a:rPr>
              <a:t>Eight synthetic cases, not a production accuracy estimate. pytest: 89 passed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609584" y="365750"/>
            <a:ext cx="9753356" cy="365750"/>
          </a:xfrm>
          <a:prstGeom prst="rect">
            <a:avLst/>
          </a:prstGeom>
          <a:noFill/>
        </p:spPr>
        <p:txBody>
          <a:bodyPr wrap="square" lIns="0" rIns="0" tIns="0" bIns="0" anchor="t">
            <a:spAutoFit/>
          </a:bodyPr>
          <a:lstStyle/>
          <a:p>
            <a:pPr algn="l"/>
            <a:r>
              <a:rPr sz="1466" b="1" i="0">
                <a:solidFill>
                  <a:srgbClr val="93C5FD"/>
                </a:solidFill>
                <a:latin typeface="Calibri"/>
              </a:rPr>
              <a:t>DEPLOYMENT AND NEXT STEPS</a:t>
            </a:r>
          </a:p>
        </p:txBody>
      </p:sp>
      <p:sp>
        <p:nvSpPr>
          <p:cNvPr id="3" name="TextBox 2"/>
          <p:cNvSpPr txBox="1"/>
          <p:nvPr/>
        </p:nvSpPr>
        <p:spPr>
          <a:xfrm>
            <a:off x="609584" y="731501"/>
            <a:ext cx="10972525" cy="792460"/>
          </a:xfrm>
          <a:prstGeom prst="rect">
            <a:avLst/>
          </a:prstGeom>
          <a:noFill/>
        </p:spPr>
        <p:txBody>
          <a:bodyPr wrap="square" lIns="0" rIns="0" tIns="0" bIns="0" anchor="t">
            <a:spAutoFit/>
          </a:bodyPr>
          <a:lstStyle/>
          <a:p>
            <a:pPr algn="l"/>
            <a:r>
              <a:rPr sz="3733" b="1" i="0">
                <a:solidFill>
                  <a:srgbClr val="FFFFFF"/>
                </a:solidFill>
                <a:latin typeface="Cambria"/>
              </a:rPr>
              <a:t>Prototype-ready, with an honest path to production</a:t>
            </a:r>
          </a:p>
        </p:txBody>
      </p:sp>
      <p:sp>
        <p:nvSpPr>
          <p:cNvPr id="4" name="TextBox 3"/>
          <p:cNvSpPr txBox="1"/>
          <p:nvPr/>
        </p:nvSpPr>
        <p:spPr>
          <a:xfrm>
            <a:off x="609584" y="6400639"/>
            <a:ext cx="7315017" cy="304792"/>
          </a:xfrm>
          <a:prstGeom prst="rect">
            <a:avLst/>
          </a:prstGeom>
          <a:noFill/>
        </p:spPr>
        <p:txBody>
          <a:bodyPr wrap="square" lIns="0" rIns="0" tIns="0" bIns="0" anchor="t">
            <a:spAutoFit/>
          </a:bodyPr>
          <a:lstStyle/>
          <a:p>
            <a:pPr algn="l"/>
            <a:r>
              <a:rPr sz="1199" b="0" i="0">
                <a:solidFill>
                  <a:srgbClr val="93C5FD"/>
                </a:solidFill>
                <a:latin typeface="Calibri"/>
              </a:rPr>
              <a:t>Risk Assessment Workbench  |  Genius Hacks 2026</a:t>
            </a:r>
          </a:p>
        </p:txBody>
      </p:sp>
      <p:sp>
        <p:nvSpPr>
          <p:cNvPr id="5" name="TextBox 4"/>
          <p:cNvSpPr txBox="1"/>
          <p:nvPr/>
        </p:nvSpPr>
        <p:spPr>
          <a:xfrm>
            <a:off x="10972525" y="6400639"/>
            <a:ext cx="609584" cy="304792"/>
          </a:xfrm>
          <a:prstGeom prst="rect">
            <a:avLst/>
          </a:prstGeom>
          <a:noFill/>
        </p:spPr>
        <p:txBody>
          <a:bodyPr wrap="square" lIns="0" rIns="0" tIns="0" bIns="0" anchor="t">
            <a:spAutoFit/>
          </a:bodyPr>
          <a:lstStyle/>
          <a:p>
            <a:pPr algn="r"/>
            <a:r>
              <a:rPr sz="1199" b="0" i="0">
                <a:solidFill>
                  <a:srgbClr val="93C5FD"/>
                </a:solidFill>
                <a:latin typeface="Calibri"/>
              </a:rPr>
              <a:t>10</a:t>
            </a:r>
          </a:p>
        </p:txBody>
      </p:sp>
      <p:sp>
        <p:nvSpPr>
          <p:cNvPr id="6" name="Rounded Rectangle 5"/>
          <p:cNvSpPr/>
          <p:nvPr/>
        </p:nvSpPr>
        <p:spPr>
          <a:xfrm>
            <a:off x="609584" y="1889712"/>
            <a:ext cx="3474633" cy="2865048"/>
          </a:xfrm>
          <a:prstGeom prst="roundRect">
            <a:avLst>
              <a:gd name="adj" fmla="val 3404"/>
            </a:avLst>
          </a:prstGeom>
          <a:solidFill>
            <a:srgbClr val="12365F"/>
          </a:solidFill>
          <a:ln w="9525">
            <a:solidFill>
              <a:srgbClr val="24508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914377" y="2048204"/>
            <a:ext cx="2926006" cy="426709"/>
          </a:xfrm>
          <a:prstGeom prst="rect">
            <a:avLst/>
          </a:prstGeom>
          <a:noFill/>
        </p:spPr>
        <p:txBody>
          <a:bodyPr wrap="square" lIns="0" rIns="0" tIns="0" bIns="0" anchor="t">
            <a:spAutoFit/>
          </a:bodyPr>
          <a:lstStyle/>
          <a:p>
            <a:pPr algn="l"/>
            <a:r>
              <a:rPr sz="1999" b="1" i="0">
                <a:solidFill>
                  <a:srgbClr val="FFFFFF"/>
                </a:solidFill>
                <a:latin typeface="Calibri"/>
              </a:rPr>
              <a:t>Current demo</a:t>
            </a:r>
          </a:p>
        </p:txBody>
      </p:sp>
      <p:sp>
        <p:nvSpPr>
          <p:cNvPr id="8" name="TextBox 7"/>
          <p:cNvSpPr txBox="1"/>
          <p:nvPr/>
        </p:nvSpPr>
        <p:spPr>
          <a:xfrm>
            <a:off x="914377" y="2621214"/>
            <a:ext cx="2926006" cy="2011629"/>
          </a:xfrm>
          <a:prstGeom prst="rect">
            <a:avLst/>
          </a:prstGeom>
          <a:noFill/>
        </p:spPr>
        <p:txBody>
          <a:bodyPr wrap="square" lIns="0" rIns="0" tIns="0" bIns="0" anchor="t">
            <a:spAutoFit/>
          </a:bodyPr>
          <a:lstStyle/>
          <a:p>
            <a:pPr marL="182880" indent="-182880">
              <a:spcAft>
                <a:spcPts val="666"/>
              </a:spcAft>
              <a:buChar char="•"/>
            </a:pPr>
            <a:r>
              <a:rPr sz="1733">
                <a:solidFill>
                  <a:srgbClr val="FFFFFF"/>
                </a:solidFill>
                <a:latin typeface="Calibri"/>
              </a:rPr>
              <a:t>Docker Compose</a:t>
            </a:r>
          </a:p>
          <a:p>
            <a:pPr marL="182880" indent="-182880">
              <a:spcAft>
                <a:spcPts val="666"/>
              </a:spcAft>
              <a:buChar char="•"/>
            </a:pPr>
            <a:r>
              <a:rPr sz="1733">
                <a:solidFill>
                  <a:srgbClr val="FFFFFF"/>
                </a:solidFill>
                <a:latin typeface="Calibri"/>
              </a:rPr>
              <a:t>SQLite named volume</a:t>
            </a:r>
          </a:p>
          <a:p>
            <a:pPr marL="182880" indent="-182880">
              <a:spcAft>
                <a:spcPts val="666"/>
              </a:spcAft>
              <a:buChar char="•"/>
            </a:pPr>
            <a:r>
              <a:rPr sz="1733">
                <a:solidFill>
                  <a:srgbClr val="FFFFFF"/>
                </a:solidFill>
                <a:latin typeface="Calibri"/>
              </a:rPr>
              <a:t>Synthetic data only</a:t>
            </a:r>
          </a:p>
          <a:p>
            <a:pPr marL="182880" indent="-182880">
              <a:spcAft>
                <a:spcPts val="666"/>
              </a:spcAft>
              <a:buChar char="•"/>
            </a:pPr>
            <a:r>
              <a:rPr sz="1733">
                <a:solidFill>
                  <a:srgbClr val="FFFFFF"/>
                </a:solidFill>
                <a:latin typeface="Calibri"/>
              </a:rPr>
              <a:t>OpenAI key for extraction</a:t>
            </a:r>
          </a:p>
        </p:txBody>
      </p:sp>
      <p:sp>
        <p:nvSpPr>
          <p:cNvPr id="9" name="Rounded Rectangle 8"/>
          <p:cNvSpPr/>
          <p:nvPr/>
        </p:nvSpPr>
        <p:spPr>
          <a:xfrm>
            <a:off x="4358531" y="1889712"/>
            <a:ext cx="3474633" cy="2865048"/>
          </a:xfrm>
          <a:prstGeom prst="roundRect">
            <a:avLst>
              <a:gd name="adj" fmla="val 3404"/>
            </a:avLst>
          </a:prstGeom>
          <a:solidFill>
            <a:srgbClr val="12365F"/>
          </a:solidFill>
          <a:ln w="9525">
            <a:solidFill>
              <a:srgbClr val="24508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4663323" y="2048204"/>
            <a:ext cx="2926006" cy="426709"/>
          </a:xfrm>
          <a:prstGeom prst="rect">
            <a:avLst/>
          </a:prstGeom>
          <a:noFill/>
        </p:spPr>
        <p:txBody>
          <a:bodyPr wrap="square" lIns="0" rIns="0" tIns="0" bIns="0" anchor="t">
            <a:spAutoFit/>
          </a:bodyPr>
          <a:lstStyle/>
          <a:p>
            <a:pPr algn="l"/>
            <a:r>
              <a:rPr sz="1999" b="1" i="0">
                <a:solidFill>
                  <a:srgbClr val="FFFFFF"/>
                </a:solidFill>
                <a:latin typeface="Calibri"/>
              </a:rPr>
              <a:t>Free-first target</a:t>
            </a:r>
          </a:p>
        </p:txBody>
      </p:sp>
      <p:sp>
        <p:nvSpPr>
          <p:cNvPr id="11" name="TextBox 10"/>
          <p:cNvSpPr txBox="1"/>
          <p:nvPr/>
        </p:nvSpPr>
        <p:spPr>
          <a:xfrm>
            <a:off x="4663323" y="2621214"/>
            <a:ext cx="2926006" cy="2011629"/>
          </a:xfrm>
          <a:prstGeom prst="rect">
            <a:avLst/>
          </a:prstGeom>
          <a:noFill/>
        </p:spPr>
        <p:txBody>
          <a:bodyPr wrap="square" lIns="0" rIns="0" tIns="0" bIns="0" anchor="t">
            <a:spAutoFit/>
          </a:bodyPr>
          <a:lstStyle/>
          <a:p>
            <a:pPr marL="182880" indent="-182880">
              <a:spcAft>
                <a:spcPts val="666"/>
              </a:spcAft>
              <a:buChar char="•"/>
            </a:pPr>
            <a:r>
              <a:rPr sz="1733">
                <a:solidFill>
                  <a:srgbClr val="FFFFFF"/>
                </a:solidFill>
                <a:latin typeface="Calibri"/>
              </a:rPr>
              <a:t>Ollama adapter</a:t>
            </a:r>
          </a:p>
          <a:p>
            <a:pPr marL="182880" indent="-182880">
              <a:spcAft>
                <a:spcPts val="666"/>
              </a:spcAft>
              <a:buChar char="•"/>
            </a:pPr>
            <a:r>
              <a:rPr sz="1733">
                <a:solidFill>
                  <a:srgbClr val="FFFFFF"/>
                </a:solidFill>
                <a:latin typeface="Calibri"/>
              </a:rPr>
              <a:t>PostgreSQL and MinIO</a:t>
            </a:r>
          </a:p>
          <a:p>
            <a:pPr marL="182880" indent="-182880">
              <a:spcAft>
                <a:spcPts val="666"/>
              </a:spcAft>
              <a:buChar char="•"/>
            </a:pPr>
            <a:r>
              <a:rPr sz="1733">
                <a:solidFill>
                  <a:srgbClr val="FFFFFF"/>
                </a:solidFill>
                <a:latin typeface="Calibri"/>
              </a:rPr>
              <a:t>Redis worker</a:t>
            </a:r>
          </a:p>
          <a:p>
            <a:pPr marL="182880" indent="-182880">
              <a:spcAft>
                <a:spcPts val="666"/>
              </a:spcAft>
              <a:buChar char="•"/>
            </a:pPr>
            <a:r>
              <a:rPr sz="1733">
                <a:solidFill>
                  <a:srgbClr val="FFFFFF"/>
                </a:solidFill>
                <a:latin typeface="Calibri"/>
              </a:rPr>
              <a:t>Prometheus and Grafana</a:t>
            </a:r>
          </a:p>
        </p:txBody>
      </p:sp>
      <p:sp>
        <p:nvSpPr>
          <p:cNvPr id="12" name="Rounded Rectangle 11"/>
          <p:cNvSpPr/>
          <p:nvPr/>
        </p:nvSpPr>
        <p:spPr>
          <a:xfrm>
            <a:off x="8107477" y="1889712"/>
            <a:ext cx="3474633" cy="2865048"/>
          </a:xfrm>
          <a:prstGeom prst="roundRect">
            <a:avLst>
              <a:gd name="adj" fmla="val 3404"/>
            </a:avLst>
          </a:prstGeom>
          <a:solidFill>
            <a:srgbClr val="12365F"/>
          </a:solidFill>
          <a:ln w="9525">
            <a:solidFill>
              <a:srgbClr val="24508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8412269" y="2048204"/>
            <a:ext cx="2926006" cy="426709"/>
          </a:xfrm>
          <a:prstGeom prst="rect">
            <a:avLst/>
          </a:prstGeom>
          <a:noFill/>
        </p:spPr>
        <p:txBody>
          <a:bodyPr wrap="square" lIns="0" rIns="0" tIns="0" bIns="0" anchor="t">
            <a:spAutoFit/>
          </a:bodyPr>
          <a:lstStyle/>
          <a:p>
            <a:pPr algn="l"/>
            <a:r>
              <a:rPr sz="1999" b="1" i="0">
                <a:solidFill>
                  <a:srgbClr val="FFFFFF"/>
                </a:solidFill>
                <a:latin typeface="Calibri"/>
              </a:rPr>
              <a:t>Production gate</a:t>
            </a:r>
          </a:p>
        </p:txBody>
      </p:sp>
      <p:sp>
        <p:nvSpPr>
          <p:cNvPr id="14" name="TextBox 13"/>
          <p:cNvSpPr txBox="1"/>
          <p:nvPr/>
        </p:nvSpPr>
        <p:spPr>
          <a:xfrm>
            <a:off x="8412269" y="2621214"/>
            <a:ext cx="2926006" cy="2011629"/>
          </a:xfrm>
          <a:prstGeom prst="rect">
            <a:avLst/>
          </a:prstGeom>
          <a:noFill/>
        </p:spPr>
        <p:txBody>
          <a:bodyPr wrap="square" lIns="0" rIns="0" tIns="0" bIns="0" anchor="t">
            <a:spAutoFit/>
          </a:bodyPr>
          <a:lstStyle/>
          <a:p>
            <a:pPr marL="182880" indent="-182880">
              <a:spcAft>
                <a:spcPts val="666"/>
              </a:spcAft>
              <a:buChar char="•"/>
            </a:pPr>
            <a:r>
              <a:rPr sz="1733">
                <a:solidFill>
                  <a:srgbClr val="FFFFFF"/>
                </a:solidFill>
                <a:latin typeface="Calibri"/>
              </a:rPr>
              <a:t>Real identity + hardened access</a:t>
            </a:r>
          </a:p>
          <a:p>
            <a:pPr marL="182880" indent="-182880">
              <a:spcAft>
                <a:spcPts val="666"/>
              </a:spcAft>
              <a:buChar char="•"/>
            </a:pPr>
            <a:r>
              <a:rPr sz="1733">
                <a:solidFill>
                  <a:srgbClr val="FFFFFF"/>
                </a:solidFill>
                <a:latin typeface="Calibri"/>
              </a:rPr>
              <a:t>Approved rules + residual-risk controls</a:t>
            </a:r>
          </a:p>
          <a:p>
            <a:pPr marL="182880" indent="-182880">
              <a:spcAft>
                <a:spcPts val="666"/>
              </a:spcAft>
              <a:buChar char="•"/>
            </a:pPr>
            <a:r>
              <a:rPr sz="1733">
                <a:solidFill>
                  <a:srgbClr val="FFFFFF"/>
                </a:solidFill>
                <a:latin typeface="Calibri"/>
              </a:rPr>
              <a:t>Protected storage + external audit anchor</a:t>
            </a:r>
          </a:p>
          <a:p>
            <a:pPr marL="182880" indent="-182880">
              <a:spcAft>
                <a:spcPts val="666"/>
              </a:spcAft>
              <a:buChar char="•"/>
            </a:pPr>
            <a:r>
              <a:rPr sz="1733">
                <a:solidFill>
                  <a:srgbClr val="FFFFFF"/>
                </a:solidFill>
                <a:latin typeface="Calibri"/>
              </a:rPr>
              <a:t>Migrations, backups, alerts, rollback</a:t>
            </a:r>
          </a:p>
        </p:txBody>
      </p:sp>
      <p:sp>
        <p:nvSpPr>
          <p:cNvPr id="15" name="TextBox 14"/>
          <p:cNvSpPr txBox="1"/>
          <p:nvPr/>
        </p:nvSpPr>
        <p:spPr>
          <a:xfrm>
            <a:off x="609584" y="5120511"/>
            <a:ext cx="10972525" cy="731501"/>
          </a:xfrm>
          <a:prstGeom prst="rect">
            <a:avLst/>
          </a:prstGeom>
          <a:noFill/>
        </p:spPr>
        <p:txBody>
          <a:bodyPr wrap="square" lIns="0" rIns="0" tIns="0" bIns="0" anchor="ctr">
            <a:spAutoFit/>
          </a:bodyPr>
          <a:lstStyle/>
          <a:p>
            <a:pPr algn="l"/>
            <a:r>
              <a:rPr sz="2933" b="1" i="0">
                <a:solidFill>
                  <a:srgbClr val="FFFFFF"/>
                </a:solidFill>
                <a:latin typeface="Cambria"/>
              </a:rPr>
              <a:t>Prepare evidence. Preserve disagreement. Keep humans accountable.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