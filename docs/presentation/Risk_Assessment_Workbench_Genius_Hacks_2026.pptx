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Category weight in the risk score (%)</a:t>
            </a:r>
          </a:p>
        </c:rich>
      </c:tx>
      <c:layout/>
      <c:overlay val="0"/>
    </c:title>
    <c:autoTitleDeleted val="0"/>
    <c:plotArea>
      <c:barChart>
        <c:barDir val="bar"/>
        <c:grouping val="clustered"/>
        <c:ser>
          <c:idx val="0"/>
          <c:order val="0"/>
          <c:tx>
            <c:strRef>
              <c:f>Sheet1!$B$1</c:f>
              <c:strCache>
                <c:ptCount val="1"/>
                <c:pt idx="0">
                  <c:v>Weight (%)</c:v>
                </c:pt>
              </c:strCache>
            </c:strRef>
          </c:tx>
          <c:dPt>
            <c:idx val="0"/>
            <c:spPr>
              <a:solidFill>
                <a:srgbClr val="0A1B34"/>
              </a:solidFill>
            </c:spPr>
          </c:dPt>
          <c:dPt>
            <c:idx val="1"/>
            <c:spPr>
              <a:solidFill>
                <a:srgbClr val="1F4E9C"/>
              </a:solidFill>
            </c:spPr>
          </c:dPt>
          <c:dPt>
            <c:idx val="2"/>
            <c:spPr>
              <a:solidFill>
                <a:srgbClr val="4A86D8"/>
              </a:solidFill>
            </c:spPr>
          </c:dPt>
          <c:dPt>
            <c:idx val="3"/>
            <c:spPr>
              <a:solidFill>
                <a:srgbClr val="9CC3F2"/>
              </a:solidFill>
            </c:spPr>
          </c:dPt>
          <c:cat>
            <c:strRef>
              <c:f>Sheet1!$A$2:$A$5</c:f>
              <c:strCache>
                <c:ptCount val="4"/>
                <c:pt idx="0">
                  <c:v>Customer + geography</c:v>
                </c:pt>
                <c:pt idx="1">
                  <c:v>Product + channel</c:v>
                </c:pt>
                <c:pt idx="2">
                  <c:v>Third party</c:v>
                </c:pt>
                <c:pt idx="3">
                  <c:v>Complexity</c:v>
                </c:pt>
              </c:strCache>
            </c:strRef>
          </c:cat>
          <c:val>
            <c:numRef>
              <c:f>Sheet1!$B$2:$B$5</c:f>
              <c:numCache>
                <c:formatCode>General</c:formatCode>
                <c:ptCount val="4"/>
                <c:pt idx="0">
                  <c:v>35</c:v>
                </c:pt>
                <c:pt idx="1">
                  <c:v>30</c:v>
                </c:pt>
                <c:pt idx="2">
                  <c:v>20</c:v>
                </c:pt>
                <c:pt idx="3">
                  <c:v>15</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4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Field accuracy by synthetic case (%)</a:t>
            </a:r>
          </a:p>
        </c:rich>
      </c:tx>
      <c:layout/>
      <c:overlay val="0"/>
    </c:title>
    <c:autoTitleDeleted val="0"/>
    <c:plotArea>
      <c:barChart>
        <c:barDir val="col"/>
        <c:grouping val="clustered"/>
        <c:ser>
          <c:idx val="0"/>
          <c:order val="0"/>
          <c:tx>
            <c:strRef>
              <c:f>Sheet1!$B$1</c:f>
              <c:strCache>
                <c:ptCount val="1"/>
                <c:pt idx="0">
                  <c:v>Field accuracy (%)</c:v>
                </c:pt>
              </c:strCache>
            </c:strRef>
          </c:tx>
          <c:spPr>
            <a:solidFill>
              <a:srgbClr val="1F4E9C"/>
            </a:solidFill>
          </c:spPr>
          <c:cat>
            <c:strRef>
              <c:f>Sheet1!$A$2:$A$9</c:f>
              <c:strCache>
                <c:ptCount val="8"/>
                <c:pt idx="0">
                  <c:v>001</c:v>
                </c:pt>
                <c:pt idx="1">
                  <c:v>002</c:v>
                </c:pt>
                <c:pt idx="2">
                  <c:v>003</c:v>
                </c:pt>
                <c:pt idx="3">
                  <c:v>004</c:v>
                </c:pt>
                <c:pt idx="4">
                  <c:v>005</c:v>
                </c:pt>
                <c:pt idx="5">
                  <c:v>006</c:v>
                </c:pt>
                <c:pt idx="6">
                  <c:v>007</c:v>
                </c:pt>
                <c:pt idx="7">
                  <c:v>008</c:v>
                </c:pt>
              </c:strCache>
            </c:strRef>
          </c:cat>
          <c:val>
            <c:numRef>
              <c:f>Sheet1!$B$2:$B$9</c:f>
              <c:numCache>
                <c:formatCode>General</c:formatCode>
                <c:ptCount val="8"/>
                <c:pt idx="0">
                  <c:v>100</c:v>
                </c:pt>
                <c:pt idx="1">
                  <c:v>100</c:v>
                </c:pt>
                <c:pt idx="2">
                  <c:v>100</c:v>
                </c:pt>
                <c:pt idx="3">
                  <c:v>100</c:v>
                </c:pt>
                <c:pt idx="4">
                  <c:v>100</c:v>
                </c:pt>
                <c:pt idx="5">
                  <c:v>100</c:v>
                </c:pt>
                <c:pt idx="6">
                  <c:v>100</c:v>
                </c:pt>
                <c:pt idx="7">
                  <c:v>100</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12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One-sentence pitch: the system prepares the evidence, humans make the decision. Introduce the team and roles.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Attribute the 15-20 business-day current-state figure to the brief and the two-day figure to the brief's target; neither is a measured app result. State the design stance: nothing is automatically approved or rejected.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0:50-1:30. The brief describes scattered evidence, inconsistent decisions, and a slow review path. The expanded specification names the users, states, acceptance criteria, scope decisions, and unresolved assumptions. The brief's two-day target is not an application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1:30-2:10. Walk the pipeline left to right. Extraction is a probabilistic problem, scoring is not, so scoring is plain Python a committee can reproduce. This is the engineering-judgement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2:10-3:00. Context management: untrusted-document boundary, schema-constrained output, versioned prompts. Orchestration is a bounded single extraction call, followed by deterministic scoring and policy lookup. If asked why no multi-agent orchestration: one narrow extraction step does not need it, and every extra agent is another probabilistic step to govern and evaluate.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3:00-3:30. Deterministic versus probabilistic, justified. Be upfront that the weights are a prototype choice awaiting FCRM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3:30-4:15. One line per stage, naming the artifact: docs/requirements, docs/architecture, src and ai, tests and evals, ops. Point to docs/sdlc/ai-delivery-evidence.md. Move fast; the repo carries the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4:15-5:00. Every risk level goes through analyst review before committee decision. Explain the resume-after-information-request path and that conditions must be evidenced before analyst closure. The event hash chain and examiner export help reconstruct the record but are not immutable against a database owner.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5:00-7:30 (about 2.5 minutes). Owner uploads, checks required draft fields, and submits. The analyst verifies/corrects with source citations, finalizes, and submits to committee. Use three separate committee identities. For a conditional outcome, show owner evidence followed by analyst closure; end with audit verification/export. If the provider is unavailable, use the recorded evaluation and local tests without implying offline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7:30-8:20. Quote the values generated from the latest recorded PDF evaluation and state that this is only eight synthetic cases. Risk agreement comes from deterministic scoring and does not establish field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8:20-9:10. Describe the concrete failure behavior: invalid or textless PDFs fail before case creation, provider failure is visible with no offline extraction fallback, and transient errors receive bounded retries. Then point to selected commits as a trace of evolving prompts, workflow alignment, and delivery evidence, not as proof of complete SDLC automation.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9:10-9:45. The input is capped at 12,000 characters, which is not a token guarantee. Provider usage metadata captures input/output tokens when returned; the recorded PDF evaluation does not include token totals or per-case cost. One small model and one bounded extraction step are the current efficiency choices. Do not claim savings. The next experiment is a prompt/context comparison scored on both field accuracy and measured provider usage, including retries.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9:45-10:00. Close on the tagline, then stop on time. Leave Q&amp;A for the decisions: why deterministic scoring, why no multi-agent orchestration, why field accuracy and risk agreement differ, and what is needed for measured token efficiency.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Oval 1"/>
          <p:cNvSpPr/>
          <p:nvPr/>
        </p:nvSpPr>
        <p:spPr>
          <a:xfrm>
            <a:off x="9326880" y="5394960"/>
            <a:ext cx="3657600" cy="3657600"/>
          </a:xfrm>
          <a:prstGeom prst="ellipse">
            <a:avLst/>
          </a:prstGeom>
          <a:noFill/>
          <a:ln w="12700">
            <a:solidFill>
              <a:srgbClr val="9CC3F2">
                <a:alpha val="2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Oval 2"/>
          <p:cNvSpPr/>
          <p:nvPr/>
        </p:nvSpPr>
        <p:spPr>
          <a:xfrm>
            <a:off x="8321040" y="4389120"/>
            <a:ext cx="5669280" cy="5669280"/>
          </a:xfrm>
          <a:prstGeom prst="ellipse">
            <a:avLst/>
          </a:prstGeom>
          <a:noFill/>
          <a:ln w="12700">
            <a:solidFill>
              <a:srgbClr val="9CC3F2">
                <a:alpha val="24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Oval 3"/>
          <p:cNvSpPr/>
          <p:nvPr/>
        </p:nvSpPr>
        <p:spPr>
          <a:xfrm>
            <a:off x="7315199" y="3383280"/>
            <a:ext cx="7680960" cy="7680960"/>
          </a:xfrm>
          <a:prstGeom prst="ellipse">
            <a:avLst/>
          </a:prstGeom>
          <a:noFill/>
          <a:ln w="12700">
            <a:solidFill>
              <a:srgbClr val="9CC3F2">
                <a:alpha val="28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822960" y="1234440"/>
            <a:ext cx="5943600" cy="365760"/>
          </a:xfrm>
          <a:prstGeom prst="rect">
            <a:avLst/>
          </a:prstGeom>
          <a:noFill/>
        </p:spPr>
        <p:txBody>
          <a:bodyPr wrap="square" lIns="0" rIns="0" tIns="0" bIns="0" anchor="t">
            <a:spAutoFit/>
          </a:bodyPr>
          <a:lstStyle/>
          <a:p>
            <a:pPr algn="l"/>
            <a:r>
              <a:rPr sz="1600" b="1" i="0" spc="500">
                <a:solidFill>
                  <a:srgbClr val="C8A24A"/>
                </a:solidFill>
                <a:latin typeface="Calibri"/>
              </a:rPr>
              <a:t>GENIUS HACKS 2026</a:t>
            </a:r>
          </a:p>
        </p:txBody>
      </p:sp>
      <p:sp>
        <p:nvSpPr>
          <p:cNvPr id="6" name="TextBox 5"/>
          <p:cNvSpPr txBox="1"/>
          <p:nvPr/>
        </p:nvSpPr>
        <p:spPr>
          <a:xfrm>
            <a:off x="822960" y="1828800"/>
            <a:ext cx="6035040" cy="2011680"/>
          </a:xfrm>
          <a:prstGeom prst="rect">
            <a:avLst/>
          </a:prstGeom>
          <a:noFill/>
        </p:spPr>
        <p:txBody>
          <a:bodyPr wrap="square" lIns="0" rIns="0" tIns="0" bIns="0" anchor="t">
            <a:spAutoFit/>
          </a:bodyPr>
          <a:lstStyle/>
          <a:p>
            <a:pPr algn="l"/>
            <a:r>
              <a:rPr sz="4800" b="1" i="0">
                <a:solidFill>
                  <a:srgbClr val="FFFFFF"/>
                </a:solidFill>
                <a:latin typeface="Arial"/>
              </a:rPr>
              <a:t>Risk Assessment Workbench</a:t>
            </a:r>
          </a:p>
        </p:txBody>
      </p:sp>
      <p:sp>
        <p:nvSpPr>
          <p:cNvPr id="7" name="TextBox 6"/>
          <p:cNvSpPr txBox="1"/>
          <p:nvPr/>
        </p:nvSpPr>
        <p:spPr>
          <a:xfrm>
            <a:off x="822960" y="4069080"/>
            <a:ext cx="5669280" cy="914400"/>
          </a:xfrm>
          <a:prstGeom prst="rect">
            <a:avLst/>
          </a:prstGeom>
          <a:noFill/>
        </p:spPr>
        <p:txBody>
          <a:bodyPr wrap="square" lIns="0" rIns="0" tIns="0" bIns="0" anchor="t">
            <a:spAutoFit/>
          </a:bodyPr>
          <a:lstStyle/>
          <a:p>
            <a:pPr algn="l"/>
            <a:r>
              <a:rPr sz="2200" b="0" i="0">
                <a:solidFill>
                  <a:srgbClr val="D6E4F7"/>
                </a:solidFill>
                <a:latin typeface="Calibri"/>
              </a:rPr>
              <a:t>From an unstructured change request to a governed, reviewable risk decision.</a:t>
            </a:r>
          </a:p>
        </p:txBody>
      </p:sp>
      <p:sp>
        <p:nvSpPr>
          <p:cNvPr id="8" name="TextBox 7"/>
          <p:cNvSpPr txBox="1"/>
          <p:nvPr/>
        </p:nvSpPr>
        <p:spPr>
          <a:xfrm>
            <a:off x="822960" y="5943600"/>
            <a:ext cx="6400800" cy="320040"/>
          </a:xfrm>
          <a:prstGeom prst="rect">
            <a:avLst/>
          </a:prstGeom>
          <a:noFill/>
        </p:spPr>
        <p:txBody>
          <a:bodyPr wrap="square" lIns="0" rIns="0" tIns="0" bIns="0" anchor="t">
            <a:spAutoFit/>
          </a:bodyPr>
          <a:lstStyle/>
          <a:p>
            <a:pPr algn="l"/>
            <a:r>
              <a:rPr sz="1400" b="0" i="0">
                <a:solidFill>
                  <a:srgbClr val="9CC3F2"/>
                </a:solidFill>
                <a:latin typeface="Calibri"/>
              </a:rPr>
              <a:t>A synthetic-data vertical slice for financial crimes risk management</a:t>
            </a:r>
          </a:p>
        </p:txBody>
      </p:sp>
      <p:sp>
        <p:nvSpPr>
          <p:cNvPr id="9" name="Rounded Rectangle 8"/>
          <p:cNvSpPr/>
          <p:nvPr/>
        </p:nvSpPr>
        <p:spPr>
          <a:xfrm>
            <a:off x="7315200" y="1097280"/>
            <a:ext cx="4114800" cy="4572000"/>
          </a:xfrm>
          <a:prstGeom prst="roundRect">
            <a:avLst>
              <a:gd name="adj" fmla="val 2222"/>
            </a:avLst>
          </a:prstGeom>
          <a:solidFill>
            <a:srgbClr val="132E55"/>
          </a:solidFill>
          <a:ln w="9525">
            <a:solidFill>
              <a:srgbClr val="C8A24A">
                <a:alpha val="45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680960" y="13258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Prepare evidence.</a:t>
            </a:r>
          </a:p>
        </p:txBody>
      </p:sp>
      <p:cxnSp>
        <p:nvCxnSpPr>
          <p:cNvPr id="11" name="Connector 10"/>
          <p:cNvCxnSpPr/>
          <p:nvPr/>
        </p:nvCxnSpPr>
        <p:spPr>
          <a:xfrm>
            <a:off x="7680960" y="26060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80960" y="26974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Preserve disagreement.</a:t>
            </a:r>
          </a:p>
        </p:txBody>
      </p:sp>
      <p:cxnSp>
        <p:nvCxnSpPr>
          <p:cNvPr id="13" name="Connector 12"/>
          <p:cNvCxnSpPr/>
          <p:nvPr/>
        </p:nvCxnSpPr>
        <p:spPr>
          <a:xfrm>
            <a:off x="7680960" y="39776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80960" y="4069080"/>
            <a:ext cx="3383280" cy="1188720"/>
          </a:xfrm>
          <a:prstGeom prst="rect">
            <a:avLst/>
          </a:prstGeom>
          <a:noFill/>
        </p:spPr>
        <p:txBody>
          <a:bodyPr wrap="square" lIns="0" rIns="0" tIns="0" bIns="0" anchor="ctr">
            <a:spAutoFit/>
          </a:bodyPr>
          <a:lstStyle/>
          <a:p>
            <a:pPr algn="l"/>
            <a:r>
              <a:rPr sz="2600" b="1" i="0">
                <a:solidFill>
                  <a:srgbClr val="FFFFFF"/>
                </a:solidFill>
                <a:latin typeface="Arial"/>
              </a:rPr>
              <a:t>Keep humans accountable.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THE PROBLEM</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Slow, variable, and hard to reconstruct</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2</a:t>
            </a:r>
          </a:p>
        </p:txBody>
      </p:sp>
      <p:sp>
        <p:nvSpPr>
          <p:cNvPr id="6" name="Rounded Rectangle 5"/>
          <p:cNvSpPr/>
          <p:nvPr/>
        </p:nvSpPr>
        <p:spPr>
          <a:xfrm>
            <a:off x="640080" y="1783080"/>
            <a:ext cx="3383280" cy="4251960"/>
          </a:xfrm>
          <a:prstGeom prst="roundRect">
            <a:avLst>
              <a:gd name="adj" fmla="val 2162"/>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48840"/>
            <a:ext cx="2743200" cy="1005840"/>
          </a:xfrm>
          <a:prstGeom prst="rect">
            <a:avLst/>
          </a:prstGeom>
          <a:noFill/>
        </p:spPr>
        <p:txBody>
          <a:bodyPr wrap="square" lIns="0" rIns="0" tIns="0" bIns="0" anchor="ctr">
            <a:spAutoFit/>
          </a:bodyPr>
          <a:lstStyle/>
          <a:p>
            <a:pPr algn="l"/>
            <a:r>
              <a:rPr sz="6600" b="1" i="0">
                <a:solidFill>
                  <a:srgbClr val="FFFFFF"/>
                </a:solidFill>
                <a:latin typeface="Arial"/>
              </a:rPr>
              <a:t>15-20</a:t>
            </a:r>
          </a:p>
        </p:txBody>
      </p:sp>
      <p:sp>
        <p:nvSpPr>
          <p:cNvPr id="8" name="TextBox 7"/>
          <p:cNvSpPr txBox="1"/>
          <p:nvPr/>
        </p:nvSpPr>
        <p:spPr>
          <a:xfrm>
            <a:off x="960119" y="3200400"/>
            <a:ext cx="2743200" cy="365760"/>
          </a:xfrm>
          <a:prstGeom prst="rect">
            <a:avLst/>
          </a:prstGeom>
          <a:noFill/>
        </p:spPr>
        <p:txBody>
          <a:bodyPr wrap="square" lIns="0" rIns="0" tIns="0" bIns="0" anchor="t">
            <a:spAutoFit/>
          </a:bodyPr>
          <a:lstStyle/>
          <a:p>
            <a:pPr algn="l"/>
            <a:r>
              <a:rPr sz="1500" b="0" i="0">
                <a:solidFill>
                  <a:srgbClr val="D6E4F7"/>
                </a:solidFill>
                <a:latin typeface="Calibri"/>
              </a:rPr>
              <a:t>business days: brief estimate</a:t>
            </a:r>
          </a:p>
        </p:txBody>
      </p:sp>
      <p:cxnSp>
        <p:nvCxnSpPr>
          <p:cNvPr id="9" name="Connector 8"/>
          <p:cNvCxnSpPr/>
          <p:nvPr/>
        </p:nvCxnSpPr>
        <p:spPr>
          <a:xfrm>
            <a:off x="960119" y="3977639"/>
            <a:ext cx="1097281"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60119" y="4206240"/>
            <a:ext cx="2743200" cy="1005840"/>
          </a:xfrm>
          <a:prstGeom prst="rect">
            <a:avLst/>
          </a:prstGeom>
          <a:noFill/>
        </p:spPr>
        <p:txBody>
          <a:bodyPr wrap="square" lIns="0" rIns="0" tIns="0" bIns="0" anchor="ctr">
            <a:spAutoFit/>
          </a:bodyPr>
          <a:lstStyle/>
          <a:p>
            <a:pPr algn="l"/>
            <a:r>
              <a:rPr sz="6600" b="1" i="0">
                <a:solidFill>
                  <a:srgbClr val="C8A24A"/>
                </a:solidFill>
                <a:latin typeface="Arial"/>
              </a:rPr>
              <a:t>~2</a:t>
            </a:r>
          </a:p>
        </p:txBody>
      </p:sp>
      <p:sp>
        <p:nvSpPr>
          <p:cNvPr id="11" name="TextBox 10"/>
          <p:cNvSpPr txBox="1"/>
          <p:nvPr/>
        </p:nvSpPr>
        <p:spPr>
          <a:xfrm>
            <a:off x="960119" y="5257800"/>
            <a:ext cx="2743200" cy="365760"/>
          </a:xfrm>
          <a:prstGeom prst="rect">
            <a:avLst/>
          </a:prstGeom>
          <a:noFill/>
        </p:spPr>
        <p:txBody>
          <a:bodyPr wrap="square" lIns="0" rIns="0" tIns="0" bIns="0" anchor="t">
            <a:spAutoFit/>
          </a:bodyPr>
          <a:lstStyle/>
          <a:p>
            <a:pPr algn="l"/>
            <a:r>
              <a:rPr sz="1500" b="0" i="0">
                <a:solidFill>
                  <a:srgbClr val="D6E4F7"/>
                </a:solidFill>
                <a:latin typeface="Calibri"/>
              </a:rPr>
              <a:t>days: brief target, not measured</a:t>
            </a:r>
          </a:p>
        </p:txBody>
      </p:sp>
      <p:sp>
        <p:nvSpPr>
          <p:cNvPr id="12" name="Rounded Rectangle 11"/>
          <p:cNvSpPr/>
          <p:nvPr/>
        </p:nvSpPr>
        <p:spPr>
          <a:xfrm>
            <a:off x="4389120" y="1783080"/>
            <a:ext cx="3474720" cy="4251960"/>
          </a:xfrm>
          <a:prstGeom prst="roundRect">
            <a:avLst>
              <a:gd name="adj" fmla="val 2105"/>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09160" y="2057400"/>
            <a:ext cx="2834639" cy="457200"/>
          </a:xfrm>
          <a:prstGeom prst="rect">
            <a:avLst/>
          </a:prstGeom>
          <a:noFill/>
        </p:spPr>
        <p:txBody>
          <a:bodyPr wrap="square" lIns="0" rIns="0" tIns="0" bIns="0" anchor="t">
            <a:spAutoFit/>
          </a:bodyPr>
          <a:lstStyle/>
          <a:p>
            <a:pPr algn="l"/>
            <a:r>
              <a:rPr sz="2000" b="1" i="0">
                <a:solidFill>
                  <a:srgbClr val="0A1B34"/>
                </a:solidFill>
                <a:latin typeface="Arial"/>
              </a:rPr>
              <a:t>Today</a:t>
            </a:r>
          </a:p>
        </p:txBody>
      </p:sp>
      <p:sp>
        <p:nvSpPr>
          <p:cNvPr id="14" name="TextBox 13"/>
          <p:cNvSpPr txBox="1"/>
          <p:nvPr/>
        </p:nvSpPr>
        <p:spPr>
          <a:xfrm>
            <a:off x="4709160"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Email, Word, Excel, SharePoint</a:t>
            </a:r>
          </a:p>
          <a:p>
            <a:pPr marL="201168" indent="-201168">
              <a:spcAft>
                <a:spcPts val="1400"/>
              </a:spcAft>
              <a:buChar char="•"/>
            </a:pPr>
            <a:r>
              <a:rPr sz="1600">
                <a:solidFill>
                  <a:srgbClr val="17253D"/>
                </a:solidFill>
                <a:latin typeface="Calibri"/>
              </a:rPr>
              <a:t>Different analysts reach different conclusions</a:t>
            </a:r>
          </a:p>
          <a:p>
            <a:pPr marL="201168" indent="-201168">
              <a:spcAft>
                <a:spcPts val="1400"/>
              </a:spcAft>
              <a:buChar char="•"/>
            </a:pPr>
            <a:r>
              <a:rPr sz="1600">
                <a:solidFill>
                  <a:srgbClr val="17253D"/>
                </a:solidFill>
                <a:latin typeface="Calibri"/>
              </a:rPr>
              <a:t>Examiner asks why it was rated this way: evidence is scattered and slow to rebuild</a:t>
            </a:r>
          </a:p>
        </p:txBody>
      </p:sp>
      <p:sp>
        <p:nvSpPr>
          <p:cNvPr id="15" name="Rounded Rectangle 14"/>
          <p:cNvSpPr/>
          <p:nvPr/>
        </p:nvSpPr>
        <p:spPr>
          <a:xfrm>
            <a:off x="8151876" y="1783080"/>
            <a:ext cx="3474720" cy="4251960"/>
          </a:xfrm>
          <a:prstGeom prst="roundRect">
            <a:avLst>
              <a:gd name="adj" fmla="val 2105"/>
            </a:avLst>
          </a:prstGeom>
          <a:solidFill>
            <a:srgbClr val="FFFFFF"/>
          </a:solidFill>
          <a:ln w="9525">
            <a:solidFill>
              <a:srgbClr val="1F4E9C"/>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471916" y="2057400"/>
            <a:ext cx="2834639" cy="457200"/>
          </a:xfrm>
          <a:prstGeom prst="rect">
            <a:avLst/>
          </a:prstGeom>
          <a:noFill/>
        </p:spPr>
        <p:txBody>
          <a:bodyPr wrap="square" lIns="0" rIns="0" tIns="0" bIns="0" anchor="t">
            <a:spAutoFit/>
          </a:bodyPr>
          <a:lstStyle/>
          <a:p>
            <a:pPr algn="l"/>
            <a:r>
              <a:rPr sz="2000" b="1" i="0">
                <a:solidFill>
                  <a:srgbClr val="1F4E9C"/>
                </a:solidFill>
                <a:latin typeface="Arial"/>
              </a:rPr>
              <a:t>Our response</a:t>
            </a:r>
          </a:p>
        </p:txBody>
      </p:sp>
      <p:sp>
        <p:nvSpPr>
          <p:cNvPr id="17" name="TextBox 16"/>
          <p:cNvSpPr txBox="1"/>
          <p:nvPr/>
        </p:nvSpPr>
        <p:spPr>
          <a:xfrm>
            <a:off x="8471916"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One governed case record</a:t>
            </a:r>
          </a:p>
          <a:p>
            <a:pPr marL="201168" indent="-201168">
              <a:spcAft>
                <a:spcPts val="1400"/>
              </a:spcAft>
              <a:buChar char="•"/>
            </a:pPr>
            <a:r>
              <a:rPr sz="1600">
                <a:solidFill>
                  <a:srgbClr val="17253D"/>
                </a:solidFill>
                <a:latin typeface="Calibri"/>
              </a:rPr>
              <a:t>AI structures the evidence</a:t>
            </a:r>
          </a:p>
          <a:p>
            <a:pPr marL="201168" indent="-201168">
              <a:spcAft>
                <a:spcPts val="1400"/>
              </a:spcAft>
              <a:buChar char="•"/>
            </a:pPr>
            <a:r>
              <a:rPr sz="1600">
                <a:solidFill>
                  <a:srgbClr val="17253D"/>
                </a:solidFill>
                <a:latin typeface="Calibri"/>
              </a:rPr>
              <a:t>Humans own the decision</a:t>
            </a:r>
          </a:p>
          <a:p>
            <a:pPr marL="201168" indent="-201168">
              <a:spcAft>
                <a:spcPts val="1400"/>
              </a:spcAft>
              <a:buChar char="•"/>
            </a:pPr>
            <a:r>
              <a:rPr sz="1600">
                <a:solidFill>
                  <a:srgbClr val="17253D"/>
                </a:solidFill>
                <a:latin typeface="Calibri"/>
              </a:rPr>
              <a:t>Every rating traceable to inputs and reasoning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FROM BRIEF TO SPECIFICATION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turned an open-ended problem into testable scope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3</a:t>
            </a:r>
          </a:p>
        </p:txBody>
      </p:sp>
      <p:sp>
        <p:nvSpPr>
          <p:cNvPr id="6" name="Rounded Rectangle 5"/>
          <p:cNvSpPr/>
          <p:nvPr/>
        </p:nvSpPr>
        <p:spPr>
          <a:xfrm>
            <a:off x="640080" y="1783080"/>
            <a:ext cx="3392423" cy="3931920"/>
          </a:xfrm>
          <a:prstGeom prst="roundRect">
            <a:avLst>
              <a:gd name="adj" fmla="val 2156"/>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Problem as given</a:t>
            </a:r>
          </a:p>
        </p:txBody>
      </p:sp>
      <p:sp>
        <p:nvSpPr>
          <p:cNvPr id="8" name="TextBox 7"/>
          <p:cNvSpPr txBox="1"/>
          <p:nvPr/>
        </p:nvSpPr>
        <p:spPr>
          <a:xfrm>
            <a:off x="960119" y="2834639"/>
            <a:ext cx="2752344" cy="2743200"/>
          </a:xfrm>
          <a:prstGeom prst="rect">
            <a:avLst/>
          </a:prstGeom>
          <a:noFill/>
        </p:spPr>
        <p:txBody>
          <a:bodyPr wrap="square" lIns="0" rIns="0" tIns="0" bIns="0" anchor="t">
            <a:spAutoFit/>
          </a:bodyPr>
          <a:lstStyle/>
          <a:p>
            <a:pPr marL="201168" indent="-201168">
              <a:spcAft>
                <a:spcPts val="1400"/>
              </a:spcAft>
              <a:buChar char="•"/>
            </a:pPr>
            <a:r>
              <a:rPr sz="1500">
                <a:solidFill>
                  <a:srgbClr val="17253D"/>
                </a:solidFill>
                <a:latin typeface="Calibri"/>
              </a:rPr>
              <a:t>Change evidence is fragmented</a:t>
            </a:r>
          </a:p>
          <a:p>
            <a:pPr marL="201168" indent="-201168">
              <a:spcAft>
                <a:spcPts val="1400"/>
              </a:spcAft>
              <a:buChar char="•"/>
            </a:pPr>
            <a:r>
              <a:rPr sz="1500">
                <a:solidFill>
                  <a:srgbClr val="17253D"/>
                </a:solidFill>
                <a:latin typeface="Calibri"/>
              </a:rPr>
              <a:t>Similar cases can be assessed inconsistently</a:t>
            </a:r>
          </a:p>
          <a:p>
            <a:pPr marL="201168" indent="-201168">
              <a:spcAft>
                <a:spcPts val="1400"/>
              </a:spcAft>
              <a:buChar char="•"/>
            </a:pPr>
            <a:r>
              <a:rPr sz="1500">
                <a:solidFill>
                  <a:srgbClr val="17253D"/>
                </a:solidFill>
                <a:latin typeface="Calibri"/>
              </a:rPr>
              <a:t>Rebuilding rationale is slow</a:t>
            </a:r>
          </a:p>
        </p:txBody>
      </p:sp>
      <p:sp>
        <p:nvSpPr>
          <p:cNvPr id="9" name="Rounded Rectangle 8"/>
          <p:cNvSpPr/>
          <p:nvPr/>
        </p:nvSpPr>
        <p:spPr>
          <a:xfrm>
            <a:off x="4398264" y="1783080"/>
            <a:ext cx="3392423" cy="393192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Specification added</a:t>
            </a:r>
          </a:p>
        </p:txBody>
      </p:sp>
      <p:sp>
        <p:nvSpPr>
          <p:cNvPr id="11" name="TextBox 10"/>
          <p:cNvSpPr txBox="1"/>
          <p:nvPr/>
        </p:nvSpPr>
        <p:spPr>
          <a:xfrm>
            <a:off x="4718303" y="2834639"/>
            <a:ext cx="2752344" cy="2743200"/>
          </a:xfrm>
          <a:prstGeom prst="rect">
            <a:avLst/>
          </a:prstGeom>
          <a:noFill/>
        </p:spPr>
        <p:txBody>
          <a:bodyPr wrap="square" lIns="0" rIns="0" tIns="0" bIns="0" anchor="t">
            <a:spAutoFit/>
          </a:bodyPr>
          <a:lstStyle/>
          <a:p>
            <a:pPr marL="201168" indent="-201168">
              <a:spcAft>
                <a:spcPts val="1400"/>
              </a:spcAft>
              <a:buChar char="•"/>
            </a:pPr>
            <a:r>
              <a:rPr sz="1500">
                <a:solidFill>
                  <a:srgbClr val="17253D"/>
                </a:solidFill>
                <a:latin typeface="Calibri"/>
              </a:rPr>
              <a:t>Product owner, analyst, and committee personas</a:t>
            </a:r>
          </a:p>
          <a:p>
            <a:pPr marL="201168" indent="-201168">
              <a:spcAft>
                <a:spcPts val="1400"/>
              </a:spcAft>
              <a:buChar char="•"/>
            </a:pPr>
            <a:r>
              <a:rPr sz="1500">
                <a:solidFill>
                  <a:srgbClr val="17253D"/>
                </a:solidFill>
                <a:latin typeface="Calibri"/>
              </a:rPr>
              <a:t>Draft → analyst → committee → follow-up workflow</a:t>
            </a:r>
          </a:p>
          <a:p>
            <a:pPr marL="201168" indent="-201168">
              <a:spcAft>
                <a:spcPts val="1400"/>
              </a:spcAft>
              <a:buChar char="•"/>
            </a:pPr>
            <a:r>
              <a:rPr sz="1500">
                <a:solidFill>
                  <a:srgbClr val="17253D"/>
                </a:solidFill>
                <a:latin typeface="Calibri"/>
              </a:rPr>
              <a:t>Acceptance criteria for citations, decisions, and closure</a:t>
            </a:r>
          </a:p>
        </p:txBody>
      </p:sp>
      <p:sp>
        <p:nvSpPr>
          <p:cNvPr id="12" name="Rounded Rectangle 11"/>
          <p:cNvSpPr/>
          <p:nvPr/>
        </p:nvSpPr>
        <p:spPr>
          <a:xfrm>
            <a:off x="8156447" y="1783080"/>
            <a:ext cx="3392423" cy="3931920"/>
          </a:xfrm>
          <a:prstGeom prst="roundRect">
            <a:avLst>
              <a:gd name="adj" fmla="val 2156"/>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103120"/>
            <a:ext cx="2752344" cy="502920"/>
          </a:xfrm>
          <a:prstGeom prst="rect">
            <a:avLst/>
          </a:prstGeom>
          <a:noFill/>
        </p:spPr>
        <p:txBody>
          <a:bodyPr wrap="square" lIns="0" rIns="0" tIns="0" bIns="0" anchor="t">
            <a:spAutoFit/>
          </a:bodyPr>
          <a:lstStyle/>
          <a:p>
            <a:pPr algn="l"/>
            <a:r>
              <a:rPr sz="1900" b="1" i="0">
                <a:solidFill>
                  <a:srgbClr val="8A6A1F"/>
                </a:solidFill>
                <a:latin typeface="Arial"/>
              </a:rPr>
              <a:t>Boundaries made explicit</a:t>
            </a:r>
          </a:p>
        </p:txBody>
      </p:sp>
      <p:sp>
        <p:nvSpPr>
          <p:cNvPr id="14" name="TextBox 13"/>
          <p:cNvSpPr txBox="1"/>
          <p:nvPr/>
        </p:nvSpPr>
        <p:spPr>
          <a:xfrm>
            <a:off x="8476487" y="2834639"/>
            <a:ext cx="2752344" cy="2743200"/>
          </a:xfrm>
          <a:prstGeom prst="rect">
            <a:avLst/>
          </a:prstGeom>
          <a:noFill/>
        </p:spPr>
        <p:txBody>
          <a:bodyPr wrap="square" lIns="0" rIns="0" tIns="0" bIns="0" anchor="t">
            <a:spAutoFit/>
          </a:bodyPr>
          <a:lstStyle/>
          <a:p>
            <a:pPr marL="201168" indent="-201168">
              <a:spcAft>
                <a:spcPts val="1400"/>
              </a:spcAft>
              <a:buChar char="•"/>
            </a:pPr>
            <a:r>
              <a:rPr sz="1500">
                <a:solidFill>
                  <a:srgbClr val="17253D"/>
                </a:solidFill>
                <a:latin typeface="Calibri"/>
              </a:rPr>
              <a:t>Synthetic PDF intake and inherent-risk score</a:t>
            </a:r>
          </a:p>
          <a:p>
            <a:pPr marL="201168" indent="-201168">
              <a:spcAft>
                <a:spcPts val="1400"/>
              </a:spcAft>
              <a:buChar char="•"/>
            </a:pPr>
            <a:r>
              <a:rPr sz="1500">
                <a:solidFill>
                  <a:srgbClr val="17253D"/>
                </a:solidFill>
                <a:latin typeface="Calibri"/>
              </a:rPr>
              <a:t>Production identity and approved rules out of scope</a:t>
            </a:r>
          </a:p>
          <a:p>
            <a:pPr marL="201168" indent="-201168">
              <a:spcAft>
                <a:spcPts val="1400"/>
              </a:spcAft>
              <a:buChar char="•"/>
            </a:pPr>
            <a:r>
              <a:rPr sz="1500">
                <a:solidFill>
                  <a:srgbClr val="17253D"/>
                </a:solidFill>
                <a:latin typeface="Calibri"/>
              </a:rPr>
              <a:t>Residual-risk modeling and immutable audit storage remain gaps</a:t>
            </a:r>
          </a:p>
        </p:txBody>
      </p:sp>
      <p:sp>
        <p:nvSpPr>
          <p:cNvPr id="15" name="TextBox 14"/>
          <p:cNvSpPr txBox="1"/>
          <p:nvPr/>
        </p:nvSpPr>
        <p:spPr>
          <a:xfrm>
            <a:off x="640080" y="5870448"/>
            <a:ext cx="10908792" cy="292608"/>
          </a:xfrm>
          <a:prstGeom prst="rect">
            <a:avLst/>
          </a:prstGeom>
          <a:noFill/>
        </p:spPr>
        <p:txBody>
          <a:bodyPr wrap="square" lIns="0" rIns="0" tIns="0" bIns="0" anchor="ctr">
            <a:spAutoFit/>
          </a:bodyPr>
          <a:lstStyle/>
          <a:p>
            <a:pPr algn="l"/>
            <a:r>
              <a:rPr sz="1200" b="0" i="1">
                <a:solidFill>
                  <a:srgbClr val="55657D"/>
                </a:solidFill>
                <a:latin typeface="Calibri"/>
              </a:rPr>
              <a:t>Evidence: docs/requirements/spec.md + open-questions.md | Current-state and target turnaround figures belong to the brief, not measured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ARCHITECTURE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 deliberately narrow AI boundary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4</a:t>
            </a:r>
          </a:p>
        </p:txBody>
      </p:sp>
      <p:sp>
        <p:nvSpPr>
          <p:cNvPr id="6" name="Rounded Rectangle 5"/>
          <p:cNvSpPr/>
          <p:nvPr/>
        </p:nvSpPr>
        <p:spPr>
          <a:xfrm>
            <a:off x="64008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PDF</a:t>
            </a:r>
          </a:p>
        </p:txBody>
      </p:sp>
      <p:sp>
        <p:nvSpPr>
          <p:cNvPr id="8" name="TextBox 7"/>
          <p:cNvSpPr txBox="1"/>
          <p:nvPr/>
        </p:nvSpPr>
        <p:spPr>
          <a:xfrm>
            <a:off x="21031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52923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52923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pypdf</a:t>
            </a:r>
          </a:p>
        </p:txBody>
      </p:sp>
      <p:sp>
        <p:nvSpPr>
          <p:cNvPr id="11" name="TextBox 10"/>
          <p:cNvSpPr txBox="1"/>
          <p:nvPr/>
        </p:nvSpPr>
        <p:spPr>
          <a:xfrm>
            <a:off x="399227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4418380" y="1828800"/>
            <a:ext cx="1463040" cy="777240"/>
          </a:xfrm>
          <a:prstGeom prst="roundRect">
            <a:avLst>
              <a:gd name="adj" fmla="val 9411"/>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418380" y="1828800"/>
            <a:ext cx="1463040" cy="777240"/>
          </a:xfrm>
          <a:prstGeom prst="rect">
            <a:avLst/>
          </a:prstGeom>
          <a:noFill/>
        </p:spPr>
        <p:txBody>
          <a:bodyPr wrap="square" lIns="0" rIns="0" tIns="0" bIns="0" anchor="ctr">
            <a:spAutoFit/>
          </a:bodyPr>
          <a:lstStyle/>
          <a:p>
            <a:pPr algn="ctr"/>
            <a:r>
              <a:rPr sz="1700" b="1" i="0">
                <a:solidFill>
                  <a:srgbClr val="0A1B34"/>
                </a:solidFill>
                <a:latin typeface="Calibri"/>
              </a:rPr>
              <a:t>LLM JSON</a:t>
            </a:r>
          </a:p>
        </p:txBody>
      </p:sp>
      <p:sp>
        <p:nvSpPr>
          <p:cNvPr id="14" name="TextBox 13"/>
          <p:cNvSpPr txBox="1"/>
          <p:nvPr/>
        </p:nvSpPr>
        <p:spPr>
          <a:xfrm>
            <a:off x="58814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6307531" y="1828800"/>
            <a:ext cx="1463040" cy="777240"/>
          </a:xfrm>
          <a:prstGeom prst="roundRect">
            <a:avLst>
              <a:gd name="adj" fmla="val 9411"/>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3075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Rules</a:t>
            </a:r>
          </a:p>
        </p:txBody>
      </p:sp>
      <p:sp>
        <p:nvSpPr>
          <p:cNvPr id="17" name="TextBox 16"/>
          <p:cNvSpPr txBox="1"/>
          <p:nvPr/>
        </p:nvSpPr>
        <p:spPr>
          <a:xfrm>
            <a:off x="777057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8196681"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196681"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SQLite</a:t>
            </a:r>
          </a:p>
        </p:txBody>
      </p:sp>
      <p:sp>
        <p:nvSpPr>
          <p:cNvPr id="20" name="TextBox 19"/>
          <p:cNvSpPr txBox="1"/>
          <p:nvPr/>
        </p:nvSpPr>
        <p:spPr>
          <a:xfrm>
            <a:off x="965972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21" name="Rounded Rectangle 20"/>
          <p:cNvSpPr/>
          <p:nvPr/>
        </p:nvSpPr>
        <p:spPr>
          <a:xfrm>
            <a:off x="10085831" y="1828800"/>
            <a:ext cx="1463040" cy="777240"/>
          </a:xfrm>
          <a:prstGeom prst="roundRect">
            <a:avLst>
              <a:gd name="adj" fmla="val 9411"/>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100858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Review</a:t>
            </a:r>
          </a:p>
        </p:txBody>
      </p:sp>
      <p:sp>
        <p:nvSpPr>
          <p:cNvPr id="23" name="Oval 22"/>
          <p:cNvSpPr/>
          <p:nvPr/>
        </p:nvSpPr>
        <p:spPr>
          <a:xfrm>
            <a:off x="640080" y="2889504"/>
            <a:ext cx="182880" cy="182880"/>
          </a:xfrm>
          <a:prstGeom prst="ellipse">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326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Probabilistic (AI)</a:t>
            </a:r>
          </a:p>
        </p:txBody>
      </p:sp>
      <p:sp>
        <p:nvSpPr>
          <p:cNvPr id="25" name="Oval 24"/>
          <p:cNvSpPr/>
          <p:nvPr/>
        </p:nvSpPr>
        <p:spPr>
          <a:xfrm>
            <a:off x="3017520" y="2889504"/>
            <a:ext cx="182880" cy="1828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3310127"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Deterministic (code)</a:t>
            </a:r>
          </a:p>
        </p:txBody>
      </p:sp>
      <p:sp>
        <p:nvSpPr>
          <p:cNvPr id="27" name="Oval 26"/>
          <p:cNvSpPr/>
          <p:nvPr/>
        </p:nvSpPr>
        <p:spPr>
          <a:xfrm>
            <a:off x="5669280" y="2889504"/>
            <a:ext cx="182880" cy="18288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9618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Human</a:t>
            </a:r>
          </a:p>
        </p:txBody>
      </p:sp>
      <p:sp>
        <p:nvSpPr>
          <p:cNvPr id="29" name="Rounded Rectangle 28"/>
          <p:cNvSpPr/>
          <p:nvPr/>
        </p:nvSpPr>
        <p:spPr>
          <a:xfrm>
            <a:off x="640080"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p:cNvSpPr/>
          <p:nvPr/>
        </p:nvSpPr>
        <p:spPr>
          <a:xfrm>
            <a:off x="960119" y="3703320"/>
            <a:ext cx="1737360" cy="457200"/>
          </a:xfrm>
          <a:prstGeom prst="roundRect">
            <a:avLst>
              <a:gd name="adj" fmla="val 50000"/>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960119" y="3703320"/>
            <a:ext cx="1737360" cy="457200"/>
          </a:xfrm>
          <a:prstGeom prst="rect">
            <a:avLst/>
          </a:prstGeom>
          <a:noFill/>
        </p:spPr>
        <p:txBody>
          <a:bodyPr wrap="square" lIns="0" rIns="0" tIns="0" bIns="0" anchor="ctr">
            <a:spAutoFit/>
          </a:bodyPr>
          <a:lstStyle/>
          <a:p>
            <a:pPr algn="ctr"/>
            <a:r>
              <a:rPr sz="1600" b="1" i="0">
                <a:solidFill>
                  <a:srgbClr val="0A1B34"/>
                </a:solidFill>
                <a:latin typeface="Calibri"/>
              </a:rPr>
              <a:t>AI does</a:t>
            </a:r>
          </a:p>
        </p:txBody>
      </p:sp>
      <p:sp>
        <p:nvSpPr>
          <p:cNvPr id="32" name="TextBox 31"/>
          <p:cNvSpPr txBox="1"/>
          <p:nvPr/>
        </p:nvSpPr>
        <p:spPr>
          <a:xfrm>
            <a:off x="960119"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Extract structure from unstructured text</a:t>
            </a:r>
          </a:p>
          <a:p>
            <a:pPr marL="201168" indent="-201168">
              <a:spcAft>
                <a:spcPts val="1200"/>
              </a:spcAft>
              <a:buChar char="•"/>
            </a:pPr>
            <a:r>
              <a:rPr sz="1600">
                <a:solidFill>
                  <a:srgbClr val="17253D"/>
                </a:solidFill>
                <a:latin typeface="Calibri"/>
              </a:rPr>
              <a:t>Identify stated risk factors</a:t>
            </a:r>
          </a:p>
          <a:p>
            <a:pPr marL="201168" indent="-201168">
              <a:spcAft>
                <a:spcPts val="1200"/>
              </a:spcAft>
              <a:buChar char="•"/>
            </a:pPr>
            <a:r>
              <a:rPr sz="1600">
                <a:solidFill>
                  <a:srgbClr val="17253D"/>
                </a:solidFill>
                <a:latin typeface="Calibri"/>
              </a:rPr>
              <a:t>Attempt semantic policy retrieval when configured</a:t>
            </a:r>
          </a:p>
        </p:txBody>
      </p:sp>
      <p:sp>
        <p:nvSpPr>
          <p:cNvPr id="33" name="Rounded Rectangle 32"/>
          <p:cNvSpPr/>
          <p:nvPr/>
        </p:nvSpPr>
        <p:spPr>
          <a:xfrm>
            <a:off x="6277356"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ed Rectangle 33"/>
          <p:cNvSpPr/>
          <p:nvPr/>
        </p:nvSpPr>
        <p:spPr>
          <a:xfrm>
            <a:off x="6597396" y="3703320"/>
            <a:ext cx="1737360" cy="457200"/>
          </a:xfrm>
          <a:prstGeom prst="roundRect">
            <a:avLst>
              <a:gd name="adj" fmla="val 50000"/>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597396" y="3703320"/>
            <a:ext cx="1737360" cy="457200"/>
          </a:xfrm>
          <a:prstGeom prst="rect">
            <a:avLst/>
          </a:prstGeom>
          <a:noFill/>
        </p:spPr>
        <p:txBody>
          <a:bodyPr wrap="square" lIns="0" rIns="0" tIns="0" bIns="0" anchor="ctr">
            <a:spAutoFit/>
          </a:bodyPr>
          <a:lstStyle/>
          <a:p>
            <a:pPr algn="ctr"/>
            <a:r>
              <a:rPr sz="1600" b="1" i="0">
                <a:solidFill>
                  <a:srgbClr val="FFFFFF"/>
                </a:solidFill>
                <a:latin typeface="Calibri"/>
              </a:rPr>
              <a:t>Code does</a:t>
            </a:r>
          </a:p>
        </p:txBody>
      </p:sp>
      <p:sp>
        <p:nvSpPr>
          <p:cNvPr id="36" name="TextBox 35"/>
          <p:cNvSpPr txBox="1"/>
          <p:nvPr/>
        </p:nvSpPr>
        <p:spPr>
          <a:xfrm>
            <a:off x="6597396"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Validate schemas</a:t>
            </a:r>
          </a:p>
          <a:p>
            <a:pPr marL="201168" indent="-201168">
              <a:spcAft>
                <a:spcPts val="1200"/>
              </a:spcAft>
              <a:buChar char="•"/>
            </a:pPr>
            <a:r>
              <a:rPr sz="1600">
                <a:solidFill>
                  <a:srgbClr val="17253D"/>
                </a:solidFill>
                <a:latin typeface="Calibri"/>
              </a:rPr>
              <a:t>Calculate scores and thresholds</a:t>
            </a:r>
          </a:p>
          <a:p>
            <a:pPr marL="201168" indent="-201168">
              <a:spcAft>
                <a:spcPts val="1200"/>
              </a:spcAft>
              <a:buChar char="•"/>
            </a:pPr>
            <a:r>
              <a:rPr sz="1600">
                <a:solidFill>
                  <a:srgbClr val="17253D"/>
                </a:solidFill>
                <a:latin typeface="Calibri"/>
              </a:rPr>
              <a:t>Persist workflow events; policy lookup falls back to rules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AI HARNESS AND CONTEXT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document is data, not authority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5</a:t>
            </a:r>
          </a:p>
        </p:txBody>
      </p:sp>
      <p:sp>
        <p:nvSpPr>
          <p:cNvPr id="6" name="Rounded Rectangle 5"/>
          <p:cNvSpPr/>
          <p:nvPr/>
        </p:nvSpPr>
        <p:spPr>
          <a:xfrm>
            <a:off x="640080"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1</a:t>
            </a:r>
          </a:p>
        </p:txBody>
      </p:sp>
      <p:sp>
        <p:nvSpPr>
          <p:cNvPr id="9" name="TextBox 8"/>
          <p:cNvSpPr txBox="1"/>
          <p:nvPr/>
        </p:nvSpPr>
        <p:spPr>
          <a:xfrm>
            <a:off x="960119"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Context boundary</a:t>
            </a:r>
          </a:p>
        </p:txBody>
      </p:sp>
      <p:sp>
        <p:nvSpPr>
          <p:cNvPr id="10" name="TextBox 9"/>
          <p:cNvSpPr txBox="1"/>
          <p:nvPr/>
        </p:nvSpPr>
        <p:spPr>
          <a:xfrm>
            <a:off x="960119"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Source text is explicitly untrusted</a:t>
            </a:r>
          </a:p>
          <a:p>
            <a:pPr marL="201168" indent="-201168">
              <a:spcAft>
                <a:spcPts val="1400"/>
              </a:spcAft>
              <a:buChar char="•"/>
            </a:pPr>
            <a:r>
              <a:rPr sz="1600">
                <a:solidFill>
                  <a:srgbClr val="17253D"/>
                </a:solidFill>
                <a:latin typeface="Calibri"/>
              </a:rPr>
              <a:t>Embedded instructions cannot approve a case</a:t>
            </a:r>
          </a:p>
          <a:p>
            <a:pPr marL="201168" indent="-201168">
              <a:spcAft>
                <a:spcPts val="1400"/>
              </a:spcAft>
              <a:buChar char="•"/>
            </a:pPr>
            <a:r>
              <a:rPr sz="1600">
                <a:solidFill>
                  <a:srgbClr val="17253D"/>
                </a:solidFill>
                <a:latin typeface="Calibri"/>
              </a:rPr>
              <a:t>Prompt requires faithful extraction</a:t>
            </a:r>
          </a:p>
        </p:txBody>
      </p:sp>
      <p:sp>
        <p:nvSpPr>
          <p:cNvPr id="11" name="Rounded Rectangle 10"/>
          <p:cNvSpPr/>
          <p:nvPr/>
        </p:nvSpPr>
        <p:spPr>
          <a:xfrm>
            <a:off x="4398264"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2</a:t>
            </a:r>
          </a:p>
        </p:txBody>
      </p:sp>
      <p:sp>
        <p:nvSpPr>
          <p:cNvPr id="14" name="TextBox 13"/>
          <p:cNvSpPr txBox="1"/>
          <p:nvPr/>
        </p:nvSpPr>
        <p:spPr>
          <a:xfrm>
            <a:off x="4718303"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Structured contract</a:t>
            </a:r>
          </a:p>
        </p:txBody>
      </p:sp>
      <p:sp>
        <p:nvSpPr>
          <p:cNvPr id="15" name="TextBox 14"/>
          <p:cNvSpPr txBox="1"/>
          <p:nvPr/>
        </p:nvSpPr>
        <p:spPr>
          <a:xfrm>
            <a:off x="4718303"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Pydantic schema at the model boundary</a:t>
            </a:r>
          </a:p>
          <a:p>
            <a:pPr marL="201168" indent="-201168">
              <a:spcAft>
                <a:spcPts val="1400"/>
              </a:spcAft>
              <a:buChar char="•"/>
            </a:pPr>
            <a:r>
              <a:rPr sz="1600">
                <a:solidFill>
                  <a:srgbClr val="17253D"/>
                </a:solidFill>
                <a:latin typeface="Calibri"/>
              </a:rPr>
              <a:t>Malformed output fails loudly</a:t>
            </a:r>
          </a:p>
          <a:p>
            <a:pPr marL="201168" indent="-201168">
              <a:spcAft>
                <a:spcPts val="1400"/>
              </a:spcAft>
              <a:buChar char="•"/>
            </a:pPr>
            <a:r>
              <a:rPr sz="1600">
                <a:solidFill>
                  <a:srgbClr val="17253D"/>
                </a:solidFill>
                <a:latin typeface="Calibri"/>
              </a:rPr>
              <a:t>Extraction versions stay reconstructable</a:t>
            </a:r>
          </a:p>
        </p:txBody>
      </p:sp>
      <p:sp>
        <p:nvSpPr>
          <p:cNvPr id="16" name="Rounded Rectangle 15"/>
          <p:cNvSpPr/>
          <p:nvPr/>
        </p:nvSpPr>
        <p:spPr>
          <a:xfrm>
            <a:off x="8156447"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3</a:t>
            </a:r>
          </a:p>
        </p:txBody>
      </p:sp>
      <p:sp>
        <p:nvSpPr>
          <p:cNvPr id="19" name="TextBox 18"/>
          <p:cNvSpPr txBox="1"/>
          <p:nvPr/>
        </p:nvSpPr>
        <p:spPr>
          <a:xfrm>
            <a:off x="8476487"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Traceable context</a:t>
            </a:r>
          </a:p>
        </p:txBody>
      </p:sp>
      <p:sp>
        <p:nvSpPr>
          <p:cNvPr id="20" name="TextBox 19"/>
          <p:cNvSpPr txBox="1"/>
          <p:nvPr/>
        </p:nvSpPr>
        <p:spPr>
          <a:xfrm>
            <a:off x="8476487"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Synthetic policy IDs and source paths</a:t>
            </a:r>
          </a:p>
          <a:p>
            <a:pPr marL="201168" indent="-201168">
              <a:spcAft>
                <a:spcPts val="1400"/>
              </a:spcAft>
              <a:buChar char="•"/>
            </a:pPr>
            <a:r>
              <a:rPr sz="1600">
                <a:solidFill>
                  <a:srgbClr val="17253D"/>
                </a:solidFill>
                <a:latin typeface="Calibri"/>
              </a:rPr>
              <a:t>Prompt version telemetry</a:t>
            </a:r>
          </a:p>
          <a:p>
            <a:pPr marL="201168" indent="-201168">
              <a:spcAft>
                <a:spcPts val="1400"/>
              </a:spcAft>
              <a:buChar char="•"/>
            </a:pPr>
            <a:r>
              <a:rPr sz="1600">
                <a:solidFill>
                  <a:srgbClr val="17253D"/>
                </a:solidFill>
                <a:latin typeface="Calibri"/>
              </a:rPr>
              <a:t>Analyst can disagree with the rationale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ENGINEERING JUDGEMENT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Scoring is explainable by construction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6</a:t>
            </a:r>
          </a:p>
        </p:txBody>
      </p:sp>
      <p:sp>
        <p:nvSpPr>
          <p:cNvPr id="6" name="Rounded Rectangle 5"/>
          <p:cNvSpPr/>
          <p:nvPr/>
        </p:nvSpPr>
        <p:spPr>
          <a:xfrm>
            <a:off x="640080" y="1783080"/>
            <a:ext cx="6035040" cy="4343400"/>
          </a:xfrm>
          <a:prstGeom prst="roundRect">
            <a:avLst>
              <a:gd name="adj" fmla="val 168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22959" y="1920240"/>
          <a:ext cx="5669279" cy="4069080"/>
        </p:xfrm>
        <a:graphic>
          <a:graphicData uri="http://schemas.openxmlformats.org/drawingml/2006/chart">
            <c:chart xmlns:c="http://schemas.openxmlformats.org/drawingml/2006/chart" r:id="rId3"/>
          </a:graphicData>
        </a:graphic>
      </p:graphicFrame>
      <p:sp>
        <p:nvSpPr>
          <p:cNvPr id="8" name="Rounded Rectangle 7"/>
          <p:cNvSpPr/>
          <p:nvPr/>
        </p:nvSpPr>
        <p:spPr>
          <a:xfrm>
            <a:off x="7040880" y="1783080"/>
            <a:ext cx="4507992" cy="1988819"/>
          </a:xfrm>
          <a:prstGeom prst="roundRect">
            <a:avLst>
              <a:gd name="adj" fmla="val 367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60920" y="2011680"/>
            <a:ext cx="3867911" cy="411480"/>
          </a:xfrm>
          <a:prstGeom prst="rect">
            <a:avLst/>
          </a:prstGeom>
          <a:noFill/>
        </p:spPr>
        <p:txBody>
          <a:bodyPr wrap="square" lIns="0" rIns="0" tIns="0" bIns="0" anchor="t">
            <a:spAutoFit/>
          </a:bodyPr>
          <a:lstStyle/>
          <a:p>
            <a:pPr algn="l"/>
            <a:r>
              <a:rPr sz="2000" b="1" i="0">
                <a:solidFill>
                  <a:srgbClr val="0A1B34"/>
                </a:solidFill>
                <a:latin typeface="Arial"/>
              </a:rPr>
              <a:t>Why not an LLM score?</a:t>
            </a:r>
          </a:p>
        </p:txBody>
      </p:sp>
      <p:sp>
        <p:nvSpPr>
          <p:cNvPr id="10" name="TextBox 9"/>
          <p:cNvSpPr txBox="1"/>
          <p:nvPr/>
        </p:nvSpPr>
        <p:spPr>
          <a:xfrm>
            <a:off x="7360920" y="2514600"/>
            <a:ext cx="3867911" cy="1074419"/>
          </a:xfrm>
          <a:prstGeom prst="rect">
            <a:avLst/>
          </a:prstGeom>
          <a:noFill/>
        </p:spPr>
        <p:txBody>
          <a:bodyPr wrap="square" lIns="0" rIns="0" tIns="0" bIns="0" anchor="t">
            <a:spAutoFit/>
          </a:bodyPr>
          <a:lstStyle/>
          <a:p>
            <a:pPr algn="l"/>
            <a:r>
              <a:rPr sz="1500" b="0" i="0">
                <a:solidFill>
                  <a:srgbClr val="17253D"/>
                </a:solidFill>
                <a:latin typeface="Calibri"/>
              </a:rPr>
              <a:t>A committee must reproduce, challenge, and test the number. The model structures evidence; deterministic Python combines category scores.</a:t>
            </a:r>
          </a:p>
        </p:txBody>
      </p:sp>
      <p:sp>
        <p:nvSpPr>
          <p:cNvPr id="11" name="Rounded Rectangle 10"/>
          <p:cNvSpPr/>
          <p:nvPr/>
        </p:nvSpPr>
        <p:spPr>
          <a:xfrm>
            <a:off x="7040880" y="4137659"/>
            <a:ext cx="4507992" cy="1988819"/>
          </a:xfrm>
          <a:prstGeom prst="roundRect">
            <a:avLst>
              <a:gd name="adj" fmla="val 3678"/>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60920" y="4366259"/>
            <a:ext cx="3867911" cy="411480"/>
          </a:xfrm>
          <a:prstGeom prst="rect">
            <a:avLst/>
          </a:prstGeom>
          <a:noFill/>
        </p:spPr>
        <p:txBody>
          <a:bodyPr wrap="square" lIns="0" rIns="0" tIns="0" bIns="0" anchor="t">
            <a:spAutoFit/>
          </a:bodyPr>
          <a:lstStyle/>
          <a:p>
            <a:pPr algn="l"/>
            <a:r>
              <a:rPr sz="2000" b="1" i="0">
                <a:solidFill>
                  <a:srgbClr val="8A6A1F"/>
                </a:solidFill>
                <a:latin typeface="Arial"/>
              </a:rPr>
              <a:t>Honest limits</a:t>
            </a:r>
          </a:p>
        </p:txBody>
      </p:sp>
      <p:sp>
        <p:nvSpPr>
          <p:cNvPr id="13" name="TextBox 12"/>
          <p:cNvSpPr txBox="1"/>
          <p:nvPr/>
        </p:nvSpPr>
        <p:spPr>
          <a:xfrm>
            <a:off x="7360920" y="4869179"/>
            <a:ext cx="3867911" cy="1074419"/>
          </a:xfrm>
          <a:prstGeom prst="rect">
            <a:avLst/>
          </a:prstGeom>
          <a:noFill/>
        </p:spPr>
        <p:txBody>
          <a:bodyPr wrap="square" lIns="0" rIns="0" tIns="0" bIns="0" anchor="t">
            <a:spAutoFit/>
          </a:bodyPr>
          <a:lstStyle/>
          <a:p>
            <a:pPr algn="l"/>
            <a:r>
              <a:rPr sz="1500" b="0" i="0">
                <a:solidFill>
                  <a:srgbClr val="17253D"/>
                </a:solidFill>
                <a:latin typeface="Calibri"/>
              </a:rPr>
              <a:t>Weights and policy material are synthetic, not approved supervisory mappings. Control effectiveness and residual risk are not yet modeled.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SIX STAGES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AI is part of delivery, not only runtime code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7</a:t>
            </a:r>
          </a:p>
        </p:txBody>
      </p:sp>
      <p:sp>
        <p:nvSpPr>
          <p:cNvPr id="6" name="Rounded Rectangle 5"/>
          <p:cNvSpPr/>
          <p:nvPr/>
        </p:nvSpPr>
        <p:spPr>
          <a:xfrm>
            <a:off x="640080"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1</a:t>
            </a:r>
          </a:p>
        </p:txBody>
      </p:sp>
      <p:sp>
        <p:nvSpPr>
          <p:cNvPr id="9" name="TextBox 8"/>
          <p:cNvSpPr txBox="1"/>
          <p:nvPr/>
        </p:nvSpPr>
        <p:spPr>
          <a:xfrm>
            <a:off x="1737360"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Requirements</a:t>
            </a:r>
          </a:p>
        </p:txBody>
      </p:sp>
      <p:sp>
        <p:nvSpPr>
          <p:cNvPr id="10" name="TextBox 9"/>
          <p:cNvSpPr txBox="1"/>
          <p:nvPr/>
        </p:nvSpPr>
        <p:spPr>
          <a:xfrm>
            <a:off x="960119"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Brief → spec</a:t>
            </a:r>
          </a:p>
        </p:txBody>
      </p:sp>
      <p:sp>
        <p:nvSpPr>
          <p:cNvPr id="11" name="Rounded Rectangle 10"/>
          <p:cNvSpPr/>
          <p:nvPr/>
        </p:nvSpPr>
        <p:spPr>
          <a:xfrm>
            <a:off x="4398264"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057400"/>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2</a:t>
            </a:r>
          </a:p>
        </p:txBody>
      </p:sp>
      <p:sp>
        <p:nvSpPr>
          <p:cNvPr id="14" name="TextBox 13"/>
          <p:cNvSpPr txBox="1"/>
          <p:nvPr/>
        </p:nvSpPr>
        <p:spPr>
          <a:xfrm>
            <a:off x="5495544"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Design</a:t>
            </a:r>
          </a:p>
        </p:txBody>
      </p:sp>
      <p:sp>
        <p:nvSpPr>
          <p:cNvPr id="15" name="TextBox 14"/>
          <p:cNvSpPr txBox="1"/>
          <p:nvPr/>
        </p:nvSpPr>
        <p:spPr>
          <a:xfrm>
            <a:off x="4718303"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Options → decision</a:t>
            </a:r>
          </a:p>
        </p:txBody>
      </p:sp>
      <p:sp>
        <p:nvSpPr>
          <p:cNvPr id="16" name="Rounded Rectangle 15"/>
          <p:cNvSpPr/>
          <p:nvPr/>
        </p:nvSpPr>
        <p:spPr>
          <a:xfrm>
            <a:off x="8156447"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3</a:t>
            </a:r>
          </a:p>
        </p:txBody>
      </p:sp>
      <p:sp>
        <p:nvSpPr>
          <p:cNvPr id="19" name="TextBox 18"/>
          <p:cNvSpPr txBox="1"/>
          <p:nvPr/>
        </p:nvSpPr>
        <p:spPr>
          <a:xfrm>
            <a:off x="9253727"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Development</a:t>
            </a:r>
          </a:p>
        </p:txBody>
      </p:sp>
      <p:sp>
        <p:nvSpPr>
          <p:cNvPr id="20" name="TextBox 19"/>
          <p:cNvSpPr txBox="1"/>
          <p:nvPr/>
        </p:nvSpPr>
        <p:spPr>
          <a:xfrm>
            <a:off x="8476487"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Contract → code</a:t>
            </a:r>
          </a:p>
        </p:txBody>
      </p:sp>
      <p:sp>
        <p:nvSpPr>
          <p:cNvPr id="21" name="Rounded Rectangle 20"/>
          <p:cNvSpPr/>
          <p:nvPr/>
        </p:nvSpPr>
        <p:spPr>
          <a:xfrm>
            <a:off x="640080"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960119"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60119"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4</a:t>
            </a:r>
          </a:p>
        </p:txBody>
      </p:sp>
      <p:sp>
        <p:nvSpPr>
          <p:cNvPr id="24" name="TextBox 23"/>
          <p:cNvSpPr txBox="1"/>
          <p:nvPr/>
        </p:nvSpPr>
        <p:spPr>
          <a:xfrm>
            <a:off x="1737360"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Testing</a:t>
            </a:r>
          </a:p>
        </p:txBody>
      </p:sp>
      <p:sp>
        <p:nvSpPr>
          <p:cNvPr id="25" name="TextBox 24"/>
          <p:cNvSpPr txBox="1"/>
          <p:nvPr/>
        </p:nvSpPr>
        <p:spPr>
          <a:xfrm>
            <a:off x="960119"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Cases → metrics</a:t>
            </a:r>
          </a:p>
        </p:txBody>
      </p:sp>
      <p:sp>
        <p:nvSpPr>
          <p:cNvPr id="26" name="Rounded Rectangle 25"/>
          <p:cNvSpPr/>
          <p:nvPr/>
        </p:nvSpPr>
        <p:spPr>
          <a:xfrm>
            <a:off x="4398264"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18303" y="4023359"/>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718303"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5</a:t>
            </a:r>
          </a:p>
        </p:txBody>
      </p:sp>
      <p:sp>
        <p:nvSpPr>
          <p:cNvPr id="29" name="TextBox 28"/>
          <p:cNvSpPr txBox="1"/>
          <p:nvPr/>
        </p:nvSpPr>
        <p:spPr>
          <a:xfrm>
            <a:off x="5495544"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Deployment</a:t>
            </a:r>
          </a:p>
        </p:txBody>
      </p:sp>
      <p:sp>
        <p:nvSpPr>
          <p:cNvPr id="30" name="TextBox 29"/>
          <p:cNvSpPr txBox="1"/>
          <p:nvPr/>
        </p:nvSpPr>
        <p:spPr>
          <a:xfrm>
            <a:off x="4718303"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Image → runbook</a:t>
            </a:r>
          </a:p>
        </p:txBody>
      </p:sp>
      <p:sp>
        <p:nvSpPr>
          <p:cNvPr id="31" name="Rounded Rectangle 30"/>
          <p:cNvSpPr/>
          <p:nvPr/>
        </p:nvSpPr>
        <p:spPr>
          <a:xfrm>
            <a:off x="8156447"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8476487"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476487"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6</a:t>
            </a:r>
          </a:p>
        </p:txBody>
      </p:sp>
      <p:sp>
        <p:nvSpPr>
          <p:cNvPr id="34" name="TextBox 33"/>
          <p:cNvSpPr txBox="1"/>
          <p:nvPr/>
        </p:nvSpPr>
        <p:spPr>
          <a:xfrm>
            <a:off x="9253727"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Operations</a:t>
            </a:r>
          </a:p>
        </p:txBody>
      </p:sp>
      <p:sp>
        <p:nvSpPr>
          <p:cNvPr id="35" name="TextBox 34"/>
          <p:cNvSpPr txBox="1"/>
          <p:nvPr/>
        </p:nvSpPr>
        <p:spPr>
          <a:xfrm>
            <a:off x="8476487"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Telemetry → feedback</a:t>
            </a:r>
          </a:p>
        </p:txBody>
      </p:sp>
      <p:sp>
        <p:nvSpPr>
          <p:cNvPr id="36" name="Rounded Rectangle 35"/>
          <p:cNvSpPr/>
          <p:nvPr/>
        </p:nvSpPr>
        <p:spPr>
          <a:xfrm>
            <a:off x="640080" y="5715000"/>
            <a:ext cx="10908792" cy="594360"/>
          </a:xfrm>
          <a:prstGeom prst="roundRect">
            <a:avLst>
              <a:gd name="adj" fmla="val 12307"/>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960119" y="5715000"/>
            <a:ext cx="10268712" cy="594360"/>
          </a:xfrm>
          <a:prstGeom prst="rect">
            <a:avLst/>
          </a:prstGeom>
          <a:noFill/>
        </p:spPr>
        <p:txBody>
          <a:bodyPr wrap="square" lIns="0" rIns="0" tIns="0" bIns="0" anchor="ctr">
            <a:spAutoFit/>
          </a:bodyPr>
          <a:lstStyle/>
          <a:p>
            <a:pPr algn="l"/>
            <a:r>
              <a:rPr sz="1800" b="1" i="0">
                <a:solidFill>
                  <a:srgbClr val="FFFFFF"/>
                </a:solidFill>
                <a:latin typeface="Calibri"/>
              </a:rPr>
              <a:t>Each stage has an AI instruction, a human gate, and a repository artifact.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HUMAN-IN-THE-LOOP</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system prepares; people decide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8</a:t>
            </a:r>
          </a:p>
        </p:txBody>
      </p:sp>
      <p:sp>
        <p:nvSpPr>
          <p:cNvPr id="6" name="Rounded Rectangle 5"/>
          <p:cNvSpPr/>
          <p:nvPr/>
        </p:nvSpPr>
        <p:spPr>
          <a:xfrm>
            <a:off x="640080" y="1783080"/>
            <a:ext cx="1828800" cy="685800"/>
          </a:xfrm>
          <a:prstGeom prst="roundRect">
            <a:avLst>
              <a:gd name="adj" fmla="val 10666"/>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1828800" cy="685800"/>
          </a:xfrm>
          <a:prstGeom prst="rect">
            <a:avLst/>
          </a:prstGeom>
          <a:noFill/>
        </p:spPr>
        <p:txBody>
          <a:bodyPr wrap="square" lIns="0" rIns="0" tIns="0" bIns="0" anchor="ctr">
            <a:spAutoFit/>
          </a:bodyPr>
          <a:lstStyle/>
          <a:p>
            <a:pPr algn="ctr"/>
            <a:r>
              <a:rPr sz="1700" b="1" i="0">
                <a:solidFill>
                  <a:srgbClr val="0A1B34"/>
                </a:solidFill>
                <a:latin typeface="Calibri"/>
              </a:rPr>
              <a:t>Owner draft</a:t>
            </a:r>
          </a:p>
        </p:txBody>
      </p:sp>
      <p:sp>
        <p:nvSpPr>
          <p:cNvPr id="8" name="TextBox 7"/>
          <p:cNvSpPr txBox="1"/>
          <p:nvPr/>
        </p:nvSpPr>
        <p:spPr>
          <a:xfrm>
            <a:off x="2468880"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910078" y="1783080"/>
            <a:ext cx="1828800" cy="685800"/>
          </a:xfrm>
          <a:prstGeom prst="roundRect">
            <a:avLst>
              <a:gd name="adj" fmla="val 10666"/>
            </a:avLst>
          </a:prstGeom>
          <a:solidFill>
            <a:srgbClr val="4A86D8"/>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10078"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Analyst review</a:t>
            </a:r>
          </a:p>
        </p:txBody>
      </p:sp>
      <p:sp>
        <p:nvSpPr>
          <p:cNvPr id="11" name="TextBox 10"/>
          <p:cNvSpPr txBox="1"/>
          <p:nvPr/>
        </p:nvSpPr>
        <p:spPr>
          <a:xfrm>
            <a:off x="4738878"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5180076" y="1783080"/>
            <a:ext cx="1828800" cy="685800"/>
          </a:xfrm>
          <a:prstGeom prst="roundRect">
            <a:avLst>
              <a:gd name="adj" fmla="val 1066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180076"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Committee</a:t>
            </a:r>
          </a:p>
        </p:txBody>
      </p:sp>
      <p:sp>
        <p:nvSpPr>
          <p:cNvPr id="14" name="TextBox 13"/>
          <p:cNvSpPr txBox="1"/>
          <p:nvPr/>
        </p:nvSpPr>
        <p:spPr>
          <a:xfrm>
            <a:off x="7008876"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7450073" y="1783080"/>
            <a:ext cx="1828800" cy="685800"/>
          </a:xfrm>
          <a:prstGeom prst="roundRect">
            <a:avLst>
              <a:gd name="adj" fmla="val 10666"/>
            </a:avLst>
          </a:prstGeom>
          <a:solidFill>
            <a:srgbClr val="163A7A"/>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50073"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Decision</a:t>
            </a:r>
          </a:p>
        </p:txBody>
      </p:sp>
      <p:sp>
        <p:nvSpPr>
          <p:cNvPr id="17" name="TextBox 16"/>
          <p:cNvSpPr txBox="1"/>
          <p:nvPr/>
        </p:nvSpPr>
        <p:spPr>
          <a:xfrm>
            <a:off x="9278874"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9720072" y="1783080"/>
            <a:ext cx="1828800" cy="685800"/>
          </a:xfrm>
          <a:prstGeom prst="roundRect">
            <a:avLst>
              <a:gd name="adj" fmla="val 1066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720072"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Close</a:t>
            </a:r>
          </a:p>
        </p:txBody>
      </p:sp>
      <p:sp>
        <p:nvSpPr>
          <p:cNvPr id="20" name="Rounded Rectangle 19"/>
          <p:cNvSpPr/>
          <p:nvPr/>
        </p:nvSpPr>
        <p:spPr>
          <a:xfrm>
            <a:off x="640080"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914400"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14400"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1</a:t>
            </a:r>
          </a:p>
        </p:txBody>
      </p:sp>
      <p:sp>
        <p:nvSpPr>
          <p:cNvPr id="23" name="TextBox 22"/>
          <p:cNvSpPr txBox="1"/>
          <p:nvPr/>
        </p:nvSpPr>
        <p:spPr>
          <a:xfrm>
            <a:off x="1600200"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Analyst gate</a:t>
            </a:r>
          </a:p>
        </p:txBody>
      </p:sp>
      <p:sp>
        <p:nvSpPr>
          <p:cNvPr id="24" name="TextBox 23"/>
          <p:cNvSpPr txBox="1"/>
          <p:nvPr/>
        </p:nvSpPr>
        <p:spPr>
          <a:xfrm>
            <a:off x="914400"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Every risk level reviewed</a:t>
            </a:r>
          </a:p>
          <a:p>
            <a:pPr marL="201168" indent="-201168">
              <a:spcAft>
                <a:spcPts val="1000"/>
              </a:spcAft>
              <a:buChar char="•"/>
            </a:pPr>
            <a:r>
              <a:rPr sz="1500">
                <a:solidFill>
                  <a:srgbClr val="17253D"/>
                </a:solidFill>
                <a:latin typeface="Calibri"/>
              </a:rPr>
              <a:t>Edit/rescore with source citations</a:t>
            </a:r>
          </a:p>
          <a:p>
            <a:pPr marL="201168" indent="-201168">
              <a:spcAft>
                <a:spcPts val="1000"/>
              </a:spcAft>
              <a:buChar char="•"/>
            </a:pPr>
            <a:r>
              <a:rPr sz="1500">
                <a:solidFill>
                  <a:srgbClr val="17253D"/>
                </a:solidFill>
                <a:latin typeface="Calibri"/>
              </a:rPr>
              <a:t>Finalize with rationale</a:t>
            </a:r>
          </a:p>
        </p:txBody>
      </p:sp>
      <p:sp>
        <p:nvSpPr>
          <p:cNvPr id="25" name="Rounded Rectangle 24"/>
          <p:cNvSpPr/>
          <p:nvPr/>
        </p:nvSpPr>
        <p:spPr>
          <a:xfrm>
            <a:off x="4398264"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672583"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72583"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2</a:t>
            </a:r>
          </a:p>
        </p:txBody>
      </p:sp>
      <p:sp>
        <p:nvSpPr>
          <p:cNvPr id="28" name="TextBox 27"/>
          <p:cNvSpPr txBox="1"/>
          <p:nvPr/>
        </p:nvSpPr>
        <p:spPr>
          <a:xfrm>
            <a:off x="5358383"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Committee + lifecycle</a:t>
            </a:r>
          </a:p>
        </p:txBody>
      </p:sp>
      <p:sp>
        <p:nvSpPr>
          <p:cNvPr id="29" name="TextBox 28"/>
          <p:cNvSpPr txBox="1"/>
          <p:nvPr/>
        </p:nvSpPr>
        <p:spPr>
          <a:xfrm>
            <a:off x="4672583"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Three distinct votes; 2-vote majority</a:t>
            </a:r>
          </a:p>
          <a:p>
            <a:pPr marL="201168" indent="-201168">
              <a:spcAft>
                <a:spcPts val="1000"/>
              </a:spcAft>
              <a:buChar char="•"/>
            </a:pPr>
            <a:r>
              <a:rPr sz="1500">
                <a:solidFill>
                  <a:srgbClr val="17253D"/>
                </a:solidFill>
                <a:latin typeface="Calibri"/>
              </a:rPr>
              <a:t>Information requests resume prior stage</a:t>
            </a:r>
          </a:p>
          <a:p>
            <a:pPr marL="201168" indent="-201168">
              <a:spcAft>
                <a:spcPts val="1000"/>
              </a:spcAft>
              <a:buChar char="•"/>
            </a:pPr>
            <a:r>
              <a:rPr sz="1500">
                <a:solidFill>
                  <a:srgbClr val="17253D"/>
                </a:solidFill>
                <a:latin typeface="Calibri"/>
              </a:rPr>
              <a:t>Conditions block closure; reassessments link</a:t>
            </a:r>
          </a:p>
        </p:txBody>
      </p:sp>
      <p:sp>
        <p:nvSpPr>
          <p:cNvPr id="30" name="Rounded Rectangle 29"/>
          <p:cNvSpPr/>
          <p:nvPr/>
        </p:nvSpPr>
        <p:spPr>
          <a:xfrm>
            <a:off x="8156447"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430767"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430767"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3</a:t>
            </a:r>
          </a:p>
        </p:txBody>
      </p:sp>
      <p:sp>
        <p:nvSpPr>
          <p:cNvPr id="33" name="TextBox 32"/>
          <p:cNvSpPr txBox="1"/>
          <p:nvPr/>
        </p:nvSpPr>
        <p:spPr>
          <a:xfrm>
            <a:off x="9116567"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Audit evidence</a:t>
            </a:r>
          </a:p>
        </p:txBody>
      </p:sp>
      <p:sp>
        <p:nvSpPr>
          <p:cNvPr id="34" name="TextBox 33"/>
          <p:cNvSpPr txBox="1"/>
          <p:nvPr/>
        </p:nvSpPr>
        <p:spPr>
          <a:xfrm>
            <a:off x="8430767"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Versioned extractions and UTC events</a:t>
            </a:r>
          </a:p>
          <a:p>
            <a:pPr marL="201168" indent="-201168">
              <a:spcAft>
                <a:spcPts val="1000"/>
              </a:spcAft>
              <a:buChar char="•"/>
            </a:pPr>
            <a:r>
              <a:rPr sz="1500">
                <a:solidFill>
                  <a:srgbClr val="17253D"/>
                </a:solidFill>
                <a:latin typeface="Calibri"/>
              </a:rPr>
              <a:t>Verifiable event hash chain + source hashes</a:t>
            </a:r>
          </a:p>
          <a:p>
            <a:pPr marL="201168" indent="-201168">
              <a:spcAft>
                <a:spcPts val="1000"/>
              </a:spcAft>
              <a:buChar char="•"/>
            </a:pPr>
            <a:r>
              <a:rPr sz="1500">
                <a:solidFill>
                  <a:srgbClr val="17253D"/>
                </a:solidFill>
                <a:latin typeface="Calibri"/>
              </a:rPr>
              <a:t>Examiner ZIP with verification manifest</a:t>
            </a:r>
          </a:p>
        </p:txBody>
      </p:sp>
      <p:sp>
        <p:nvSpPr>
          <p:cNvPr id="35" name="TextBox 34"/>
          <p:cNvSpPr txBox="1"/>
          <p:nvPr/>
        </p:nvSpPr>
        <p:spPr>
          <a:xfrm>
            <a:off x="640080" y="5852160"/>
            <a:ext cx="10908792" cy="320040"/>
          </a:xfrm>
          <a:prstGeom prst="rect">
            <a:avLst/>
          </a:prstGeom>
          <a:noFill/>
        </p:spPr>
        <p:txBody>
          <a:bodyPr wrap="square" lIns="0" rIns="0" tIns="0" bIns="0" anchor="ctr">
            <a:spAutoFit/>
          </a:bodyPr>
          <a:lstStyle/>
          <a:p>
            <a:pPr algn="l"/>
            <a:r>
              <a:rPr sz="1300" b="0" i="1">
                <a:solidFill>
                  <a:srgbClr val="55657D"/>
                </a:solidFill>
                <a:latin typeface="Calibri"/>
              </a:rPr>
              <a:t>Demo identities only; vote/scoring rules are unapproved. Hash-chain verification is not immutable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WORKING DEMONSTRATION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One synthetic case, end to end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9</a:t>
            </a:r>
          </a:p>
        </p:txBody>
      </p:sp>
      <p:cxnSp>
        <p:nvCxnSpPr>
          <p:cNvPr id="6" name="Connector 5"/>
          <p:cNvCxnSpPr/>
          <p:nvPr/>
        </p:nvCxnSpPr>
        <p:spPr>
          <a:xfrm>
            <a:off x="1549146" y="2286000"/>
            <a:ext cx="9090660" cy="0"/>
          </a:xfrm>
          <a:prstGeom prst="line">
            <a:avLst/>
          </a:prstGeom>
          <a:ln w="38100">
            <a:solidFill>
              <a:srgbClr val="9CC3F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183385"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338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1</a:t>
            </a:r>
          </a:p>
        </p:txBody>
      </p:sp>
      <p:sp>
        <p:nvSpPr>
          <p:cNvPr id="9" name="TextBox 8"/>
          <p:cNvSpPr txBox="1"/>
          <p:nvPr/>
        </p:nvSpPr>
        <p:spPr>
          <a:xfrm>
            <a:off x="73151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uploads PDF</a:t>
            </a:r>
          </a:p>
        </p:txBody>
      </p:sp>
      <p:sp>
        <p:nvSpPr>
          <p:cNvPr id="10" name="Oval 9"/>
          <p:cNvSpPr/>
          <p:nvPr/>
        </p:nvSpPr>
        <p:spPr>
          <a:xfrm>
            <a:off x="3001518"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001518"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2</a:t>
            </a:r>
          </a:p>
        </p:txBody>
      </p:sp>
      <p:sp>
        <p:nvSpPr>
          <p:cNvPr id="12" name="TextBox 11"/>
          <p:cNvSpPr txBox="1"/>
          <p:nvPr/>
        </p:nvSpPr>
        <p:spPr>
          <a:xfrm>
            <a:off x="2549652"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Inspect draft + score</a:t>
            </a:r>
          </a:p>
        </p:txBody>
      </p:sp>
      <p:sp>
        <p:nvSpPr>
          <p:cNvPr id="13" name="Oval 12"/>
          <p:cNvSpPr/>
          <p:nvPr/>
        </p:nvSpPr>
        <p:spPr>
          <a:xfrm>
            <a:off x="4819650"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19650"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3</a:t>
            </a:r>
          </a:p>
        </p:txBody>
      </p:sp>
      <p:sp>
        <p:nvSpPr>
          <p:cNvPr id="15" name="TextBox 14"/>
          <p:cNvSpPr txBox="1"/>
          <p:nvPr/>
        </p:nvSpPr>
        <p:spPr>
          <a:xfrm>
            <a:off x="4367784"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submits case</a:t>
            </a:r>
          </a:p>
        </p:txBody>
      </p:sp>
      <p:sp>
        <p:nvSpPr>
          <p:cNvPr id="16" name="Oval 15"/>
          <p:cNvSpPr/>
          <p:nvPr/>
        </p:nvSpPr>
        <p:spPr>
          <a:xfrm>
            <a:off x="6637782"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637782"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4</a:t>
            </a:r>
          </a:p>
        </p:txBody>
      </p:sp>
      <p:sp>
        <p:nvSpPr>
          <p:cNvPr id="18" name="TextBox 17"/>
          <p:cNvSpPr txBox="1"/>
          <p:nvPr/>
        </p:nvSpPr>
        <p:spPr>
          <a:xfrm>
            <a:off x="6185916"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Analyst finalizes</a:t>
            </a:r>
          </a:p>
        </p:txBody>
      </p:sp>
      <p:sp>
        <p:nvSpPr>
          <p:cNvPr id="19" name="Oval 18"/>
          <p:cNvSpPr/>
          <p:nvPr/>
        </p:nvSpPr>
        <p:spPr>
          <a:xfrm>
            <a:off x="8455913"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455913"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5</a:t>
            </a:r>
          </a:p>
        </p:txBody>
      </p:sp>
      <p:sp>
        <p:nvSpPr>
          <p:cNvPr id="21" name="TextBox 20"/>
          <p:cNvSpPr txBox="1"/>
          <p:nvPr/>
        </p:nvSpPr>
        <p:spPr>
          <a:xfrm>
            <a:off x="8004047"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Three committee votes</a:t>
            </a:r>
          </a:p>
        </p:txBody>
      </p:sp>
      <p:sp>
        <p:nvSpPr>
          <p:cNvPr id="22" name="Oval 21"/>
          <p:cNvSpPr/>
          <p:nvPr/>
        </p:nvSpPr>
        <p:spPr>
          <a:xfrm>
            <a:off x="10274045"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027404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6</a:t>
            </a:r>
          </a:p>
        </p:txBody>
      </p:sp>
      <p:sp>
        <p:nvSpPr>
          <p:cNvPr id="24" name="TextBox 23"/>
          <p:cNvSpPr txBox="1"/>
          <p:nvPr/>
        </p:nvSpPr>
        <p:spPr>
          <a:xfrm>
            <a:off x="982217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evidence; analyst closes</a:t>
            </a:r>
          </a:p>
        </p:txBody>
      </p:sp>
      <p:sp>
        <p:nvSpPr>
          <p:cNvPr id="25" name="Rounded Rectangle 24"/>
          <p:cNvSpPr/>
          <p:nvPr/>
        </p:nvSpPr>
        <p:spPr>
          <a:xfrm>
            <a:off x="640080" y="4160520"/>
            <a:ext cx="10908792" cy="1920240"/>
          </a:xfrm>
          <a:prstGeom prst="roundRect">
            <a:avLst>
              <a:gd name="adj" fmla="val 3809"/>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097280" y="4434840"/>
            <a:ext cx="9994392" cy="457200"/>
          </a:xfrm>
          <a:prstGeom prst="rect">
            <a:avLst/>
          </a:prstGeom>
          <a:noFill/>
        </p:spPr>
        <p:txBody>
          <a:bodyPr wrap="square" lIns="0" rIns="0" tIns="0" bIns="0" anchor="t">
            <a:spAutoFit/>
          </a:bodyPr>
          <a:lstStyle/>
          <a:p>
            <a:pPr algn="l"/>
            <a:r>
              <a:rPr sz="2000" b="1" i="0">
                <a:solidFill>
                  <a:srgbClr val="C8A24A"/>
                </a:solidFill>
                <a:latin typeface="Arial"/>
              </a:rPr>
              <a:t>Security boundary</a:t>
            </a:r>
          </a:p>
        </p:txBody>
      </p:sp>
      <p:sp>
        <p:nvSpPr>
          <p:cNvPr id="27" name="TextBox 26"/>
          <p:cNvSpPr txBox="1"/>
          <p:nvPr/>
        </p:nvSpPr>
        <p:spPr>
          <a:xfrm>
            <a:off x="1097280" y="4983480"/>
            <a:ext cx="9994392" cy="914400"/>
          </a:xfrm>
          <a:prstGeom prst="rect">
            <a:avLst/>
          </a:prstGeom>
          <a:noFill/>
        </p:spPr>
        <p:txBody>
          <a:bodyPr wrap="square" lIns="0" rIns="0" tIns="0" bIns="0" anchor="t">
            <a:spAutoFit/>
          </a:bodyPr>
          <a:lstStyle/>
          <a:p>
            <a:pPr algn="l"/>
            <a:r>
              <a:rPr sz="1700" b="0" i="0">
                <a:solidFill>
                  <a:srgbClr val="FFFFFF"/>
                </a:solidFill>
                <a:latin typeface="Calibri"/>
              </a:rPr>
              <a:t>Workflow routes check fixed demo roles, not production identities. Extraction needs the configured model provider; no offline extraction fallback. Source and audit hashes are verifiable, not immutable.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TESTING AND EVIDENCE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measure the model, not just the demo</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10</a:t>
            </a:r>
          </a:p>
        </p:txBody>
      </p:sp>
      <p:sp>
        <p:nvSpPr>
          <p:cNvPr id="6" name="Rounded Rectangle 5"/>
          <p:cNvSpPr/>
          <p:nvPr/>
        </p:nvSpPr>
        <p:spPr>
          <a:xfrm>
            <a:off x="640080"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8/8</a:t>
            </a:r>
          </a:p>
        </p:txBody>
      </p:sp>
      <p:sp>
        <p:nvSpPr>
          <p:cNvPr id="8" name="TextBox 7"/>
          <p:cNvSpPr txBox="1"/>
          <p:nvPr/>
        </p:nvSpPr>
        <p:spPr>
          <a:xfrm>
            <a:off x="640080"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live calls succeeded</a:t>
            </a:r>
          </a:p>
        </p:txBody>
      </p:sp>
      <p:sp>
        <p:nvSpPr>
          <p:cNvPr id="9" name="Rounded Rectangle 8"/>
          <p:cNvSpPr/>
          <p:nvPr/>
        </p:nvSpPr>
        <p:spPr>
          <a:xfrm>
            <a:off x="3435857"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435857"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100.0%</a:t>
            </a:r>
          </a:p>
        </p:txBody>
      </p:sp>
      <p:sp>
        <p:nvSpPr>
          <p:cNvPr id="11" name="TextBox 10"/>
          <p:cNvSpPr txBox="1"/>
          <p:nvPr/>
        </p:nvSpPr>
        <p:spPr>
          <a:xfrm>
            <a:off x="3435857"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field accuracy (80/80)</a:t>
            </a:r>
          </a:p>
        </p:txBody>
      </p:sp>
      <p:sp>
        <p:nvSpPr>
          <p:cNvPr id="12" name="Rounded Rectangle 11"/>
          <p:cNvSpPr/>
          <p:nvPr/>
        </p:nvSpPr>
        <p:spPr>
          <a:xfrm>
            <a:off x="6231636"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231636"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a:t>
            </a:r>
          </a:p>
        </p:txBody>
      </p:sp>
      <p:sp>
        <p:nvSpPr>
          <p:cNvPr id="14" name="TextBox 13"/>
          <p:cNvSpPr txBox="1"/>
          <p:nvPr/>
        </p:nvSpPr>
        <p:spPr>
          <a:xfrm>
            <a:off x="6231636"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risk-level agreement</a:t>
            </a:r>
          </a:p>
        </p:txBody>
      </p:sp>
      <p:sp>
        <p:nvSpPr>
          <p:cNvPr id="15" name="Rounded Rectangle 14"/>
          <p:cNvSpPr/>
          <p:nvPr/>
        </p:nvSpPr>
        <p:spPr>
          <a:xfrm>
            <a:off x="9027413"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9027413"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3.6 s</a:t>
            </a:r>
          </a:p>
        </p:txBody>
      </p:sp>
      <p:sp>
        <p:nvSpPr>
          <p:cNvPr id="17" name="TextBox 16"/>
          <p:cNvSpPr txBox="1"/>
          <p:nvPr/>
        </p:nvSpPr>
        <p:spPr>
          <a:xfrm>
            <a:off x="9027413"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mean latency per case</a:t>
            </a:r>
          </a:p>
        </p:txBody>
      </p:sp>
      <p:sp>
        <p:nvSpPr>
          <p:cNvPr id="18" name="Rounded Rectangle 17"/>
          <p:cNvSpPr/>
          <p:nvPr/>
        </p:nvSpPr>
        <p:spPr>
          <a:xfrm>
            <a:off x="640080" y="3108960"/>
            <a:ext cx="5486400" cy="3063240"/>
          </a:xfrm>
          <a:prstGeom prst="roundRect">
            <a:avLst>
              <a:gd name="adj" fmla="val 2388"/>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9" name="Chart 18"/>
          <p:cNvGraphicFramePr>
            <a:graphicFrameLocks noGrp="1"/>
          </p:cNvGraphicFramePr>
          <p:nvPr/>
        </p:nvGraphicFramePr>
        <p:xfrm>
          <a:off x="777240" y="3200400"/>
          <a:ext cx="5212080" cy="2880360"/>
        </p:xfrm>
        <a:graphic>
          <a:graphicData uri="http://schemas.openxmlformats.org/drawingml/2006/chart">
            <c:chart xmlns:c="http://schemas.openxmlformats.org/drawingml/2006/chart" r:id="rId3"/>
          </a:graphicData>
        </a:graphic>
      </p:graphicFrame>
      <p:sp>
        <p:nvSpPr>
          <p:cNvPr id="20" name="Rounded Rectangle 19"/>
          <p:cNvSpPr/>
          <p:nvPr/>
        </p:nvSpPr>
        <p:spPr>
          <a:xfrm>
            <a:off x="6492240" y="3108960"/>
            <a:ext cx="5056631" cy="3063240"/>
          </a:xfrm>
          <a:prstGeom prst="roundRect">
            <a:avLst>
              <a:gd name="adj" fmla="val 238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12280" y="3310128"/>
            <a:ext cx="4416551" cy="411480"/>
          </a:xfrm>
          <a:prstGeom prst="rect">
            <a:avLst/>
          </a:prstGeom>
          <a:noFill/>
        </p:spPr>
        <p:txBody>
          <a:bodyPr wrap="square" lIns="0" rIns="0" tIns="0" bIns="0" anchor="t">
            <a:spAutoFit/>
          </a:bodyPr>
          <a:lstStyle/>
          <a:p>
            <a:pPr algn="l"/>
            <a:r>
              <a:rPr sz="1700" b="1" i="0">
                <a:solidFill>
                  <a:srgbClr val="0A1B34"/>
                </a:solidFill>
                <a:latin typeface="Arial"/>
              </a:rPr>
              <a:t>What the result does and does not show</a:t>
            </a:r>
          </a:p>
        </p:txBody>
      </p:sp>
      <p:sp>
        <p:nvSpPr>
          <p:cNvPr id="22" name="TextBox 21"/>
          <p:cNvSpPr txBox="1"/>
          <p:nvPr/>
        </p:nvSpPr>
        <p:spPr>
          <a:xfrm>
            <a:off x="6812280" y="3840480"/>
            <a:ext cx="4416551" cy="2194560"/>
          </a:xfrm>
          <a:prstGeom prst="rect">
            <a:avLst/>
          </a:prstGeom>
          <a:noFill/>
        </p:spPr>
        <p:txBody>
          <a:bodyPr wrap="square" lIns="0" rIns="0" tIns="0" bIns="0" anchor="t">
            <a:spAutoFit/>
          </a:bodyPr>
          <a:lstStyle/>
          <a:p>
            <a:pPr marL="201168" indent="-201168">
              <a:spcAft>
                <a:spcPts val="800"/>
              </a:spcAft>
              <a:buChar char="•"/>
            </a:pPr>
            <a:r>
              <a:rPr sz="1400">
                <a:solidFill>
                  <a:srgbClr val="17253D"/>
                </a:solidFill>
                <a:latin typeface="Calibri"/>
              </a:rPr>
              <a:t>Risk agreement comes from the deterministic scorer; it does not prove every field is right</a:t>
            </a:r>
          </a:p>
          <a:p>
            <a:pPr marL="201168" indent="-201168">
              <a:spcAft>
                <a:spcPts val="800"/>
              </a:spcAft>
              <a:buChar char="•"/>
            </a:pPr>
            <a:r>
              <a:rPr sz="1400">
                <a:solidFill>
                  <a:srgbClr val="17253D"/>
                </a:solidFill>
                <a:latin typeface="Calibri"/>
              </a:rPr>
              <a:t>Eight synthetic cases; not a production accuracy estimate</a:t>
            </a:r>
          </a:p>
          <a:p>
            <a:pPr marL="201168" indent="-201168">
              <a:spcAft>
                <a:spcPts val="800"/>
              </a:spcAft>
              <a:buChar char="•"/>
            </a:pPr>
            <a:r>
              <a:rPr sz="1400">
                <a:solidFill>
                  <a:srgbClr val="17253D"/>
                </a:solidFill>
                <a:latin typeface="Calibri"/>
              </a:rPr>
              <a:t>Local test suite: 89 passed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FAILURE HANDLING AND ITERATION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Failures stop safely; the repo shows how the work evolved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11</a:t>
            </a:r>
          </a:p>
        </p:txBody>
      </p:sp>
      <p:sp>
        <p:nvSpPr>
          <p:cNvPr id="6" name="Rounded Rectangle 5"/>
          <p:cNvSpPr/>
          <p:nvPr/>
        </p:nvSpPr>
        <p:spPr>
          <a:xfrm>
            <a:off x="640080" y="1783080"/>
            <a:ext cx="5074920" cy="3931920"/>
          </a:xfrm>
          <a:prstGeom prst="roundRect">
            <a:avLst>
              <a:gd name="adj" fmla="val 1684"/>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57400"/>
            <a:ext cx="4434840" cy="438912"/>
          </a:xfrm>
          <a:prstGeom prst="rect">
            <a:avLst/>
          </a:prstGeom>
          <a:noFill/>
        </p:spPr>
        <p:txBody>
          <a:bodyPr wrap="square" lIns="0" rIns="0" tIns="0" bIns="0" anchor="t">
            <a:spAutoFit/>
          </a:bodyPr>
          <a:lstStyle/>
          <a:p>
            <a:pPr algn="l"/>
            <a:r>
              <a:rPr sz="2000" b="1" i="0">
                <a:solidFill>
                  <a:srgbClr val="0A1B34"/>
                </a:solidFill>
                <a:latin typeface="Arial"/>
              </a:rPr>
              <a:t>Failure behavior</a:t>
            </a:r>
          </a:p>
        </p:txBody>
      </p:sp>
      <p:sp>
        <p:nvSpPr>
          <p:cNvPr id="8" name="TextBox 7"/>
          <p:cNvSpPr txBox="1"/>
          <p:nvPr/>
        </p:nvSpPr>
        <p:spPr>
          <a:xfrm>
            <a:off x="960119" y="2697480"/>
            <a:ext cx="4434840" cy="2743200"/>
          </a:xfrm>
          <a:prstGeom prst="rect">
            <a:avLst/>
          </a:prstGeom>
          <a:noFill/>
        </p:spPr>
        <p:txBody>
          <a:bodyPr wrap="square" lIns="0" rIns="0" tIns="0" bIns="0" anchor="t">
            <a:spAutoFit/>
          </a:bodyPr>
          <a:lstStyle/>
          <a:p>
            <a:pPr marL="201168" indent="-201168">
              <a:spcAft>
                <a:spcPts val="1200"/>
              </a:spcAft>
              <a:buChar char="•"/>
            </a:pPr>
            <a:r>
              <a:rPr sz="1500">
                <a:solidFill>
                  <a:srgbClr val="17253D"/>
                </a:solidFill>
                <a:latin typeface="Calibri"/>
              </a:rPr>
              <a:t>Reject non-PDF, oversized, malformed, and textless uploads</a:t>
            </a:r>
          </a:p>
          <a:p>
            <a:pPr marL="201168" indent="-201168">
              <a:spcAft>
                <a:spcPts val="1200"/>
              </a:spcAft>
              <a:buChar char="•"/>
            </a:pPr>
            <a:r>
              <a:rPr sz="1500">
                <a:solidFill>
                  <a:srgbClr val="17253D"/>
                </a:solidFill>
                <a:latin typeface="Calibri"/>
              </a:rPr>
              <a:t>Provider error is explicit; no draft case is created and extraction has no offline fallback</a:t>
            </a:r>
          </a:p>
          <a:p>
            <a:pPr marL="201168" indent="-201168">
              <a:spcAft>
                <a:spcPts val="1200"/>
              </a:spcAft>
              <a:buChar char="•"/>
            </a:pPr>
            <a:r>
              <a:rPr sz="1500">
                <a:solidFill>
                  <a:srgbClr val="17253D"/>
                </a:solidFill>
                <a:latin typeface="Calibri"/>
              </a:rPr>
              <a:t>Retry transient connection, timeout, and rate-limit errors up to three times</a:t>
            </a:r>
          </a:p>
          <a:p>
            <a:pPr marL="201168" indent="-201168">
              <a:spcAft>
                <a:spcPts val="1200"/>
              </a:spcAft>
              <a:buChar char="•"/>
            </a:pPr>
            <a:r>
              <a:rPr sz="1500">
                <a:solidFill>
                  <a:srgbClr val="17253D"/>
                </a:solidFill>
                <a:latin typeface="Calibri"/>
              </a:rPr>
              <a:t>Source-integrity failures block downloads and examiner exports</a:t>
            </a:r>
          </a:p>
        </p:txBody>
      </p:sp>
      <p:sp>
        <p:nvSpPr>
          <p:cNvPr id="9" name="Rounded Rectangle 8"/>
          <p:cNvSpPr/>
          <p:nvPr/>
        </p:nvSpPr>
        <p:spPr>
          <a:xfrm>
            <a:off x="6126480" y="1783080"/>
            <a:ext cx="5422392" cy="3931920"/>
          </a:xfrm>
          <a:prstGeom prst="roundRect">
            <a:avLst>
              <a:gd name="adj" fmla="val 168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446520" y="2057400"/>
            <a:ext cx="4782312" cy="438912"/>
          </a:xfrm>
          <a:prstGeom prst="rect">
            <a:avLst/>
          </a:prstGeom>
          <a:noFill/>
        </p:spPr>
        <p:txBody>
          <a:bodyPr wrap="square" lIns="0" rIns="0" tIns="0" bIns="0" anchor="t">
            <a:spAutoFit/>
          </a:bodyPr>
          <a:lstStyle/>
          <a:p>
            <a:pPr algn="l"/>
            <a:r>
              <a:rPr sz="2000" b="1" i="0">
                <a:solidFill>
                  <a:srgbClr val="0A1B34"/>
                </a:solidFill>
                <a:latin typeface="Arial"/>
              </a:rPr>
              <a:t>Selected repository milestones</a:t>
            </a:r>
          </a:p>
        </p:txBody>
      </p:sp>
      <p:sp>
        <p:nvSpPr>
          <p:cNvPr id="11" name="Oval 10"/>
          <p:cNvSpPr/>
          <p:nvPr/>
        </p:nvSpPr>
        <p:spPr>
          <a:xfrm>
            <a:off x="6473952" y="2770632"/>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547104" y="2926080"/>
            <a:ext cx="0" cy="640080"/>
          </a:xfrm>
          <a:prstGeom prst="line">
            <a:avLst/>
          </a:prstGeom>
          <a:ln w="12700">
            <a:solidFill>
              <a:srgbClr val="D5DDE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766560" y="2697480"/>
            <a:ext cx="731520" cy="274320"/>
          </a:xfrm>
          <a:prstGeom prst="rect">
            <a:avLst/>
          </a:prstGeom>
          <a:noFill/>
        </p:spPr>
        <p:txBody>
          <a:bodyPr wrap="square" lIns="0" rIns="0" tIns="0" bIns="0" anchor="ctr">
            <a:spAutoFit/>
          </a:bodyPr>
          <a:lstStyle/>
          <a:p>
            <a:pPr algn="l"/>
            <a:r>
              <a:rPr sz="1300" b="1" i="0">
                <a:solidFill>
                  <a:srgbClr val="8A6A1F"/>
                </a:solidFill>
                <a:latin typeface="Calibri"/>
              </a:rPr>
              <a:t>Oct 12</a:t>
            </a:r>
          </a:p>
        </p:txBody>
      </p:sp>
      <p:sp>
        <p:nvSpPr>
          <p:cNvPr id="14" name="TextBox 13"/>
          <p:cNvSpPr txBox="1"/>
          <p:nvPr/>
        </p:nvSpPr>
        <p:spPr>
          <a:xfrm>
            <a:off x="7479792" y="2697480"/>
            <a:ext cx="3730752" cy="274320"/>
          </a:xfrm>
          <a:prstGeom prst="rect">
            <a:avLst/>
          </a:prstGeom>
          <a:noFill/>
        </p:spPr>
        <p:txBody>
          <a:bodyPr wrap="square" lIns="0" rIns="0" tIns="0" bIns="0" anchor="ctr">
            <a:spAutoFit/>
          </a:bodyPr>
          <a:lstStyle/>
          <a:p>
            <a:pPr algn="l"/>
            <a:r>
              <a:rPr sz="1200" b="1" i="0">
                <a:solidFill>
                  <a:srgbClr val="1F4E9C"/>
                </a:solidFill>
                <a:latin typeface="Calibri"/>
              </a:rPr>
              <a:t>a5fb733</a:t>
            </a:r>
          </a:p>
        </p:txBody>
      </p:sp>
      <p:sp>
        <p:nvSpPr>
          <p:cNvPr id="15" name="TextBox 14"/>
          <p:cNvSpPr txBox="1"/>
          <p:nvPr/>
        </p:nvSpPr>
        <p:spPr>
          <a:xfrm>
            <a:off x="6766560" y="2990088"/>
            <a:ext cx="4507992" cy="347472"/>
          </a:xfrm>
          <a:prstGeom prst="rect">
            <a:avLst/>
          </a:prstGeom>
          <a:noFill/>
        </p:spPr>
        <p:txBody>
          <a:bodyPr wrap="square" lIns="0" rIns="0" tIns="0" bIns="0" anchor="t">
            <a:spAutoFit/>
          </a:bodyPr>
          <a:lstStyle/>
          <a:p>
            <a:pPr algn="l"/>
            <a:r>
              <a:rPr sz="1400" b="0" i="0">
                <a:solidFill>
                  <a:srgbClr val="17253D"/>
                </a:solidFill>
                <a:latin typeface="Calibri"/>
              </a:rPr>
              <a:t>Prompt and flow re-aligned to the brief</a:t>
            </a:r>
          </a:p>
        </p:txBody>
      </p:sp>
      <p:sp>
        <p:nvSpPr>
          <p:cNvPr id="16" name="Oval 15"/>
          <p:cNvSpPr/>
          <p:nvPr/>
        </p:nvSpPr>
        <p:spPr>
          <a:xfrm>
            <a:off x="6473952" y="3557016"/>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6547104" y="3712464"/>
            <a:ext cx="0" cy="640080"/>
          </a:xfrm>
          <a:prstGeom prst="line">
            <a:avLst/>
          </a:prstGeom>
          <a:ln w="12700">
            <a:solidFill>
              <a:srgbClr val="D5DDE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766560" y="3483864"/>
            <a:ext cx="731520" cy="274320"/>
          </a:xfrm>
          <a:prstGeom prst="rect">
            <a:avLst/>
          </a:prstGeom>
          <a:noFill/>
        </p:spPr>
        <p:txBody>
          <a:bodyPr wrap="square" lIns="0" rIns="0" tIns="0" bIns="0" anchor="ctr">
            <a:spAutoFit/>
          </a:bodyPr>
          <a:lstStyle/>
          <a:p>
            <a:pPr algn="l"/>
            <a:r>
              <a:rPr sz="1300" b="1" i="0">
                <a:solidFill>
                  <a:srgbClr val="8A6A1F"/>
                </a:solidFill>
                <a:latin typeface="Calibri"/>
              </a:rPr>
              <a:t>Oct 13</a:t>
            </a:r>
          </a:p>
        </p:txBody>
      </p:sp>
      <p:sp>
        <p:nvSpPr>
          <p:cNvPr id="19" name="TextBox 18"/>
          <p:cNvSpPr txBox="1"/>
          <p:nvPr/>
        </p:nvSpPr>
        <p:spPr>
          <a:xfrm>
            <a:off x="7479792" y="3483864"/>
            <a:ext cx="3730752" cy="274320"/>
          </a:xfrm>
          <a:prstGeom prst="rect">
            <a:avLst/>
          </a:prstGeom>
          <a:noFill/>
        </p:spPr>
        <p:txBody>
          <a:bodyPr wrap="square" lIns="0" rIns="0" tIns="0" bIns="0" anchor="ctr">
            <a:spAutoFit/>
          </a:bodyPr>
          <a:lstStyle/>
          <a:p>
            <a:pPr algn="l"/>
            <a:r>
              <a:rPr sz="1200" b="1" i="0">
                <a:solidFill>
                  <a:srgbClr val="1F4E9C"/>
                </a:solidFill>
                <a:latin typeface="Calibri"/>
              </a:rPr>
              <a:t>a88b252</a:t>
            </a:r>
          </a:p>
        </p:txBody>
      </p:sp>
      <p:sp>
        <p:nvSpPr>
          <p:cNvPr id="20" name="TextBox 19"/>
          <p:cNvSpPr txBox="1"/>
          <p:nvPr/>
        </p:nvSpPr>
        <p:spPr>
          <a:xfrm>
            <a:off x="6766560" y="3776472"/>
            <a:ext cx="4507992" cy="347472"/>
          </a:xfrm>
          <a:prstGeom prst="rect">
            <a:avLst/>
          </a:prstGeom>
          <a:noFill/>
        </p:spPr>
        <p:txBody>
          <a:bodyPr wrap="square" lIns="0" rIns="0" tIns="0" bIns="0" anchor="t">
            <a:spAutoFit/>
          </a:bodyPr>
          <a:lstStyle/>
          <a:p>
            <a:pPr algn="l"/>
            <a:r>
              <a:rPr sz="1400" b="0" i="0">
                <a:solidFill>
                  <a:srgbClr val="17253D"/>
                </a:solidFill>
                <a:latin typeface="Calibri"/>
              </a:rPr>
              <a:t>Presentation aligned to implemented workflow</a:t>
            </a:r>
          </a:p>
        </p:txBody>
      </p:sp>
      <p:sp>
        <p:nvSpPr>
          <p:cNvPr id="21" name="Oval 20"/>
          <p:cNvSpPr/>
          <p:nvPr/>
        </p:nvSpPr>
        <p:spPr>
          <a:xfrm>
            <a:off x="6473952" y="4343400"/>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2" name="Connector 21"/>
          <p:cNvCxnSpPr/>
          <p:nvPr/>
        </p:nvCxnSpPr>
        <p:spPr>
          <a:xfrm>
            <a:off x="6547104" y="4498848"/>
            <a:ext cx="0" cy="640080"/>
          </a:xfrm>
          <a:prstGeom prst="line">
            <a:avLst/>
          </a:prstGeom>
          <a:ln w="12700">
            <a:solidFill>
              <a:srgbClr val="D5DDE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66560" y="4270248"/>
            <a:ext cx="731520" cy="274320"/>
          </a:xfrm>
          <a:prstGeom prst="rect">
            <a:avLst/>
          </a:prstGeom>
          <a:noFill/>
        </p:spPr>
        <p:txBody>
          <a:bodyPr wrap="square" lIns="0" rIns="0" tIns="0" bIns="0" anchor="ctr">
            <a:spAutoFit/>
          </a:bodyPr>
          <a:lstStyle/>
          <a:p>
            <a:pPr algn="l"/>
            <a:r>
              <a:rPr sz="1300" b="1" i="0">
                <a:solidFill>
                  <a:srgbClr val="8A6A1F"/>
                </a:solidFill>
                <a:latin typeface="Calibri"/>
              </a:rPr>
              <a:t>Oct 13</a:t>
            </a:r>
          </a:p>
        </p:txBody>
      </p:sp>
      <p:sp>
        <p:nvSpPr>
          <p:cNvPr id="24" name="TextBox 23"/>
          <p:cNvSpPr txBox="1"/>
          <p:nvPr/>
        </p:nvSpPr>
        <p:spPr>
          <a:xfrm>
            <a:off x="7479792" y="4270248"/>
            <a:ext cx="3730752" cy="274320"/>
          </a:xfrm>
          <a:prstGeom prst="rect">
            <a:avLst/>
          </a:prstGeom>
          <a:noFill/>
        </p:spPr>
        <p:txBody>
          <a:bodyPr wrap="square" lIns="0" rIns="0" tIns="0" bIns="0" anchor="ctr">
            <a:spAutoFit/>
          </a:bodyPr>
          <a:lstStyle/>
          <a:p>
            <a:pPr algn="l"/>
            <a:r>
              <a:rPr sz="1200" b="1" i="0">
                <a:solidFill>
                  <a:srgbClr val="1F4E9C"/>
                </a:solidFill>
                <a:latin typeface="Calibri"/>
              </a:rPr>
              <a:t>99834b9</a:t>
            </a:r>
          </a:p>
        </p:txBody>
      </p:sp>
      <p:sp>
        <p:nvSpPr>
          <p:cNvPr id="25" name="TextBox 24"/>
          <p:cNvSpPr txBox="1"/>
          <p:nvPr/>
        </p:nvSpPr>
        <p:spPr>
          <a:xfrm>
            <a:off x="6766560" y="4562856"/>
            <a:ext cx="4507992" cy="347472"/>
          </a:xfrm>
          <a:prstGeom prst="rect">
            <a:avLst/>
          </a:prstGeom>
          <a:noFill/>
        </p:spPr>
        <p:txBody>
          <a:bodyPr wrap="square" lIns="0" rIns="0" tIns="0" bIns="0" anchor="t">
            <a:spAutoFit/>
          </a:bodyPr>
          <a:lstStyle/>
          <a:p>
            <a:pPr algn="l"/>
            <a:r>
              <a:rPr sz="1400" b="0" i="0">
                <a:solidFill>
                  <a:srgbClr val="17253D"/>
                </a:solidFill>
                <a:latin typeface="Calibri"/>
              </a:rPr>
              <a:t>Prompt and evaluation evidence refreshed</a:t>
            </a:r>
          </a:p>
        </p:txBody>
      </p:sp>
      <p:sp>
        <p:nvSpPr>
          <p:cNvPr id="26" name="Oval 25"/>
          <p:cNvSpPr/>
          <p:nvPr/>
        </p:nvSpPr>
        <p:spPr>
          <a:xfrm>
            <a:off x="6473952" y="5129784"/>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766560" y="5056632"/>
            <a:ext cx="731520" cy="274320"/>
          </a:xfrm>
          <a:prstGeom prst="rect">
            <a:avLst/>
          </a:prstGeom>
          <a:noFill/>
        </p:spPr>
        <p:txBody>
          <a:bodyPr wrap="square" lIns="0" rIns="0" tIns="0" bIns="0" anchor="ctr">
            <a:spAutoFit/>
          </a:bodyPr>
          <a:lstStyle/>
          <a:p>
            <a:pPr algn="l"/>
            <a:r>
              <a:rPr sz="1300" b="1" i="0">
                <a:solidFill>
                  <a:srgbClr val="8A6A1F"/>
                </a:solidFill>
                <a:latin typeface="Calibri"/>
              </a:rPr>
              <a:t>Oct 21</a:t>
            </a:r>
          </a:p>
        </p:txBody>
      </p:sp>
      <p:sp>
        <p:nvSpPr>
          <p:cNvPr id="28" name="TextBox 27"/>
          <p:cNvSpPr txBox="1"/>
          <p:nvPr/>
        </p:nvSpPr>
        <p:spPr>
          <a:xfrm>
            <a:off x="7479792" y="5056632"/>
            <a:ext cx="3730752" cy="274320"/>
          </a:xfrm>
          <a:prstGeom prst="rect">
            <a:avLst/>
          </a:prstGeom>
          <a:noFill/>
        </p:spPr>
        <p:txBody>
          <a:bodyPr wrap="square" lIns="0" rIns="0" tIns="0" bIns="0" anchor="ctr">
            <a:spAutoFit/>
          </a:bodyPr>
          <a:lstStyle/>
          <a:p>
            <a:pPr algn="l"/>
            <a:r>
              <a:rPr sz="1200" b="1" i="0">
                <a:solidFill>
                  <a:srgbClr val="1F4E9C"/>
                </a:solidFill>
                <a:latin typeface="Calibri"/>
              </a:rPr>
              <a:t>8f0d781 / 3250a6f</a:t>
            </a:r>
          </a:p>
        </p:txBody>
      </p:sp>
      <p:sp>
        <p:nvSpPr>
          <p:cNvPr id="29" name="TextBox 28"/>
          <p:cNvSpPr txBox="1"/>
          <p:nvPr/>
        </p:nvSpPr>
        <p:spPr>
          <a:xfrm>
            <a:off x="6766560" y="5349240"/>
            <a:ext cx="4507992" cy="274320"/>
          </a:xfrm>
          <a:prstGeom prst="rect">
            <a:avLst/>
          </a:prstGeom>
          <a:noFill/>
        </p:spPr>
        <p:txBody>
          <a:bodyPr wrap="square" lIns="0" rIns="0" tIns="0" bIns="0" anchor="t">
            <a:spAutoFit/>
          </a:bodyPr>
          <a:lstStyle/>
          <a:p>
            <a:pPr algn="l"/>
            <a:r>
              <a:rPr sz="1400" b="0" i="0">
                <a:solidFill>
                  <a:srgbClr val="17253D"/>
                </a:solidFill>
                <a:latin typeface="Calibri"/>
              </a:rPr>
              <a:t>UI and presentation generator iterated</a:t>
            </a:r>
          </a:p>
        </p:txBody>
      </p:sp>
      <p:sp>
        <p:nvSpPr>
          <p:cNvPr id="30" name="TextBox 29"/>
          <p:cNvSpPr txBox="1"/>
          <p:nvPr/>
        </p:nvSpPr>
        <p:spPr>
          <a:xfrm>
            <a:off x="640080" y="5870448"/>
            <a:ext cx="10908792" cy="292608"/>
          </a:xfrm>
          <a:prstGeom prst="rect">
            <a:avLst/>
          </a:prstGeom>
          <a:noFill/>
        </p:spPr>
        <p:txBody>
          <a:bodyPr wrap="square" lIns="0" rIns="0" tIns="0" bIns="0" anchor="ctr">
            <a:spAutoFit/>
          </a:bodyPr>
          <a:lstStyle/>
          <a:p>
            <a:pPr algn="l"/>
            <a:r>
              <a:rPr sz="1200" b="0" i="1">
                <a:solidFill>
                  <a:srgbClr val="55657D"/>
                </a:solidFill>
                <a:latin typeface="Calibri"/>
              </a:rPr>
              <a:t>History is supporting evidence; the commits are selected milestones, not a complete activity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TOKEN CONSUMPTION AND EFFICIENCY</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Token use: budgeted and tracked, not yet measured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12</a:t>
            </a:r>
          </a:p>
        </p:txBody>
      </p:sp>
      <p:sp>
        <p:nvSpPr>
          <p:cNvPr id="6" name="Rounded Rectangle 5"/>
          <p:cNvSpPr/>
          <p:nvPr/>
        </p:nvSpPr>
        <p:spPr>
          <a:xfrm>
            <a:off x="640080" y="1783080"/>
            <a:ext cx="3392423" cy="2011680"/>
          </a:xfrm>
          <a:prstGeom prst="roundRect">
            <a:avLst>
              <a:gd name="adj" fmla="val 363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400" y="2039112"/>
            <a:ext cx="2843783" cy="384048"/>
          </a:xfrm>
          <a:prstGeom prst="rect">
            <a:avLst/>
          </a:prstGeom>
          <a:noFill/>
        </p:spPr>
        <p:txBody>
          <a:bodyPr wrap="square" lIns="0" rIns="0" tIns="0" bIns="0" anchor="t">
            <a:spAutoFit/>
          </a:bodyPr>
          <a:lstStyle/>
          <a:p>
            <a:pPr algn="l"/>
            <a:r>
              <a:rPr sz="1800" b="1" i="0">
                <a:solidFill>
                  <a:srgbClr val="FFFFFF"/>
                </a:solidFill>
                <a:latin typeface="Arial"/>
              </a:rPr>
              <a:t>Current budget</a:t>
            </a:r>
          </a:p>
        </p:txBody>
      </p:sp>
      <p:sp>
        <p:nvSpPr>
          <p:cNvPr id="8" name="TextBox 7"/>
          <p:cNvSpPr txBox="1"/>
          <p:nvPr/>
        </p:nvSpPr>
        <p:spPr>
          <a:xfrm>
            <a:off x="914400" y="2624328"/>
            <a:ext cx="2843783" cy="960120"/>
          </a:xfrm>
          <a:prstGeom prst="rect">
            <a:avLst/>
          </a:prstGeom>
          <a:noFill/>
        </p:spPr>
        <p:txBody>
          <a:bodyPr wrap="square" lIns="0" rIns="0" tIns="0" bIns="0" anchor="t">
            <a:spAutoFit/>
          </a:bodyPr>
          <a:lstStyle/>
          <a:p>
            <a:pPr algn="l"/>
            <a:r>
              <a:rPr sz="1500" b="0" i="0">
                <a:solidFill>
                  <a:srgbClr val="FFFFFF"/>
                </a:solidFill>
                <a:latin typeface="Calibri"/>
              </a:rPr>
              <a:t>gpt-4o-mini
12,000-character input cap</a:t>
            </a:r>
          </a:p>
        </p:txBody>
      </p:sp>
      <p:sp>
        <p:nvSpPr>
          <p:cNvPr id="9" name="Rounded Rectangle 8"/>
          <p:cNvSpPr/>
          <p:nvPr/>
        </p:nvSpPr>
        <p:spPr>
          <a:xfrm>
            <a:off x="4398264" y="1783080"/>
            <a:ext cx="3392423" cy="2011680"/>
          </a:xfrm>
          <a:prstGeom prst="roundRect">
            <a:avLst>
              <a:gd name="adj" fmla="val 363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672583" y="2039112"/>
            <a:ext cx="2843783" cy="384048"/>
          </a:xfrm>
          <a:prstGeom prst="rect">
            <a:avLst/>
          </a:prstGeom>
          <a:noFill/>
        </p:spPr>
        <p:txBody>
          <a:bodyPr wrap="square" lIns="0" rIns="0" tIns="0" bIns="0" anchor="t">
            <a:spAutoFit/>
          </a:bodyPr>
          <a:lstStyle/>
          <a:p>
            <a:pPr algn="l"/>
            <a:r>
              <a:rPr sz="1800" b="1" i="0">
                <a:solidFill>
                  <a:srgbClr val="FFFFFF"/>
                </a:solidFill>
                <a:latin typeface="Arial"/>
              </a:rPr>
              <a:t>What telemetry captures</a:t>
            </a:r>
          </a:p>
        </p:txBody>
      </p:sp>
      <p:sp>
        <p:nvSpPr>
          <p:cNvPr id="11" name="TextBox 10"/>
          <p:cNvSpPr txBox="1"/>
          <p:nvPr/>
        </p:nvSpPr>
        <p:spPr>
          <a:xfrm>
            <a:off x="4672583" y="2624328"/>
            <a:ext cx="2843783" cy="960120"/>
          </a:xfrm>
          <a:prstGeom prst="rect">
            <a:avLst/>
          </a:prstGeom>
          <a:noFill/>
        </p:spPr>
        <p:txBody>
          <a:bodyPr wrap="square" lIns="0" rIns="0" tIns="0" bIns="0" anchor="t">
            <a:spAutoFit/>
          </a:bodyPr>
          <a:lstStyle/>
          <a:p>
            <a:pPr algn="l"/>
            <a:r>
              <a:rPr sz="1500" b="0" i="0">
                <a:solidFill>
                  <a:srgbClr val="FFFFFF"/>
                </a:solidFill>
                <a:latin typeface="Calibri"/>
              </a:rPr>
              <a:t>Input/output token fields when returned
Model, prompt version, latency, outcome</a:t>
            </a:r>
          </a:p>
        </p:txBody>
      </p:sp>
      <p:sp>
        <p:nvSpPr>
          <p:cNvPr id="12" name="Rounded Rectangle 11"/>
          <p:cNvSpPr/>
          <p:nvPr/>
        </p:nvSpPr>
        <p:spPr>
          <a:xfrm>
            <a:off x="8156447" y="1783080"/>
            <a:ext cx="3392423" cy="2011680"/>
          </a:xfrm>
          <a:prstGeom prst="roundRect">
            <a:avLst>
              <a:gd name="adj" fmla="val 3636"/>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30767" y="2039112"/>
            <a:ext cx="2843783" cy="384048"/>
          </a:xfrm>
          <a:prstGeom prst="rect">
            <a:avLst/>
          </a:prstGeom>
          <a:noFill/>
        </p:spPr>
        <p:txBody>
          <a:bodyPr wrap="square" lIns="0" rIns="0" tIns="0" bIns="0" anchor="t">
            <a:spAutoFit/>
          </a:bodyPr>
          <a:lstStyle/>
          <a:p>
            <a:pPr algn="l"/>
            <a:r>
              <a:rPr sz="1800" b="1" i="0">
                <a:solidFill>
                  <a:srgbClr val="17253D"/>
                </a:solidFill>
                <a:latin typeface="Arial"/>
              </a:rPr>
              <a:t>What is not measured</a:t>
            </a:r>
          </a:p>
        </p:txBody>
      </p:sp>
      <p:sp>
        <p:nvSpPr>
          <p:cNvPr id="14" name="TextBox 13"/>
          <p:cNvSpPr txBox="1"/>
          <p:nvPr/>
        </p:nvSpPr>
        <p:spPr>
          <a:xfrm>
            <a:off x="8430767" y="2624328"/>
            <a:ext cx="2843783" cy="960120"/>
          </a:xfrm>
          <a:prstGeom prst="rect">
            <a:avLst/>
          </a:prstGeom>
          <a:noFill/>
        </p:spPr>
        <p:txBody>
          <a:bodyPr wrap="square" lIns="0" rIns="0" tIns="0" bIns="0" anchor="t">
            <a:spAutoFit/>
          </a:bodyPr>
          <a:lstStyle/>
          <a:p>
            <a:pPr algn="l"/>
            <a:r>
              <a:rPr sz="1500" b="0" i="0">
                <a:solidFill>
                  <a:srgbClr val="17253D"/>
                </a:solidFill>
                <a:latin typeface="Calibri"/>
              </a:rPr>
              <a:t>No token totals in the latest PDF report
No cost baseline or savings claim</a:t>
            </a:r>
          </a:p>
        </p:txBody>
      </p:sp>
      <p:sp>
        <p:nvSpPr>
          <p:cNvPr id="15" name="Rounded Rectangle 14"/>
          <p:cNvSpPr/>
          <p:nvPr/>
        </p:nvSpPr>
        <p:spPr>
          <a:xfrm>
            <a:off x="640080" y="4069080"/>
            <a:ext cx="10908792" cy="1600200"/>
          </a:xfrm>
          <a:prstGeom prst="roundRect">
            <a:avLst>
              <a:gd name="adj" fmla="val 4571"/>
            </a:avLst>
          </a:prstGeom>
          <a:solidFill>
            <a:srgbClr val="FFFFFF"/>
          </a:solidFill>
          <a:ln w="9525">
            <a:solidFill>
              <a:srgbClr val="C8A2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960119" y="4315968"/>
            <a:ext cx="2148840" cy="365760"/>
          </a:xfrm>
          <a:prstGeom prst="rect">
            <a:avLst/>
          </a:prstGeom>
          <a:noFill/>
        </p:spPr>
        <p:txBody>
          <a:bodyPr wrap="square" lIns="0" rIns="0" tIns="0" bIns="0" anchor="t">
            <a:spAutoFit/>
          </a:bodyPr>
          <a:lstStyle/>
          <a:p>
            <a:pPr algn="l"/>
            <a:r>
              <a:rPr sz="1900" b="1" i="0">
                <a:solidFill>
                  <a:srgbClr val="8A6A1F"/>
                </a:solidFill>
                <a:latin typeface="Arial"/>
              </a:rPr>
              <a:t>Efficiency experiment</a:t>
            </a:r>
          </a:p>
        </p:txBody>
      </p:sp>
      <p:sp>
        <p:nvSpPr>
          <p:cNvPr id="17" name="TextBox 16"/>
          <p:cNvSpPr txBox="1"/>
          <p:nvPr/>
        </p:nvSpPr>
        <p:spPr>
          <a:xfrm>
            <a:off x="3154680" y="4251960"/>
            <a:ext cx="8074152" cy="914400"/>
          </a:xfrm>
          <a:prstGeom prst="rect">
            <a:avLst/>
          </a:prstGeom>
          <a:noFill/>
        </p:spPr>
        <p:txBody>
          <a:bodyPr wrap="square" lIns="0" rIns="0" tIns="0" bIns="0" anchor="ctr">
            <a:spAutoFit/>
          </a:bodyPr>
          <a:lstStyle/>
          <a:p>
            <a:pPr algn="l"/>
            <a:r>
              <a:rPr sz="1600" b="0" i="0">
                <a:solidFill>
                  <a:srgbClr val="17253D"/>
                </a:solidFill>
                <a:latin typeface="Calibri"/>
              </a:rPr>
              <a:t>Compare shorter prompt/context variants against field-level accuracy and provider-reported input/output tokens. Include retry attempts in cost accounting before claiming an improvement.</a:t>
            </a:r>
          </a:p>
        </p:txBody>
      </p:sp>
      <p:sp>
        <p:nvSpPr>
          <p:cNvPr id="18" name="TextBox 17"/>
          <p:cNvSpPr txBox="1"/>
          <p:nvPr/>
        </p:nvSpPr>
        <p:spPr>
          <a:xfrm>
            <a:off x="640080" y="5852160"/>
            <a:ext cx="10908792" cy="292608"/>
          </a:xfrm>
          <a:prstGeom prst="rect">
            <a:avLst/>
          </a:prstGeom>
          <a:noFill/>
        </p:spPr>
        <p:txBody>
          <a:bodyPr wrap="square" lIns="0" rIns="0" tIns="0" bIns="0" anchor="ctr">
            <a:spAutoFit/>
          </a:bodyPr>
          <a:lstStyle/>
          <a:p>
            <a:pPr algn="l"/>
            <a:r>
              <a:rPr sz="1200" b="0" i="1">
                <a:solidFill>
                  <a:srgbClr val="55657D"/>
                </a:solidFill>
                <a:latin typeface="Calibri"/>
              </a:rPr>
              <a:t>Exact spend requires provider-side usage records; the current evaluation stores latency and extraction outcomes, not token totals.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C8A24A"/>
                </a:solidFill>
                <a:latin typeface="Calibri"/>
              </a:rPr>
              <a:t>DEPLOYMENT AND NEXT STEPS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FFFFFF"/>
                </a:solidFill>
                <a:latin typeface="Arial"/>
              </a:rPr>
              <a:t>Prototype-ready, with an honest path to production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9CC3F2"/>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9CC3F2"/>
                </a:solidFill>
                <a:latin typeface="Calibri"/>
              </a:rPr>
              <a:t>13</a:t>
            </a:r>
          </a:p>
        </p:txBody>
      </p:sp>
      <p:sp>
        <p:nvSpPr>
          <p:cNvPr id="6" name="Rounded Rectangle 5"/>
          <p:cNvSpPr/>
          <p:nvPr/>
        </p:nvSpPr>
        <p:spPr>
          <a:xfrm>
            <a:off x="640080"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Current demo</a:t>
            </a:r>
          </a:p>
        </p:txBody>
      </p:sp>
      <p:sp>
        <p:nvSpPr>
          <p:cNvPr id="8" name="TextBox 7"/>
          <p:cNvSpPr txBox="1"/>
          <p:nvPr/>
        </p:nvSpPr>
        <p:spPr>
          <a:xfrm>
            <a:off x="960119"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Docker Compose</a:t>
            </a:r>
          </a:p>
          <a:p>
            <a:pPr marL="201168" indent="-201168">
              <a:spcAft>
                <a:spcPts val="1100"/>
              </a:spcAft>
              <a:buChar char="•"/>
            </a:pPr>
            <a:r>
              <a:rPr sz="1600">
                <a:solidFill>
                  <a:srgbClr val="E6EEF9"/>
                </a:solidFill>
                <a:latin typeface="Calibri"/>
              </a:rPr>
              <a:t>SQLite named volume</a:t>
            </a:r>
          </a:p>
          <a:p>
            <a:pPr marL="201168" indent="-201168">
              <a:spcAft>
                <a:spcPts val="1100"/>
              </a:spcAft>
              <a:buChar char="•"/>
            </a:pPr>
            <a:r>
              <a:rPr sz="1600">
                <a:solidFill>
                  <a:srgbClr val="E6EEF9"/>
                </a:solidFill>
                <a:latin typeface="Calibri"/>
              </a:rPr>
              <a:t>Synthetic data only</a:t>
            </a:r>
          </a:p>
          <a:p>
            <a:pPr marL="201168" indent="-201168">
              <a:spcAft>
                <a:spcPts val="1100"/>
              </a:spcAft>
              <a:buChar char="•"/>
            </a:pPr>
            <a:r>
              <a:rPr sz="1600">
                <a:solidFill>
                  <a:srgbClr val="E6EEF9"/>
                </a:solidFill>
                <a:latin typeface="Calibri"/>
              </a:rPr>
              <a:t>OpenAI key for extraction</a:t>
            </a:r>
          </a:p>
        </p:txBody>
      </p:sp>
      <p:sp>
        <p:nvSpPr>
          <p:cNvPr id="9" name="Rounded Rectangle 8"/>
          <p:cNvSpPr/>
          <p:nvPr/>
        </p:nvSpPr>
        <p:spPr>
          <a:xfrm>
            <a:off x="4398264"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Free-first target</a:t>
            </a:r>
          </a:p>
        </p:txBody>
      </p:sp>
      <p:sp>
        <p:nvSpPr>
          <p:cNvPr id="11" name="TextBox 10"/>
          <p:cNvSpPr txBox="1"/>
          <p:nvPr/>
        </p:nvSpPr>
        <p:spPr>
          <a:xfrm>
            <a:off x="4718303"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Ollama adapter</a:t>
            </a:r>
          </a:p>
          <a:p>
            <a:pPr marL="201168" indent="-201168">
              <a:spcAft>
                <a:spcPts val="1100"/>
              </a:spcAft>
              <a:buChar char="•"/>
            </a:pPr>
            <a:r>
              <a:rPr sz="1600">
                <a:solidFill>
                  <a:srgbClr val="E6EEF9"/>
                </a:solidFill>
                <a:latin typeface="Calibri"/>
              </a:rPr>
              <a:t>PostgreSQL and MinIO</a:t>
            </a:r>
          </a:p>
          <a:p>
            <a:pPr marL="201168" indent="-201168">
              <a:spcAft>
                <a:spcPts val="1100"/>
              </a:spcAft>
              <a:buChar char="•"/>
            </a:pPr>
            <a:r>
              <a:rPr sz="1600">
                <a:solidFill>
                  <a:srgbClr val="E6EEF9"/>
                </a:solidFill>
                <a:latin typeface="Calibri"/>
              </a:rPr>
              <a:t>Redis worker</a:t>
            </a:r>
          </a:p>
          <a:p>
            <a:pPr marL="201168" indent="-201168">
              <a:spcAft>
                <a:spcPts val="1100"/>
              </a:spcAft>
              <a:buChar char="•"/>
            </a:pPr>
            <a:r>
              <a:rPr sz="1600">
                <a:solidFill>
                  <a:srgbClr val="E6EEF9"/>
                </a:solidFill>
                <a:latin typeface="Calibri"/>
              </a:rPr>
              <a:t>Prometheus and Grafana</a:t>
            </a:r>
          </a:p>
        </p:txBody>
      </p:sp>
      <p:sp>
        <p:nvSpPr>
          <p:cNvPr id="12" name="Rounded Rectangle 11"/>
          <p:cNvSpPr/>
          <p:nvPr/>
        </p:nvSpPr>
        <p:spPr>
          <a:xfrm>
            <a:off x="8156447" y="1783080"/>
            <a:ext cx="3392423" cy="3611880"/>
          </a:xfrm>
          <a:prstGeom prst="roundRect">
            <a:avLst>
              <a:gd name="adj" fmla="val 2156"/>
            </a:avLst>
          </a:prstGeom>
          <a:solidFill>
            <a:srgbClr val="132E55"/>
          </a:solidFill>
          <a:ln w="9525">
            <a:solidFill>
              <a:srgbClr val="C8A24A">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039112"/>
            <a:ext cx="2752344" cy="457200"/>
          </a:xfrm>
          <a:prstGeom prst="rect">
            <a:avLst/>
          </a:prstGeom>
          <a:noFill/>
        </p:spPr>
        <p:txBody>
          <a:bodyPr wrap="square" lIns="0" rIns="0" tIns="0" bIns="0" anchor="t">
            <a:spAutoFit/>
          </a:bodyPr>
          <a:lstStyle/>
          <a:p>
            <a:pPr algn="l"/>
            <a:r>
              <a:rPr sz="2000" b="1" i="0">
                <a:solidFill>
                  <a:srgbClr val="C8A24A"/>
                </a:solidFill>
                <a:latin typeface="Arial"/>
              </a:rPr>
              <a:t>Production gate</a:t>
            </a:r>
          </a:p>
        </p:txBody>
      </p:sp>
      <p:sp>
        <p:nvSpPr>
          <p:cNvPr id="14" name="TextBox 13"/>
          <p:cNvSpPr txBox="1"/>
          <p:nvPr/>
        </p:nvSpPr>
        <p:spPr>
          <a:xfrm>
            <a:off x="8476487"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Real identity + hardened access</a:t>
            </a:r>
          </a:p>
          <a:p>
            <a:pPr marL="201168" indent="-201168">
              <a:spcAft>
                <a:spcPts val="1100"/>
              </a:spcAft>
              <a:buChar char="•"/>
            </a:pPr>
            <a:r>
              <a:rPr sz="1600">
                <a:solidFill>
                  <a:srgbClr val="E6EEF9"/>
                </a:solidFill>
                <a:latin typeface="Calibri"/>
              </a:rPr>
              <a:t>Approved rules + residual-risk controls</a:t>
            </a:r>
          </a:p>
          <a:p>
            <a:pPr marL="201168" indent="-201168">
              <a:spcAft>
                <a:spcPts val="1100"/>
              </a:spcAft>
              <a:buChar char="•"/>
            </a:pPr>
            <a:r>
              <a:rPr sz="1600">
                <a:solidFill>
                  <a:srgbClr val="E6EEF9"/>
                </a:solidFill>
                <a:latin typeface="Calibri"/>
              </a:rPr>
              <a:t>Protected storage + external audit anchor</a:t>
            </a:r>
          </a:p>
          <a:p>
            <a:pPr marL="201168" indent="-201168">
              <a:spcAft>
                <a:spcPts val="1100"/>
              </a:spcAft>
              <a:buChar char="•"/>
            </a:pPr>
            <a:r>
              <a:rPr sz="1600">
                <a:solidFill>
                  <a:srgbClr val="E6EEF9"/>
                </a:solidFill>
                <a:latin typeface="Calibri"/>
              </a:rPr>
              <a:t>Migrations, backups, alerts, rollback</a:t>
            </a:r>
          </a:p>
        </p:txBody>
      </p:sp>
      <p:sp>
        <p:nvSpPr>
          <p:cNvPr id="15" name="TextBox 14"/>
          <p:cNvSpPr txBox="1"/>
          <p:nvPr/>
        </p:nvSpPr>
        <p:spPr>
          <a:xfrm>
            <a:off x="640080" y="5532120"/>
            <a:ext cx="10908792" cy="640080"/>
          </a:xfrm>
          <a:prstGeom prst="rect">
            <a:avLst/>
          </a:prstGeom>
          <a:noFill/>
        </p:spPr>
        <p:txBody>
          <a:bodyPr wrap="square" lIns="0" rIns="0" tIns="0" bIns="0" anchor="ctr">
            <a:spAutoFit/>
          </a:bodyPr>
          <a:lstStyle/>
          <a:p>
            <a:pPr algn="l"/>
            <a:r>
              <a:rPr sz="2200" b="1" i="0">
                <a:solidFill>
                  <a:srgbClr val="C8A24A"/>
                </a:solidFill>
                <a:latin typeface="Arial"/>
              </a:rPr>
              <a:t>Prepare evidence. Preserve disagreement. Keep humans accountable.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