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Category weight in the risk score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dPt>
            <c:idx val="0"/>
            <c:spPr>
              <a:solidFill>
                <a:srgbClr val="0A2540"/>
              </a:solidFill>
            </c:spPr>
          </c:dPt>
          <c:dPt>
            <c:idx val="1"/>
            <c:spPr>
              <a:solidFill>
                <a:srgbClr val="1F5FBF"/>
              </a:solidFill>
            </c:spPr>
          </c:dPt>
          <c:dPt>
            <c:idx val="2"/>
            <c:spPr>
              <a:solidFill>
                <a:srgbClr val="3B82F6"/>
              </a:solidFill>
            </c:spPr>
          </c:dPt>
          <c:dPt>
            <c:idx val="3"/>
            <c:spPr>
              <a:solidFill>
                <a:srgbClr val="93C5FD"/>
              </a:solidFill>
            </c:spPr>
          </c:dPt>
          <c:cat>
            <c:strRef>
              <c:f>Sheet1!$A$2:$A$5</c:f>
              <c:strCache>
                <c:ptCount val="4"/>
                <c:pt idx="0">
                  <c:v>Customer + geography</c:v>
                </c:pt>
                <c:pt idx="1">
                  <c:v>Product + channel</c:v>
                </c:pt>
                <c:pt idx="2">
                  <c:v>Third party</c:v>
                </c:pt>
                <c:pt idx="3">
                  <c:v>Complexity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99" b="0">
                <a:solidFill>
                  <a:srgbClr val="0A2540"/>
                </a:solidFill>
                <a:latin typeface="Calibri"/>
              </a:rPr>
              <a:t>Field accuracy by synthetic case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Field accuracy (%)</c:v>
                </c:pt>
              </c:strCache>
            </c:strRef>
          </c:tx>
          <c:spPr>
            <a:solidFill>
              <a:srgbClr val="1F5FBF"/>
            </a:solidFill>
          </c:spPr>
          <c:cat>
            <c:strRef>
              <c:f>Sheet1!$A$2:$A$9</c:f>
              <c:strCache>
                <c:ptCount val="8"/>
                <c:pt idx="0">
                  <c:v>001</c:v>
                </c:pt>
                <c:pt idx="1">
                  <c:v>002</c:v>
                </c:pt>
                <c:pt idx="2">
                  <c:v>003</c:v>
                </c:pt>
                <c:pt idx="3">
                  <c:v>004</c:v>
                </c:pt>
                <c:pt idx="4">
                  <c:v>005</c:v>
                </c:pt>
                <c:pt idx="5">
                  <c:v>006</c:v>
                </c:pt>
                <c:pt idx="6">
                  <c:v>007</c:v>
                </c:pt>
                <c:pt idx="7">
                  <c:v>008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70</c:v>
                </c:pt>
                <c:pt idx="2">
                  <c:v>70</c:v>
                </c:pt>
                <c:pt idx="3">
                  <c:v>60</c:v>
                </c:pt>
                <c:pt idx="4">
                  <c:v>50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</c:numCache>
            </c:numRef>
          </c:val>
        </c:ser>
        <c:dLbls>
          <c:txPr>
            <a:bodyPr/>
            <a:lstStyle/>
            <a:p>
              <a:pPr>
                <a:defRPr sz="1466">
                  <a:solidFill>
                    <a:srgbClr val="0A254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7DBF5"/>
            </a:solidFill>
          </a:ln>
        </c:spPr>
        <c:txPr>
          <a:bodyPr/>
          <a:lstStyle/>
          <a:p>
            <a:pPr>
              <a:defRPr sz="1466">
                <a:solidFill>
                  <a:srgbClr val="0A254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0:00-0:20. One-sentence pitch: the system prepares the evidence, humans make the decision. Introduce the team and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0:20-0:50. State the pain in numbers, then the design stance: nothing is approved or rejected automatically. The brief was half a page; it was expanded into docs/requirements.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0:50-1:50. Walk the pipeline left to right. Extraction is a probabilistic problem, scoring is not, so scoring is plain Python a committee can reproduce. This is the engineering-judgement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1:50-2:50. Context management: untrusted-document boundary, schema-constrained output, versioned prompts. If asked why no multi-agent orchestration: one narrow extraction step does not need it, and every extra agent is another probabilistic step to govern and 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2:50-3:30. Deterministic versus probabilistic, justified. Be upfront that the weights are a prototype choice awaiting FCRM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3:30-4:15. One line per stage, naming the artifact: docs/requirements, docs/architecture, src and ai, tests and evals, ops. Point to docs/sdlc/ai-delivery-evidence.md. Move fast; the repo carries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4:15-5:15. For each gate say what risk it controls: the analyst gate stops a bad extraction reaching the committee; the committee vote keeps the decision human; audit events answer the examiner months later. Nothing is auto-approved.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5:15-7:45 (about 2.5 minutes). Rehearse this path on the network you will use on the day. If OpenAI is unreachable: play the backup screen recording and show the eval results and passing tests. Say aloud what each role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7:45-9:45. Lead with the iteration story: baseline, what was classified as wrong, what changed, new number. Then failure handling: the office-network block, how it was detected (APIConnectionError, 0/8), recovery, and the bounded runtime retry added after testing. Also mention malformed PDFs now return a controlled 422. Token line: gpt-4o-mini, bounded input, per-call latency and token telemetry; quote measured tokens per case from the iteration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9:45-10:00. Close on the tagline, then stop on time. Leave the five minutes of Q&amp;A for the decisions: why deterministic scoring, why no multi-agent orchestration, why field accuracy and risk agreement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1097252"/>
            <a:ext cx="6705432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1" i="0">
                <a:solidFill>
                  <a:srgbClr val="93C5FD"/>
                </a:solidFill>
                <a:latin typeface="Calibri"/>
              </a:rPr>
              <a:t>GENIUS HACKS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01" y="1645878"/>
            <a:ext cx="6827349" cy="18287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33" b="1" i="0">
                <a:solidFill>
                  <a:srgbClr val="FFFFFF"/>
                </a:solidFill>
                <a:latin typeface="Cambria"/>
              </a:rPr>
              <a:t>Risk Assessment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3718467"/>
            <a:ext cx="6583515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33" b="0" i="0">
                <a:solidFill>
                  <a:srgbClr val="DBEAFE"/>
                </a:solidFill>
                <a:latin typeface="Calibri"/>
              </a:rPr>
              <a:t>From an unstructured change request to a governed, reviewable risk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5730096"/>
            <a:ext cx="6827349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0">
                <a:solidFill>
                  <a:srgbClr val="93C5FD"/>
                </a:solidFill>
                <a:latin typeface="Calibri"/>
              </a:rPr>
              <a:t>A synthetic-data vertical slice for financial crimes risk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8435" y="1097252"/>
            <a:ext cx="3413674" cy="4632844"/>
          </a:xfrm>
          <a:prstGeom prst="roundRect">
            <a:avLst>
              <a:gd name="adj" fmla="val 2857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73228" y="1584920"/>
            <a:ext cx="2804089" cy="3657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Prepare evidence.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Preserve disagreement.</a:t>
            </a:r>
          </a:p>
          <a:p>
            <a:pPr algn="l">
              <a:spcAft>
                <a:spcPts val="1866"/>
              </a:spcAft>
            </a:pPr>
            <a:r>
              <a:rPr sz="2666" b="1" i="0">
                <a:solidFill>
                  <a:srgbClr val="FFFFFF"/>
                </a:solidFill>
                <a:latin typeface="Cambria"/>
              </a:rPr>
              <a:t>Keep humans accountable.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Slow, variable, and hard to reconstruct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657508" cy="4267093"/>
          </a:xfrm>
          <a:prstGeom prst="roundRect">
            <a:avLst>
              <a:gd name="adj" fmla="val 2666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1162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FFFFFF"/>
                </a:solidFill>
                <a:latin typeface="Cambria"/>
              </a:rPr>
              <a:t>15-20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986965"/>
            <a:ext cx="3047923" cy="60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business days per assessment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023259"/>
            <a:ext cx="3047923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66" b="1" i="0">
                <a:solidFill>
                  <a:srgbClr val="93C5FD"/>
                </a:solidFill>
                <a:latin typeface="Cambria"/>
              </a:rPr>
              <a:t>~2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4998595"/>
            <a:ext cx="3047923" cy="7315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DBEAFE"/>
                </a:solidFill>
                <a:latin typeface="Calibri"/>
              </a:rPr>
              <a:t>days to decision-ready: the target in the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092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761" y="2011629"/>
            <a:ext cx="3047923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761" y="2560255"/>
            <a:ext cx="3047923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Email, Word, Excel, SharePoint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Different analysts reach different conclusions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Examiner asks why it was rated this way: evidence is scattered and slow to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8435" y="1828754"/>
            <a:ext cx="3413674" cy="4267093"/>
          </a:xfrm>
          <a:prstGeom prst="roundRect">
            <a:avLst>
              <a:gd name="adj" fmla="val 285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269" y="2011629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Our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269" y="2560255"/>
            <a:ext cx="2926006" cy="341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One governed case record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AI structures the evidence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Humans own the decision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866">
                <a:solidFill>
                  <a:srgbClr val="0A2540"/>
                </a:solidFill>
                <a:latin typeface="Calibri"/>
              </a:rPr>
              <a:t>Every rating traceable to inputs and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 deliberately narrow AI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460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463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214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214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pypdf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4217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9968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68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LLM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2972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3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3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1726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477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477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SQLite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0480" y="1889712"/>
            <a:ext cx="365750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6231" y="1889712"/>
            <a:ext cx="1463003" cy="853418"/>
          </a:xfrm>
          <a:prstGeom prst="roundRect">
            <a:avLst>
              <a:gd name="adj" fmla="val 11428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6231" y="1889712"/>
            <a:ext cx="1463003" cy="8534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46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2594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Probabilistic (AI)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62300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43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Deterministic (code)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141" y="3047923"/>
            <a:ext cx="268217" cy="268217"/>
          </a:xfrm>
          <a:prstGeom prst="roundRect">
            <a:avLst>
              <a:gd name="adj" fmla="val 36363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2275" y="2974773"/>
            <a:ext cx="2560255" cy="414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99" b="0" i="0">
                <a:solidFill>
                  <a:srgbClr val="475569"/>
                </a:solidFill>
                <a:latin typeface="Calibri"/>
              </a:rPr>
              <a:t>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58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1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AI does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41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 structure from unstructured text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Identify stated risk factors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Attempt semantic policy retrieval when configured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764" y="3657508"/>
            <a:ext cx="5364345" cy="2438339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598" y="3803808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Code does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598" y="4328051"/>
            <a:ext cx="4876678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Validate schemas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Calculate scores and thresholds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Persist workflow events; policy lookup falls back to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AI HARNESS AND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document is data, not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Source text is explicitly untrusted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Embedded instructions cannot approve a case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323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Structured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Pydantic schema at the model boundary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Malformed output fails loudly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Extraction versions stay reconstructable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4267093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072588"/>
            <a:ext cx="731501" cy="731501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072588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269" y="3047923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Traceable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3596550"/>
            <a:ext cx="2926006" cy="237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Synthetic policy IDs and source paths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Prompt version telemetry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Analyst can disagree with the rationale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ENGINEERING JUDGEMENT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Scoring is explainable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09584" y="1828754"/>
          <a:ext cx="6095847" cy="426709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266" y="1828754"/>
            <a:ext cx="4632844" cy="2377380"/>
          </a:xfrm>
          <a:prstGeom prst="roundRect">
            <a:avLst>
              <a:gd name="adj" fmla="val 4102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1975054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Why not an LLM score?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3100" y="2438339"/>
            <a:ext cx="4145176" cy="164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266" y="4389010"/>
            <a:ext cx="4632844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93100" y="4510927"/>
            <a:ext cx="414517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Honest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3100" y="4937636"/>
            <a:ext cx="4145176" cy="1097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99" b="0" i="0">
                <a:solidFill>
                  <a:srgbClr val="0A2540"/>
                </a:solidFill>
                <a:latin typeface="Calibri"/>
              </a:rPr>
              <a:t>Weights and policy material are synthetic, not approved supervisory mappings. Control effectiveness and residual risk are not yet modeled.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SIX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AI is part of delivery, not only runtime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377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7795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531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63323" y="213354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323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6742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323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Options →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7477" y="1828754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269" y="213354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269" y="213354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5688" y="213354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269" y="298696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Contract →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584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377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77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67795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77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Cases → 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8531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63323" y="4145176"/>
            <a:ext cx="670543" cy="670543"/>
          </a:xfrm>
          <a:prstGeom prst="ellipse">
            <a:avLst/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323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6742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323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Image → runbook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7477" y="3840383"/>
            <a:ext cx="3474633" cy="1828754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12269" y="4145176"/>
            <a:ext cx="670543" cy="670543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269" y="4145176"/>
            <a:ext cx="67054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88" y="4145176"/>
            <a:ext cx="219450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33" b="1" i="0">
                <a:solidFill>
                  <a:srgbClr val="0A2540"/>
                </a:solidFill>
                <a:latin typeface="Calibri"/>
              </a:rPr>
              <a:t>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269" y="4998595"/>
            <a:ext cx="2926006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33" b="0" i="0">
                <a:solidFill>
                  <a:srgbClr val="475569"/>
                </a:solidFill>
                <a:latin typeface="Calibri"/>
              </a:rPr>
              <a:t>Telemetry → 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84" y="5912972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1" i="0">
                <a:solidFill>
                  <a:srgbClr val="1F5FBF"/>
                </a:solidFill>
                <a:latin typeface="Calibri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The system prepares; people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93C5FD"/>
          </a:solidFill>
          <a:ln w="952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0A2540"/>
                </a:solidFill>
                <a:latin typeface="Calibri"/>
              </a:rPr>
              <a:t>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8339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527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5527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81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70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470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224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7413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7413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6167" y="1767795"/>
            <a:ext cx="457188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0" i="0">
                <a:solidFill>
                  <a:srgbClr val="1F5FBF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356" y="1767795"/>
            <a:ext cx="1828754" cy="670543"/>
          </a:xfrm>
          <a:prstGeom prst="roundRect">
            <a:avLst>
              <a:gd name="adj" fmla="val 14545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3356" y="1767795"/>
            <a:ext cx="1828754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66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84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377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77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7795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Accept or reject the draft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Edit and rescore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531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63323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323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6742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Committee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323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Three distinct votes required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Approve / reject / defer / conditions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Two approvals/rejections decide; otherwise defer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477" y="2804089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269" y="2950390"/>
            <a:ext cx="487667" cy="487667"/>
          </a:xfrm>
          <a:prstGeom prst="ellipse">
            <a:avLst/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269" y="2950390"/>
            <a:ext cx="48766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33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5688" y="2950390"/>
            <a:ext cx="2194505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Audit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269" y="3657508"/>
            <a:ext cx="2926006" cy="1950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UTC timestamps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Append-only workflow events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0A2540"/>
                </a:solidFill>
                <a:latin typeface="Calibri"/>
              </a:rPr>
              <a:t>Original and edited versions kept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84" y="5852013"/>
            <a:ext cx="10972525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0" i="1">
                <a:solidFill>
                  <a:srgbClr val="475569"/>
                </a:solidFill>
                <a:latin typeface="Calibri"/>
              </a:rPr>
              <a:t>Prototype only: demo identity, voting rule not approved as institutional policy, storage not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WORKING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One synthetic case,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23961" y="2499297"/>
            <a:ext cx="9143772" cy="0"/>
          </a:xfrm>
          <a:prstGeom prst="line">
            <a:avLst/>
          </a:prstGeom>
          <a:ln w="33865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8211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8211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43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Sign in as product-owner-1</a:t>
            </a:r>
          </a:p>
        </p:txBody>
      </p:sp>
      <p:sp>
        <p:nvSpPr>
          <p:cNvPr id="10" name="Oval 9"/>
          <p:cNvSpPr/>
          <p:nvPr/>
        </p:nvSpPr>
        <p:spPr>
          <a:xfrm>
            <a:off x="2986965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6965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9297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Upload synthetic PDF</a:t>
            </a:r>
          </a:p>
        </p:txBody>
      </p:sp>
      <p:sp>
        <p:nvSpPr>
          <p:cNvPr id="13" name="Oval 12"/>
          <p:cNvSpPr/>
          <p:nvPr/>
        </p:nvSpPr>
        <p:spPr>
          <a:xfrm>
            <a:off x="4815719" y="2133546"/>
            <a:ext cx="731501" cy="731501"/>
          </a:xfrm>
          <a:prstGeom prst="ellipse">
            <a:avLst/>
          </a:prstGeom>
          <a:solidFill>
            <a:srgbClr val="0A254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5719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8051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Inspect fields and score</a:t>
            </a:r>
          </a:p>
        </p:txBody>
      </p:sp>
      <p:sp>
        <p:nvSpPr>
          <p:cNvPr id="16" name="Oval 15"/>
          <p:cNvSpPr/>
          <p:nvPr/>
        </p:nvSpPr>
        <p:spPr>
          <a:xfrm>
            <a:off x="6644473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73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806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Switch to analyst-1</a:t>
            </a:r>
          </a:p>
        </p:txBody>
      </p:sp>
      <p:sp>
        <p:nvSpPr>
          <p:cNvPr id="19" name="Oval 18"/>
          <p:cNvSpPr/>
          <p:nvPr/>
        </p:nvSpPr>
        <p:spPr>
          <a:xfrm>
            <a:off x="8473228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3228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5560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Finalize with rationale</a:t>
            </a:r>
          </a:p>
        </p:txBody>
      </p:sp>
      <p:sp>
        <p:nvSpPr>
          <p:cNvPr id="22" name="Oval 21"/>
          <p:cNvSpPr/>
          <p:nvPr/>
        </p:nvSpPr>
        <p:spPr>
          <a:xfrm>
            <a:off x="10301982" y="2133546"/>
            <a:ext cx="731501" cy="731501"/>
          </a:xfrm>
          <a:prstGeom prst="ellipse">
            <a:avLst/>
          </a:prstGeom>
          <a:solidFill>
            <a:srgbClr val="1F5FB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01982" y="2133546"/>
            <a:ext cx="731501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399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314" y="3047923"/>
            <a:ext cx="1706837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99" b="1" i="0">
                <a:solidFill>
                  <a:srgbClr val="0A2540"/>
                </a:solidFill>
                <a:latin typeface="Calibri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389010"/>
            <a:ext cx="10972525" cy="1706837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77" y="4535310"/>
            <a:ext cx="4876678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Security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77" y="4998595"/>
            <a:ext cx="10362940" cy="975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33" b="0" i="0">
                <a:solidFill>
                  <a:srgbClr val="0A2540"/>
                </a:solidFill>
                <a:latin typeface="Calibri"/>
              </a:rPr>
              <a:t>Synthetic data only. Demo identity is not production authentication, and the upload endpoint is not role-gated. Extraction needs the OpenAI API and has no offline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1F5FBF"/>
                </a:solidFill>
                <a:latin typeface="Calibri"/>
              </a:rPr>
              <a:t>TESTING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0A2540"/>
                </a:solidFill>
                <a:latin typeface="Cambria"/>
              </a:rPr>
              <a:t>We measure the model, not just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475569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475569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8/8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live calls succeeded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9291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9291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67.5%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9291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field accuracy (54/80)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7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952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8997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7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risk-level agreement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8704" y="1706837"/>
            <a:ext cx="2560255" cy="1219169"/>
          </a:xfrm>
          <a:prstGeom prst="roundRect">
            <a:avLst>
              <a:gd name="adj" fmla="val 8000"/>
            </a:avLst>
          </a:prstGeom>
          <a:solidFill>
            <a:srgbClr val="1F5FBF"/>
          </a:solidFill>
          <a:ln w="95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48704" y="1767795"/>
            <a:ext cx="256025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66" b="1" i="0">
                <a:solidFill>
                  <a:srgbClr val="FFFFFF"/>
                </a:solidFill>
                <a:latin typeface="Cambria"/>
              </a:rPr>
              <a:t>2.8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8704" y="2413955"/>
            <a:ext cx="2560255" cy="36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6" b="0" i="0">
                <a:solidFill>
                  <a:srgbClr val="DBEAFE"/>
                </a:solidFill>
                <a:latin typeface="Calibri"/>
              </a:rPr>
              <a:t>mean latency per case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09584" y="3108882"/>
          <a:ext cx="5973930" cy="310888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27349" y="3108882"/>
            <a:ext cx="4754761" cy="3108882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9525">
            <a:solidFill>
              <a:srgbClr val="C7D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1183" y="3230799"/>
            <a:ext cx="4389010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0A2540"/>
                </a:solidFill>
                <a:latin typeface="Calibri"/>
              </a:rPr>
              <a:t>Failure handled, and how to read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1183" y="3718467"/>
            <a:ext cx="4328051" cy="2438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Office-network incident: 0/8; recovered on an unblocked network. Runtime now retries transient provider failures up to three times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Risk agreement comes from the deterministic scorer; it does not prove every field is right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466">
                <a:solidFill>
                  <a:srgbClr val="0A2540"/>
                </a:solidFill>
                <a:latin typeface="Calibri"/>
              </a:rPr>
              <a:t>Eight synthetic cases, not a production accuracy estimate. pytest: 60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" y="365750"/>
            <a:ext cx="9753356" cy="36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66" b="1" i="0">
                <a:solidFill>
                  <a:srgbClr val="93C5FD"/>
                </a:solidFill>
                <a:latin typeface="Calibri"/>
              </a:rPr>
              <a:t>DEPLOYMENT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584" y="731501"/>
            <a:ext cx="10972525" cy="792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733" b="1" i="0">
                <a:solidFill>
                  <a:srgbClr val="FFFFFF"/>
                </a:solidFill>
                <a:latin typeface="Cambria"/>
              </a:rPr>
              <a:t>Prototype-ready, with an honest path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400639"/>
            <a:ext cx="7315017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99" b="0" i="0">
                <a:solidFill>
                  <a:srgbClr val="93C5FD"/>
                </a:solidFill>
                <a:latin typeface="Calibri"/>
              </a:rPr>
              <a:t>Risk Assessment Workbench  |  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525" y="6400639"/>
            <a:ext cx="609584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99" b="0" i="0">
                <a:solidFill>
                  <a:srgbClr val="93C5F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Current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SQLite named volume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Synthetic data only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OpenAI key for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531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Free-first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Ollama adapter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PostgreSQL and MinIO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Redis worker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Prometheus and Grafana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477" y="1889712"/>
            <a:ext cx="3474633" cy="2865048"/>
          </a:xfrm>
          <a:prstGeom prst="roundRect">
            <a:avLst>
              <a:gd name="adj" fmla="val 3404"/>
            </a:avLst>
          </a:prstGeom>
          <a:solidFill>
            <a:srgbClr val="12365F"/>
          </a:solidFill>
          <a:ln w="9525">
            <a:solidFill>
              <a:srgbClr val="245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269" y="2048204"/>
            <a:ext cx="2926006" cy="426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99" b="1" i="0">
                <a:solidFill>
                  <a:srgbClr val="FFFFFF"/>
                </a:solidFill>
                <a:latin typeface="Calibri"/>
              </a:rPr>
              <a:t>Production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269" y="2621214"/>
            <a:ext cx="2926006" cy="201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Real identity and authorization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TLS and secrets manager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Migrations and backups</a:t>
            </a:r>
          </a:p>
          <a:p>
            <a:pPr marL="182880" indent="-182880">
              <a:spcAft>
                <a:spcPts val="666"/>
              </a:spcAft>
              <a:buChar char="•"/>
            </a:pPr>
            <a:r>
              <a:rPr sz="1733">
                <a:solidFill>
                  <a:srgbClr val="FFFFFF"/>
                </a:solidFill>
                <a:latin typeface="Calibri"/>
              </a:rPr>
              <a:t>Alerts and rollback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5120511"/>
            <a:ext cx="10972525" cy="7315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933" b="1" i="0">
                <a:solidFill>
                  <a:srgbClr val="FFFFFF"/>
                </a:solidFill>
                <a:latin typeface="Cambria"/>
              </a:rPr>
              <a:t>Prepare evidence. Preserve disagreement. Keep humans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